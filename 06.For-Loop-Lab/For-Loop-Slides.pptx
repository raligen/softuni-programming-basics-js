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notesSlides/notesSlide5.xml" ContentType="application/vnd.openxmlformats-officedocument.presentationml.notesSlide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notesSlides/notesSlide6.xml" ContentType="application/vnd.openxmlformats-officedocument.presentationml.notesSlide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notesSlides/notesSlide7.xml" ContentType="application/vnd.openxmlformats-officedocument.presentationml.notesSlide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notesSlides/notesSlide8.xml" ContentType="application/vnd.openxmlformats-officedocument.presentationml.notesSlide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5" r:id="rId1"/>
  </p:sldMasterIdLst>
  <p:notesMasterIdLst>
    <p:notesMasterId r:id="rId49"/>
  </p:notesMasterIdLst>
  <p:handoutMasterIdLst>
    <p:handoutMasterId r:id="rId50"/>
  </p:handoutMasterIdLst>
  <p:sldIdLst>
    <p:sldId id="274" r:id="rId2"/>
    <p:sldId id="276" r:id="rId3"/>
    <p:sldId id="595" r:id="rId4"/>
    <p:sldId id="596" r:id="rId5"/>
    <p:sldId id="597" r:id="rId6"/>
    <p:sldId id="525" r:id="rId7"/>
    <p:sldId id="526" r:id="rId8"/>
    <p:sldId id="533" r:id="rId9"/>
    <p:sldId id="550" r:id="rId10"/>
    <p:sldId id="606" r:id="rId11"/>
    <p:sldId id="607" r:id="rId12"/>
    <p:sldId id="608" r:id="rId13"/>
    <p:sldId id="609" r:id="rId14"/>
    <p:sldId id="610" r:id="rId15"/>
    <p:sldId id="614" r:id="rId16"/>
    <p:sldId id="612" r:id="rId17"/>
    <p:sldId id="613" r:id="rId18"/>
    <p:sldId id="415" r:id="rId19"/>
    <p:sldId id="592" r:id="rId20"/>
    <p:sldId id="615" r:id="rId21"/>
    <p:sldId id="618" r:id="rId22"/>
    <p:sldId id="481" r:id="rId23"/>
    <p:sldId id="616" r:id="rId24"/>
    <p:sldId id="619" r:id="rId25"/>
    <p:sldId id="594" r:id="rId26"/>
    <p:sldId id="617" r:id="rId27"/>
    <p:sldId id="483" r:id="rId28"/>
    <p:sldId id="626" r:id="rId29"/>
    <p:sldId id="628" r:id="rId30"/>
    <p:sldId id="625" r:id="rId31"/>
    <p:sldId id="602" r:id="rId32"/>
    <p:sldId id="584" r:id="rId33"/>
    <p:sldId id="604" r:id="rId34"/>
    <p:sldId id="605" r:id="rId35"/>
    <p:sldId id="623" r:id="rId36"/>
    <p:sldId id="445" r:id="rId37"/>
    <p:sldId id="450" r:id="rId38"/>
    <p:sldId id="441" r:id="rId39"/>
    <p:sldId id="434" r:id="rId40"/>
    <p:sldId id="620" r:id="rId41"/>
    <p:sldId id="621" r:id="rId42"/>
    <p:sldId id="578" r:id="rId43"/>
    <p:sldId id="622" r:id="rId44"/>
    <p:sldId id="580" r:id="rId45"/>
    <p:sldId id="324" r:id="rId46"/>
    <p:sldId id="505" r:id="rId47"/>
    <p:sldId id="506" r:id="rId4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FD144620-2F55-4CED-AAC8-7BE06AD5D539}">
          <p14:sldIdLst>
            <p14:sldId id="274"/>
            <p14:sldId id="276"/>
          </p14:sldIdLst>
        </p14:section>
        <p14:section name="Преговор" id="{3A43E960-5EF4-4CE2-B96B-CFD63EC799BA}">
          <p14:sldIdLst>
            <p14:sldId id="595"/>
            <p14:sldId id="596"/>
            <p14:sldId id="597"/>
            <p14:sldId id="525"/>
            <p14:sldId id="526"/>
            <p14:sldId id="533"/>
            <p14:sldId id="550"/>
          </p14:sldIdLst>
        </p14:section>
        <p14:section name="For – цикъл" id="{5A1E507C-C3BD-4543-A7DA-AB6A864D077C}">
          <p14:sldIdLst>
            <p14:sldId id="606"/>
            <p14:sldId id="607"/>
            <p14:sldId id="608"/>
            <p14:sldId id="609"/>
            <p14:sldId id="610"/>
          </p14:sldIdLst>
        </p14:section>
        <p14:section name="Какво е цикъл?" id="{8AD254F9-451B-4DB0-912F-1E67801E141B}">
          <p14:sldIdLst>
            <p14:sldId id="614"/>
            <p14:sldId id="612"/>
            <p14:sldId id="613"/>
            <p14:sldId id="415"/>
          </p14:sldIdLst>
        </p14:section>
        <p14:section name="Цикъл със стъпка" id="{41ACCD85-FE4A-4C88-BA72-7360989E46F4}">
          <p14:sldIdLst>
            <p14:sldId id="592"/>
            <p14:sldId id="615"/>
            <p14:sldId id="618"/>
            <p14:sldId id="481"/>
            <p14:sldId id="616"/>
            <p14:sldId id="619"/>
            <p14:sldId id="594"/>
            <p14:sldId id="617"/>
            <p14:sldId id="483"/>
          </p14:sldIdLst>
        </p14:section>
        <p14:section name="Работа с масиви" id="{25FC8CB7-F337-46E4-9628-9925B89ED1AD}">
          <p14:sldIdLst>
            <p14:sldId id="626"/>
            <p14:sldId id="628"/>
            <p14:sldId id="625"/>
          </p14:sldIdLst>
        </p14:section>
        <p14:section name="Работа с текст" id="{BA68392A-B714-457B-86A4-805310AF7FE3}">
          <p14:sldIdLst>
            <p14:sldId id="602"/>
            <p14:sldId id="584"/>
            <p14:sldId id="604"/>
            <p14:sldId id="605"/>
            <p14:sldId id="623"/>
            <p14:sldId id="445"/>
            <p14:sldId id="450"/>
          </p14:sldIdLst>
        </p14:section>
        <p14:section name="Техники за използване на for" id="{635F945E-5912-491D-95A2-AA7FBCFBE39A}">
          <p14:sldIdLst>
            <p14:sldId id="441"/>
            <p14:sldId id="434"/>
            <p14:sldId id="620"/>
            <p14:sldId id="621"/>
            <p14:sldId id="578"/>
            <p14:sldId id="622"/>
          </p14:sldIdLst>
        </p14:section>
        <p14:section name="End Section" id="{C4E6FF98-0AF8-4B2D-96C6-F09A0D078492}">
          <p14:sldIdLst>
            <p14:sldId id="580"/>
            <p14:sldId id="324"/>
            <p14:sldId id="505"/>
            <p14:sldId id="50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84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2188">
          <p15:clr>
            <a:srgbClr val="A4A3A4"/>
          </p15:clr>
        </p15:guide>
        <p15:guide id="4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64646"/>
    <a:srgbClr val="F2A40D"/>
    <a:srgbClr val="DBBD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CC232DE-2511-49A3-B33B-FD78A94CD8E3}" v="22" dt="2019-12-04T16:40:36.347"/>
  </p1510:revLst>
</p1510:revInfo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74" autoAdjust="0"/>
    <p:restoredTop sz="95170" autoAdjust="0"/>
  </p:normalViewPr>
  <p:slideViewPr>
    <p:cSldViewPr showGuides="1">
      <p:cViewPr varScale="1">
        <p:scale>
          <a:sx n="84" d="100"/>
          <a:sy n="84" d="100"/>
        </p:scale>
        <p:origin x="624" y="82"/>
      </p:cViewPr>
      <p:guideLst>
        <p:guide orient="horz" pos="2184"/>
        <p:guide pos="3840"/>
        <p:guide orient="horz" pos="2188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  <p:sld r:id="rId3" collapse="1"/>
      <p:sld r:id="rId4" collapse="1"/>
    </p:sldLst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52" d="100"/>
          <a:sy n="52" d="100"/>
        </p:scale>
        <p:origin x="-2844" y="-108"/>
      </p:cViewPr>
      <p:guideLst>
        <p:guide orient="horz" pos="2880"/>
        <p:guide pos="2160"/>
      </p:guideLst>
    </p:cSldViewPr>
  </p:notesViewPr>
  <p:gridSpacing cx="45000" cy="450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handoutMaster" Target="handoutMasters/handoutMaster1.xml"/><Relationship Id="rId55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/Relationships>
</file>

<file path=ppt/_rels/viewProps.xml.rels><?xml version="1.0" encoding="UTF-8" standalone="yes"?>
<Relationships xmlns="http://schemas.openxmlformats.org/package/2006/relationships"><Relationship Id="rId3" Type="http://schemas.openxmlformats.org/officeDocument/2006/relationships/slide" Target="slides/slide5.xml"/><Relationship Id="rId2" Type="http://schemas.openxmlformats.org/officeDocument/2006/relationships/slide" Target="slides/slide4.xml"/><Relationship Id="rId1" Type="http://schemas.openxmlformats.org/officeDocument/2006/relationships/slide" Target="slides/slide3.xml"/><Relationship Id="rId4" Type="http://schemas.openxmlformats.org/officeDocument/2006/relationships/slide" Target="slides/slide6.xml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hyperlink" Target="https://softuni.org/" TargetMode="External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6F20103-83CC-4A54-8FDE-9D37FC2629C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A53962-26EF-44E4-9E69-61B1727AB1C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087215-0C8F-4762-A664-737A353EC9A4}" type="datetimeFigureOut">
              <a:rPr lang="bg-BG" smtClean="0"/>
              <a:pPr/>
              <a:t>25.9.2024 г.</a:t>
            </a:fld>
            <a:endParaRPr lang="bg-B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A6967E-448F-4887-8FCB-34482EFBCC7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-1" y="8847000"/>
            <a:ext cx="6443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 sz="1100" dirty="0"/>
              <a:t>© SoftUni – </a:t>
            </a:r>
            <a:r>
              <a:rPr lang="en-US" sz="1100" u="sng" dirty="0">
                <a:hlinkClick r:id="rId2"/>
              </a:rPr>
              <a:t>https://softuni.org</a:t>
            </a:r>
            <a:r>
              <a:rPr lang="en-US" sz="1100" dirty="0"/>
              <a:t>. Copyrighted document. Unauthorized copy or reproduction is not permitted.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6554C2-DDBA-40E2-9536-53A07EC5027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6443999" y="8847000"/>
            <a:ext cx="412413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C318AE-53F9-47EA-B5FE-E9473933AF11}" type="slidenum">
              <a:rPr lang="bg-BG" smtClean="0"/>
              <a:pPr/>
              <a:t>‹#›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4150602968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79275" units="1/cm"/>
          <inkml:channelProperty channel="T" name="resolution" value="1" units="1/dev"/>
        </inkml:channelProperties>
      </inkml:inkSource>
      <inkml:timestamp xml:id="ts0" timeString="2017-07-25T09:37:07.856"/>
    </inkml:context>
    <inkml:brush xml:id="br0">
      <inkml:brushProperty name="width" value="0.05" units="cm"/>
      <inkml:brushProperty name="height" value="0.05" units="cm"/>
      <inkml:brushProperty name="fitToCurve" value="1"/>
    </inkml:brush>
  </inkml:definitions>
  <inkml:trace contextRef="#ctx0" brushRef="#br0">0 0 0</inkml:trace>
  <inkml:trace contextRef="#ctx0" brushRef="#br0" timeOffset="222.39">0 0 0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79275" units="1/cm"/>
          <inkml:channelProperty channel="T" name="resolution" value="1" units="1/dev"/>
        </inkml:channelProperties>
      </inkml:inkSource>
      <inkml:timestamp xml:id="ts0" timeString="2017-07-25T09:37:08.438"/>
    </inkml:context>
    <inkml:brush xml:id="br0">
      <inkml:brushProperty name="width" value="0.05" units="cm"/>
      <inkml:brushProperty name="height" value="0.05" units="cm"/>
      <inkml:brushProperty name="fitToCurve" value="1"/>
    </inkml:brush>
  </inkml:definitions>
  <inkml:trace contextRef="#ctx0" brushRef="#br0">0 0 0</inkml:trace>
  <inkml:trace contextRef="#ctx0" brushRef="#br0" timeOffset="127.86">0 0 0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79275" units="1/cm"/>
          <inkml:channelProperty channel="T" name="resolution" value="1" units="1/dev"/>
        </inkml:channelProperties>
      </inkml:inkSource>
      <inkml:timestamp xml:id="ts0" timeString="2017-07-25T09:40:21.172"/>
    </inkml:context>
    <inkml:brush xml:id="br0">
      <inkml:brushProperty name="width" value="0.05" units="cm"/>
      <inkml:brushProperty name="height" value="0.05" units="cm"/>
      <inkml:brushProperty name="fitToCurve" value="1"/>
    </inkml:brush>
  </inkml:definitions>
  <inkml:trace contextRef="#ctx0" brushRef="#br0">0 0 0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79275" units="1/cm"/>
          <inkml:channelProperty channel="T" name="resolution" value="1" units="1/dev"/>
        </inkml:channelProperties>
      </inkml:inkSource>
      <inkml:timestamp xml:id="ts0" timeString="2017-07-25T09:40:21.661"/>
    </inkml:context>
    <inkml:brush xml:id="br0">
      <inkml:brushProperty name="width" value="0.05" units="cm"/>
      <inkml:brushProperty name="height" value="0.05" units="cm"/>
      <inkml:brushProperty name="fitToCurve" value="1"/>
    </inkml:brush>
  </inkml:definitions>
  <inkml:trace contextRef="#ctx0" brushRef="#br0">0 0 0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79275" units="1/cm"/>
          <inkml:channelProperty channel="T" name="resolution" value="1" units="1/dev"/>
        </inkml:channelProperties>
      </inkml:inkSource>
      <inkml:timestamp xml:id="ts0" timeString="2017-07-25T09:40:22.044"/>
    </inkml:context>
    <inkml:brush xml:id="br0">
      <inkml:brushProperty name="width" value="0.05" units="cm"/>
      <inkml:brushProperty name="height" value="0.05" units="cm"/>
      <inkml:brushProperty name="fitToCurve" value="1"/>
    </inkml:brush>
  </inkml:definitions>
  <inkml:trace contextRef="#ctx0" brushRef="#br0">0 0 0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79275" units="1/cm"/>
          <inkml:channelProperty channel="T" name="resolution" value="1" units="1/dev"/>
        </inkml:channelProperties>
      </inkml:inkSource>
      <inkml:timestamp xml:id="ts0" timeString="2017-07-25T09:40:24.491"/>
    </inkml:context>
    <inkml:brush xml:id="br0">
      <inkml:brushProperty name="width" value="0.05" units="cm"/>
      <inkml:brushProperty name="height" value="0.05" units="cm"/>
      <inkml:brushProperty name="color" value="#3165BB"/>
      <inkml:brushProperty name="fitToCurve" value="1"/>
    </inkml:brush>
  </inkml:definitions>
  <inkml:trace contextRef="#ctx0" brushRef="#br0">0 0 0</inkml:trace>
  <inkml:trace contextRef="#ctx0" brushRef="#br0" timeOffset="120.61">0 0 0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79275" units="1/cm"/>
          <inkml:channelProperty channel="T" name="resolution" value="1" units="1/dev"/>
        </inkml:channelProperties>
      </inkml:inkSource>
      <inkml:timestamp xml:id="ts0" timeString="2017-07-25T09:40:21.172"/>
    </inkml:context>
    <inkml:brush xml:id="br0">
      <inkml:brushProperty name="width" value="0.05" units="cm"/>
      <inkml:brushProperty name="height" value="0.05" units="cm"/>
      <inkml:brushProperty name="fitToCurve" value="1"/>
    </inkml:brush>
  </inkml:definitions>
  <inkml:trace contextRef="#ctx0" brushRef="#br0">0 0 0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79275" units="1/cm"/>
          <inkml:channelProperty channel="T" name="resolution" value="1" units="1/dev"/>
        </inkml:channelProperties>
      </inkml:inkSource>
      <inkml:timestamp xml:id="ts0" timeString="2017-07-25T09:40:21.661"/>
    </inkml:context>
    <inkml:brush xml:id="br0">
      <inkml:brushProperty name="width" value="0.05" units="cm"/>
      <inkml:brushProperty name="height" value="0.05" units="cm"/>
      <inkml:brushProperty name="fitToCurve" value="1"/>
    </inkml:brush>
  </inkml:definitions>
  <inkml:trace contextRef="#ctx0" brushRef="#br0">0 0 0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79275" units="1/cm"/>
          <inkml:channelProperty channel="T" name="resolution" value="1" units="1/dev"/>
        </inkml:channelProperties>
      </inkml:inkSource>
      <inkml:timestamp xml:id="ts0" timeString="2017-07-25T09:40:22.044"/>
    </inkml:context>
    <inkml:brush xml:id="br0">
      <inkml:brushProperty name="width" value="0.05" units="cm"/>
      <inkml:brushProperty name="height" value="0.05" units="cm"/>
      <inkml:brushProperty name="fitToCurve" value="1"/>
    </inkml:brush>
  </inkml:definitions>
  <inkml:trace contextRef="#ctx0" brushRef="#br0">0 0 0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79275" units="1/cm"/>
          <inkml:channelProperty channel="T" name="resolution" value="1" units="1/dev"/>
        </inkml:channelProperties>
      </inkml:inkSource>
      <inkml:timestamp xml:id="ts0" timeString="2017-07-25T09:40:24.491"/>
    </inkml:context>
    <inkml:brush xml:id="br0">
      <inkml:brushProperty name="width" value="0.05" units="cm"/>
      <inkml:brushProperty name="height" value="0.05" units="cm"/>
      <inkml:brushProperty name="color" value="#3165BB"/>
      <inkml:brushProperty name="fitToCurve" value="1"/>
    </inkml:brush>
  </inkml:definitions>
  <inkml:trace contextRef="#ctx0" brushRef="#br0">0 0 0</inkml:trace>
  <inkml:trace contextRef="#ctx0" brushRef="#br0" timeOffset="120.61">0 0 0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79275" units="1/cm"/>
          <inkml:channelProperty channel="T" name="resolution" value="1" units="1/dev"/>
        </inkml:channelProperties>
      </inkml:inkSource>
      <inkml:timestamp xml:id="ts0" timeString="2017-07-25T09:40:21.172"/>
    </inkml:context>
    <inkml:brush xml:id="br0">
      <inkml:brushProperty name="width" value="0.05" units="cm"/>
      <inkml:brushProperty name="height" value="0.05" units="cm"/>
      <inkml:brushProperty name="fitToCurve" value="1"/>
    </inkml:brush>
  </inkml:definitions>
  <inkml:trace contextRef="#ctx0" brushRef="#br0">0 0 0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79275" units="1/cm"/>
          <inkml:channelProperty channel="T" name="resolution" value="1" units="1/dev"/>
        </inkml:channelProperties>
      </inkml:inkSource>
      <inkml:timestamp xml:id="ts0" timeString="2017-07-25T09:40:21.661"/>
    </inkml:context>
    <inkml:brush xml:id="br0">
      <inkml:brushProperty name="width" value="0.05" units="cm"/>
      <inkml:brushProperty name="height" value="0.05" units="cm"/>
      <inkml:brushProperty name="fitToCurve" value="1"/>
    </inkml:brush>
  </inkml:definitions>
  <inkml:trace contextRef="#ctx0" brushRef="#br0">0 0 0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79275" units="1/cm"/>
          <inkml:channelProperty channel="T" name="resolution" value="1" units="1/dev"/>
        </inkml:channelProperties>
      </inkml:inkSource>
      <inkml:timestamp xml:id="ts0" timeString="2017-07-25T09:40:22.044"/>
    </inkml:context>
    <inkml:brush xml:id="br0">
      <inkml:brushProperty name="width" value="0.05" units="cm"/>
      <inkml:brushProperty name="height" value="0.05" units="cm"/>
      <inkml:brushProperty name="fitToCurve" value="1"/>
    </inkml:brush>
  </inkml:definitions>
  <inkml:trace contextRef="#ctx0" brushRef="#br0">0 0 0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79275" units="1/cm"/>
          <inkml:channelProperty channel="T" name="resolution" value="1" units="1/dev"/>
        </inkml:channelProperties>
      </inkml:inkSource>
      <inkml:timestamp xml:id="ts0" timeString="2017-07-25T09:40:24.491"/>
    </inkml:context>
    <inkml:brush xml:id="br0">
      <inkml:brushProperty name="width" value="0.05" units="cm"/>
      <inkml:brushProperty name="height" value="0.05" units="cm"/>
      <inkml:brushProperty name="color" value="#3165BB"/>
      <inkml:brushProperty name="fitToCurve" value="1"/>
    </inkml:brush>
  </inkml:definitions>
  <inkml:trace contextRef="#ctx0" brushRef="#br0">0 0 0</inkml:trace>
  <inkml:trace contextRef="#ctx0" brushRef="#br0" timeOffset="120.61">0 0 0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79275" units="1/cm"/>
          <inkml:channelProperty channel="T" name="resolution" value="1" units="1/dev"/>
        </inkml:channelProperties>
      </inkml:inkSource>
      <inkml:timestamp xml:id="ts0" timeString="2017-07-25T09:40:21.172"/>
    </inkml:context>
    <inkml:brush xml:id="br0">
      <inkml:brushProperty name="width" value="0.05" units="cm"/>
      <inkml:brushProperty name="height" value="0.05" units="cm"/>
      <inkml:brushProperty name="fitToCurve" value="1"/>
    </inkml:brush>
  </inkml:definitions>
  <inkml:trace contextRef="#ctx0" brushRef="#br0">0 0 0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79275" units="1/cm"/>
          <inkml:channelProperty channel="T" name="resolution" value="1" units="1/dev"/>
        </inkml:channelProperties>
      </inkml:inkSource>
      <inkml:timestamp xml:id="ts0" timeString="2017-07-25T09:40:21.661"/>
    </inkml:context>
    <inkml:brush xml:id="br0">
      <inkml:brushProperty name="width" value="0.05" units="cm"/>
      <inkml:brushProperty name="height" value="0.05" units="cm"/>
      <inkml:brushProperty name="fitToCurve" value="1"/>
    </inkml:brush>
  </inkml:definitions>
  <inkml:trace contextRef="#ctx0" brushRef="#br0">0 0 0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79275" units="1/cm"/>
          <inkml:channelProperty channel="T" name="resolution" value="1" units="1/dev"/>
        </inkml:channelProperties>
      </inkml:inkSource>
      <inkml:timestamp xml:id="ts0" timeString="2017-07-25T09:40:22.044"/>
    </inkml:context>
    <inkml:brush xml:id="br0">
      <inkml:brushProperty name="width" value="0.05" units="cm"/>
      <inkml:brushProperty name="height" value="0.05" units="cm"/>
      <inkml:brushProperty name="fitToCurve" value="1"/>
    </inkml:brush>
  </inkml:definitions>
  <inkml:trace contextRef="#ctx0" brushRef="#br0">0 0 0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79275" units="1/cm"/>
          <inkml:channelProperty channel="T" name="resolution" value="1" units="1/dev"/>
        </inkml:channelProperties>
      </inkml:inkSource>
      <inkml:timestamp xml:id="ts0" timeString="2017-07-25T09:40:24.491"/>
    </inkml:context>
    <inkml:brush xml:id="br0">
      <inkml:brushProperty name="width" value="0.05" units="cm"/>
      <inkml:brushProperty name="height" value="0.05" units="cm"/>
      <inkml:brushProperty name="color" value="#3165BB"/>
      <inkml:brushProperty name="fitToCurve" value="1"/>
    </inkml:brush>
  </inkml:definitions>
  <inkml:trace contextRef="#ctx0" brushRef="#br0">0 0 0</inkml:trace>
  <inkml:trace contextRef="#ctx0" brushRef="#br0" timeOffset="120.61">0 0 0</inkml:trace>
</inkml:ink>
</file>

<file path=ppt/notesMasters/_rels/notesMaster1.xml.rels><?xml version="1.0" encoding="UTF-8" standalone="yes"?>
<Relationships xmlns="http://schemas.openxmlformats.org/package/2006/relationships"><Relationship Id="rId2" Type="http://schemas.openxmlformats.org/officeDocument/2006/relationships/hyperlink" Target="https://softuni.org/" TargetMode="External"/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D84649-876A-46C9-8472-14CB09C070D8}" type="datetimeFigureOut">
              <a:rPr lang="en-US" smtClean="0"/>
              <a:pPr/>
              <a:t>9/25/2024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F067CD-8E6B-4360-9AA8-C5DF2A48A6D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C3A49B-3196-44DF-AC28-085C72EFBFF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2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1530847692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7" name="Footer Placeholder 7">
            <a:extLst>
              <a:ext uri="{FF2B5EF4-FFF2-40B4-BE49-F238E27FC236}">
                <a16:creationId xmlns:a16="http://schemas.microsoft.com/office/drawing/2014/main" id="{1612D86A-A35B-4C1A-BB1B-94DF748901C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24703324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54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bg-BG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97EA483A-EF53-4E05-B4A1-BB57D6BB7BD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2539272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97DEF9BD-FFA7-4DA0-9DBC-22A8604B2F1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18409851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5D913FBC-A0C4-4857-A897-3A6480654459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20016826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DC3FE66B-2D04-4CAB-B808-C98C90B42D22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36385793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B1CB0749-BEAD-425C-A344-AA39615CBA0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247244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681A0B3F-3B61-4A13-8D77-768EBEEAED6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107730872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0661924C-2CB5-495D-B35F-5B6DDA48E672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117927889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178BA2F2-DA1D-4030-ABAB-C2F64070A38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395894225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1B7A52DE-496A-4F9A-8587-4443FAF4324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237046678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Контейнер за изображение на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Контейнер за бележ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5" name="Контейнер за номер на слайда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28</a:t>
            </a:fld>
            <a:endParaRPr lang="en-US" dirty="0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CD7D4C29-769A-419B-989C-79DB84FF964E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273381052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29</a:t>
            </a:fld>
            <a:endParaRPr lang="en-US" dirty="0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D15365A2-212C-4FEB-BDF2-507EE251900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73073181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Контейнер за изображение на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Контейнер за бележ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Контейнер за номер на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smtClean="0"/>
              <a:pPr/>
              <a:t>30</a:t>
            </a:fld>
            <a:endParaRPr lang="en-US" dirty="0"/>
          </a:p>
        </p:txBody>
      </p:sp>
      <p:sp>
        <p:nvSpPr>
          <p:cNvPr id="5" name="Контейнер за долния колонтитул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568982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36</a:t>
            </a:fld>
            <a:endParaRPr lang="en-US" dirty="0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2EDDA056-2A8C-4B7A-8819-C844A47821DE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202872193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37</a:t>
            </a:fld>
            <a:endParaRPr lang="en-US" dirty="0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0B876F13-271C-4ABB-B735-B55D2B8E232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302200741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38</a:t>
            </a:fld>
            <a:endParaRPr lang="en-US" dirty="0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2123CCEA-622E-4A38-94BE-3B6C6155DC59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152844891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39</a:t>
            </a:fld>
            <a:endParaRPr lang="en-US" dirty="0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16B520C0-C662-448B-93E4-EE5425F8F999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397109183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Контейнер за изображение на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Контейнер за бележ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Контейнер за номер на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F067CD-8E6B-4360-9AA8-C5DF2A48A6D1}" type="slidenum">
              <a:rPr lang="en-US" smtClean="0"/>
              <a:pPr/>
              <a:t>42</a:t>
            </a:fld>
            <a:endParaRPr lang="en-US" dirty="0"/>
          </a:p>
        </p:txBody>
      </p:sp>
      <p:sp>
        <p:nvSpPr>
          <p:cNvPr id="5" name="Контейнер за долния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44</a:t>
            </a:fld>
            <a:endParaRPr lang="en-US" dirty="0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A7DC0528-5046-4CB8-BED7-F301A207475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146024304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C0F205-FB23-4B4A-AA1E-CC80DEDB9B7E}" type="slidenum">
              <a:rPr lang="en-BG" smtClean="0"/>
              <a:t>45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120144592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27548A-4D3C-449B-81A5-FA4BE4628490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46</a:t>
            </a:fld>
            <a:endParaRPr lang="en-US" dirty="0"/>
          </a:p>
        </p:txBody>
      </p:sp>
      <p:sp>
        <p:nvSpPr>
          <p:cNvPr id="7" name="Footer Placeholder 7">
            <a:extLst>
              <a:ext uri="{FF2B5EF4-FFF2-40B4-BE49-F238E27FC236}">
                <a16:creationId xmlns:a16="http://schemas.microsoft.com/office/drawing/2014/main" id="{05994E42-3F0B-4B74-95F9-93D60B113B7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284685930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D1C0779-821B-433B-AB3A-0953EE966C7E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47</a:t>
            </a:fld>
            <a:endParaRPr lang="en-US" dirty="0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5F7ECF8D-FE09-40E7-BCA7-76576B62AA3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13270891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hyperlink" Target="https://softuni.org/" TargetMode="Externa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hyperlink" Target="https://softuni.org/" TargetMode="External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1.png"/><Relationship Id="rId11" Type="http://schemas.openxmlformats.org/officeDocument/2006/relationships/image" Target="../media/image4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hyperlink" Target="https://softuni.foundation/" TargetMode="External"/><Relationship Id="rId3" Type="http://schemas.openxmlformats.org/officeDocument/2006/relationships/image" Target="../media/image16.png"/><Relationship Id="rId7" Type="http://schemas.openxmlformats.org/officeDocument/2006/relationships/image" Target="../media/image18.png"/><Relationship Id="rId2" Type="http://schemas.openxmlformats.org/officeDocument/2006/relationships/hyperlink" Target="https://www.facebook.com/SoftwareUniversity" TargetMode="External"/><Relationship Id="rId1" Type="http://schemas.openxmlformats.org/officeDocument/2006/relationships/slideMaster" Target="../slideMasters/slideMaster1.xml"/><Relationship Id="rId6" Type="http://schemas.openxmlformats.org/officeDocument/2006/relationships/hyperlink" Target="https://softuni.bg/" TargetMode="External"/><Relationship Id="rId5" Type="http://schemas.openxmlformats.org/officeDocument/2006/relationships/image" Target="../media/image17.png"/><Relationship Id="rId10" Type="http://schemas.openxmlformats.org/officeDocument/2006/relationships/image" Target="../media/image5.png"/><Relationship Id="rId4" Type="http://schemas.openxmlformats.org/officeDocument/2006/relationships/hyperlink" Target="https://softuni.org/" TargetMode="External"/><Relationship Id="rId9" Type="http://schemas.openxmlformats.org/officeDocument/2006/relationships/hyperlink" Target="https://forum.softuni.bg/" TargetMode="Externa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esentatio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Bottom">
            <a:extLst>
              <a:ext uri="{FF2B5EF4-FFF2-40B4-BE49-F238E27FC236}">
                <a16:creationId xmlns:a16="http://schemas.microsoft.com/office/drawing/2014/main" id="{6854D183-0374-4B3E-B2CE-32F308A81591}"/>
              </a:ext>
            </a:extLst>
          </p:cNvPr>
          <p:cNvSpPr/>
          <p:nvPr/>
        </p:nvSpPr>
        <p:spPr>
          <a:xfrm>
            <a:off x="0" y="6702676"/>
            <a:ext cx="12195176" cy="15532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14" name="Picture Logo SoftUni" descr="SoftUni logo">
            <a:extLst>
              <a:ext uri="{FF2B5EF4-FFF2-40B4-BE49-F238E27FC236}">
                <a16:creationId xmlns:a16="http://schemas.microsoft.com/office/drawing/2014/main" id="{C4D6B2A2-DFF0-4712-BFEC-6676BEC99FE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4460" y="5184000"/>
            <a:ext cx="3751540" cy="1297655"/>
          </a:xfrm>
          <a:prstGeom prst="rect">
            <a:avLst/>
          </a:prstGeom>
        </p:spPr>
      </p:pic>
      <p:sp>
        <p:nvSpPr>
          <p:cNvPr id="31" name="Text Placeholder Company Site">
            <a:extLst>
              <a:ext uri="{FF2B5EF4-FFF2-40B4-BE49-F238E27FC236}">
                <a16:creationId xmlns:a16="http://schemas.microsoft.com/office/drawing/2014/main" id="{3E6B87B7-9D33-4EBB-BD4F-C0436BA3FD7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auto">
          <a:xfrm>
            <a:off x="8708505" y="6130863"/>
            <a:ext cx="2951518" cy="341556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noAutofit/>
          </a:bodyPr>
          <a:lstStyle>
            <a:lvl1pPr marL="0" indent="0" algn="r" rtl="0" fontAlgn="base" latinLnBrk="0">
              <a:spcBef>
                <a:spcPct val="0"/>
              </a:spcBef>
              <a:spcAft>
                <a:spcPct val="0"/>
              </a:spcAft>
              <a:buNone/>
              <a:defRPr lang="en-US" sz="1798" b="1" kern="1200" dirty="0" smtClean="0">
                <a:solidFill>
                  <a:schemeClr val="tx1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Company Web Site</a:t>
            </a:r>
          </a:p>
        </p:txBody>
      </p:sp>
      <p:sp>
        <p:nvSpPr>
          <p:cNvPr id="30" name="Text Placeholder Company Name">
            <a:extLst>
              <a:ext uri="{FF2B5EF4-FFF2-40B4-BE49-F238E27FC236}">
                <a16:creationId xmlns:a16="http://schemas.microsoft.com/office/drawing/2014/main" id="{2EA92DCA-4DB5-4D03-ACD3-A6A296592D0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auto">
          <a:xfrm>
            <a:off x="8708505" y="5756628"/>
            <a:ext cx="2951518" cy="367080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noAutofit/>
          </a:bodyPr>
          <a:lstStyle>
            <a:lvl1pPr marL="0" indent="0" algn="r" rtl="0" fontAlgn="base" latinLnBrk="0">
              <a:spcBef>
                <a:spcPct val="0"/>
              </a:spcBef>
              <a:spcAft>
                <a:spcPct val="0"/>
              </a:spcAft>
              <a:buNone/>
              <a:defRPr lang="en-US" sz="1998" b="1" kern="1200" dirty="0" smtClean="0">
                <a:solidFill>
                  <a:schemeClr val="tx1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Company Name</a:t>
            </a:r>
          </a:p>
        </p:txBody>
      </p:sp>
      <p:pic>
        <p:nvPicPr>
          <p:cNvPr id="35" name="Picture SoftUni Mascot" descr="SoftUni mascot">
            <a:extLst>
              <a:ext uri="{FF2B5EF4-FFF2-40B4-BE49-F238E27FC236}">
                <a16:creationId xmlns:a16="http://schemas.microsoft.com/office/drawing/2014/main" id="{951E7DA9-C5F0-43D9-B013-3BDF9EEF029D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H="1">
            <a:off x="8848924" y="2609644"/>
            <a:ext cx="2788893" cy="3018284"/>
          </a:xfrm>
          <a:prstGeom prst="rect">
            <a:avLst/>
          </a:prstGeom>
        </p:spPr>
      </p:pic>
      <p:pic>
        <p:nvPicPr>
          <p:cNvPr id="22" name="Picture Logo Software University" descr="Software University logo">
            <a:hlinkClick r:id="rId4"/>
            <a:extLst>
              <a:ext uri="{FF2B5EF4-FFF2-40B4-BE49-F238E27FC236}">
                <a16:creationId xmlns:a16="http://schemas.microsoft.com/office/drawing/2014/main" id="{F2315EB3-3FE4-4D3B-921E-5F209CEC13CB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944" y="5918567"/>
            <a:ext cx="1830305" cy="628159"/>
          </a:xfrm>
          <a:prstGeom prst="rect">
            <a:avLst/>
          </a:prstGeom>
        </p:spPr>
      </p:pic>
      <p:sp>
        <p:nvSpPr>
          <p:cNvPr id="40" name="Text Placeholder Author Position">
            <a:extLst>
              <a:ext uri="{FF2B5EF4-FFF2-40B4-BE49-F238E27FC236}">
                <a16:creationId xmlns:a16="http://schemas.microsoft.com/office/drawing/2014/main" id="{CD940256-851E-46C8-8BFB-A5ECA6C7DA0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 bwMode="auto">
          <a:xfrm>
            <a:off x="553082" y="5344180"/>
            <a:ext cx="2980696" cy="444793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spAutoFit/>
          </a:bodyPr>
          <a:lstStyle>
            <a:lvl1pPr marL="0" indent="0" algn="l" rtl="0" fontAlgn="base" latinLnBrk="0">
              <a:spcBef>
                <a:spcPct val="0"/>
              </a:spcBef>
              <a:spcAft>
                <a:spcPct val="0"/>
              </a:spcAft>
              <a:buNone/>
              <a:defRPr lang="en-US" sz="2398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Position</a:t>
            </a:r>
          </a:p>
        </p:txBody>
      </p:sp>
      <p:sp>
        <p:nvSpPr>
          <p:cNvPr id="36" name="Text Placeholder Author Name">
            <a:extLst>
              <a:ext uri="{FF2B5EF4-FFF2-40B4-BE49-F238E27FC236}">
                <a16:creationId xmlns:a16="http://schemas.microsoft.com/office/drawing/2014/main" id="{3B21F47B-DE1F-442D-A2B7-6866F87867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 bwMode="auto">
          <a:xfrm>
            <a:off x="553082" y="4851838"/>
            <a:ext cx="2980696" cy="454398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noAutofit/>
          </a:bodyPr>
          <a:lstStyle>
            <a:lvl1pPr marL="0" indent="0" algn="l" rtl="0" fontAlgn="base" latinLnBrk="0">
              <a:spcBef>
                <a:spcPct val="0"/>
              </a:spcBef>
              <a:spcAft>
                <a:spcPct val="0"/>
              </a:spcAft>
              <a:buNone/>
              <a:defRPr lang="en-US" sz="2798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Author Name</a:t>
            </a:r>
          </a:p>
        </p:txBody>
      </p:sp>
      <p:sp>
        <p:nvSpPr>
          <p:cNvPr id="33" name="Picture Placeholder Title Image">
            <a:extLst>
              <a:ext uri="{FF2B5EF4-FFF2-40B4-BE49-F238E27FC236}">
                <a16:creationId xmlns:a16="http://schemas.microsoft.com/office/drawing/2014/main" id="{A04D819A-89E2-4714-8C56-1838BF467EF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53082" y="2740913"/>
            <a:ext cx="4642919" cy="1936503"/>
          </a:xfrm>
        </p:spPr>
        <p:txBody>
          <a:bodyPr/>
          <a:lstStyle>
            <a:lvl1pPr marL="0" indent="0" algn="ctr" latinLnBrk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Click icon to add picture</a:t>
            </a:r>
          </a:p>
        </p:txBody>
      </p:sp>
      <p:sp>
        <p:nvSpPr>
          <p:cNvPr id="43" name="Presentation Subtitle">
            <a:extLst>
              <a:ext uri="{FF2B5EF4-FFF2-40B4-BE49-F238E27FC236}">
                <a16:creationId xmlns:a16="http://schemas.microsoft.com/office/drawing/2014/main" id="{37BDB812-1395-4B02-ABCF-6A331EEE23E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54182" y="1258272"/>
            <a:ext cx="11083636" cy="1315728"/>
          </a:xfrm>
        </p:spPr>
        <p:txBody>
          <a:bodyPr anchor="t" anchorCtr="0">
            <a:normAutofit/>
          </a:bodyPr>
          <a:lstStyle>
            <a:lvl1pPr marL="0" indent="0" algn="ctr" latinLnBrk="0">
              <a:buNone/>
              <a:defRPr sz="3598"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Presentation Subtitle</a:t>
            </a:r>
          </a:p>
        </p:txBody>
      </p:sp>
      <p:sp>
        <p:nvSpPr>
          <p:cNvPr id="2" name="Presentation Title">
            <a:extLst>
              <a:ext uri="{FF2B5EF4-FFF2-40B4-BE49-F238E27FC236}">
                <a16:creationId xmlns:a16="http://schemas.microsoft.com/office/drawing/2014/main" id="{A4DF3AB8-E6E3-4FCE-8A4A-ECD147720A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4182" y="321502"/>
            <a:ext cx="11083636" cy="882654"/>
          </a:xfrm>
        </p:spPr>
        <p:txBody>
          <a:bodyPr/>
          <a:lstStyle>
            <a:lvl1pPr algn="ctr" latinLnBrk="0">
              <a:defRPr sz="4798"/>
            </a:lvl1pPr>
          </a:lstStyle>
          <a:p>
            <a:r>
              <a:rPr lang="en-US" noProof="0" dirty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9701792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Center Icon"/>
          <p:cNvSpPr>
            <a:spLocks noChangeAspect="1"/>
          </p:cNvSpPr>
          <p:nvPr/>
        </p:nvSpPr>
        <p:spPr>
          <a:xfrm>
            <a:off x="4319736" y="867751"/>
            <a:ext cx="3552529" cy="3552529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1" name="Slide Subtitle"/>
          <p:cNvSpPr>
            <a:spLocks noGrp="1"/>
          </p:cNvSpPr>
          <p:nvPr>
            <p:ph type="subTitle" sz="quarter" idx="11" hasCustomPrompt="1"/>
          </p:nvPr>
        </p:nvSpPr>
        <p:spPr>
          <a:xfrm>
            <a:off x="615109" y="5585916"/>
            <a:ext cx="10961783" cy="76808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latinLnBrk="0">
              <a:buNone/>
              <a:defRPr sz="3998" b="0" baseline="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noProof="0" dirty="0"/>
              <a:t>Click to Edit Section Subtitle</a:t>
            </a:r>
          </a:p>
        </p:txBody>
      </p:sp>
      <p:sp>
        <p:nvSpPr>
          <p:cNvPr id="10" name="Slide Title"/>
          <p:cNvSpPr>
            <a:spLocks noGrp="1"/>
          </p:cNvSpPr>
          <p:nvPr>
            <p:ph type="title" sz="quarter" idx="10" hasCustomPrompt="1"/>
          </p:nvPr>
        </p:nvSpPr>
        <p:spPr>
          <a:xfrm>
            <a:off x="615109" y="4704825"/>
            <a:ext cx="10961783" cy="76808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latinLnBrk="0">
              <a:buNone/>
              <a:defRPr sz="5396" b="1" baseline="0">
                <a:solidFill>
                  <a:schemeClr val="tx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noProof="0" dirty="0"/>
              <a:t>Click to Edit Section Title</a:t>
            </a:r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35292164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">
            <a:extLst>
              <a:ext uri="{FF2B5EF4-FFF2-40B4-BE49-F238E27FC236}">
                <a16:creationId xmlns:a16="http://schemas.microsoft.com/office/drawing/2014/main" id="{C1780DB1-0AF0-4108-AFE1-9DA99F0DBC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3" name="Slide Body Text">
            <a:extLst>
              <a:ext uri="{FF2B5EF4-FFF2-40B4-BE49-F238E27FC236}">
                <a16:creationId xmlns:a16="http://schemas.microsoft.com/office/drawing/2014/main" id="{5A9D2960-6D42-439F-82E8-812822013A1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0402" y="1196125"/>
            <a:ext cx="11818096" cy="5528766"/>
          </a:xfr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3" name="Rectangle Top">
            <a:extLst>
              <a:ext uri="{FF2B5EF4-FFF2-40B4-BE49-F238E27FC236}">
                <a16:creationId xmlns:a16="http://schemas.microsoft.com/office/drawing/2014/main" id="{391AFA4E-7870-4561-A1B8-AC956B0C8931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12" name="Logo Software University" descr="Software University logo">
            <a:extLst>
              <a:ext uri="{FF2B5EF4-FFF2-40B4-BE49-F238E27FC236}">
                <a16:creationId xmlns:a16="http://schemas.microsoft.com/office/drawing/2014/main" id="{B1D3B425-B9BF-43ED-9DEC-C05002FBA22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7957" y="253936"/>
            <a:ext cx="1915704" cy="559235"/>
          </a:xfrm>
          <a:prstGeom prst="rect">
            <a:avLst/>
          </a:prstGeom>
        </p:spPr>
      </p:pic>
      <p:sp>
        <p:nvSpPr>
          <p:cNvPr id="6" name="Slide Title">
            <a:extLst>
              <a:ext uri="{FF2B5EF4-FFF2-40B4-BE49-F238E27FC236}">
                <a16:creationId xmlns:a16="http://schemas.microsoft.com/office/drawing/2014/main" id="{19B5B676-7892-440F-8191-7109B2C598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6" y="100750"/>
            <a:ext cx="9715594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11029707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portant Conce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0020EB61-2079-41A3-B356-B1D8D48D78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6" name="Rectangle Left"/>
          <p:cNvSpPr/>
          <p:nvPr/>
        </p:nvSpPr>
        <p:spPr>
          <a:xfrm>
            <a:off x="0" y="0"/>
            <a:ext cx="115383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" name="Slide Body Text">
            <a:extLst>
              <a:ext uri="{FF2B5EF4-FFF2-40B4-BE49-F238E27FC236}">
                <a16:creationId xmlns:a16="http://schemas.microsoft.com/office/drawing/2014/main" id="{CB4CB13C-66A1-466B-A6C1-B0BABF5CFEC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866000" y="1121143"/>
            <a:ext cx="10129234" cy="5546589"/>
          </a:xfrm>
        </p:spPr>
        <p:txBody>
          <a:bodyPr/>
          <a:lstStyle>
            <a:lvl1pPr latinLnBrk="0">
              <a:defRPr>
                <a:solidFill>
                  <a:schemeClr val="tx1"/>
                </a:solidFill>
              </a:defRPr>
            </a:lvl1pPr>
            <a:lvl2pPr latinLnBrk="0">
              <a:defRPr>
                <a:solidFill>
                  <a:schemeClr val="tx1"/>
                </a:solidFill>
              </a:defRPr>
            </a:lvl2pPr>
            <a:lvl3pPr latinLnBrk="0">
              <a:defRPr>
                <a:solidFill>
                  <a:schemeClr val="tx1"/>
                </a:solidFill>
              </a:defRPr>
            </a:lvl3pPr>
            <a:lvl4pPr latinLnBrk="0">
              <a:defRPr>
                <a:solidFill>
                  <a:schemeClr val="tx1"/>
                </a:solidFill>
              </a:defRPr>
            </a:lvl4pPr>
            <a:lvl5pPr latinLnBrk="0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pic>
        <p:nvPicPr>
          <p:cNvPr id="3" name="Logo Software University" descr="Software University logo">
            <a:extLst>
              <a:ext uri="{FF2B5EF4-FFF2-40B4-BE49-F238E27FC236}">
                <a16:creationId xmlns:a16="http://schemas.microsoft.com/office/drawing/2014/main" id="{5573C101-930B-47AC-967A-A64513DFFDE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8761" y="190267"/>
            <a:ext cx="2013336" cy="690975"/>
          </a:xfrm>
          <a:prstGeom prst="rect">
            <a:avLst/>
          </a:prstGeom>
        </p:spPr>
      </p:pic>
      <p:sp>
        <p:nvSpPr>
          <p:cNvPr id="8" name="Slide Title">
            <a:extLst>
              <a:ext uri="{FF2B5EF4-FFF2-40B4-BE49-F238E27FC236}">
                <a16:creationId xmlns:a16="http://schemas.microsoft.com/office/drawing/2014/main" id="{E2DA9691-CDF5-499C-94BB-AAA61DAC1BF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96957" y="100750"/>
            <a:ext cx="8625520" cy="882654"/>
          </a:xfrm>
        </p:spPr>
        <p:txBody>
          <a:bodyPr/>
          <a:lstStyle>
            <a:lvl1pPr latinLnBrk="0">
              <a:defRPr/>
            </a:lvl1pPr>
          </a:lstStyle>
          <a:p>
            <a:r>
              <a:rPr lang="en-US" noProof="0" dirty="0"/>
              <a:t>Slide Title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43CDBCC2-1C96-44BC-B992-7B0C49C34904}"/>
              </a:ext>
            </a:extLst>
          </p:cNvPr>
          <p:cNvGrpSpPr/>
          <p:nvPr userDrawn="1"/>
        </p:nvGrpSpPr>
        <p:grpSpPr>
          <a:xfrm>
            <a:off x="185076" y="1868177"/>
            <a:ext cx="1937508" cy="3070349"/>
            <a:chOff x="3928039" y="1792355"/>
            <a:chExt cx="1830304" cy="2900460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7D71B3A8-4D39-42CF-9255-81EA3A622DD6}"/>
                </a:ext>
              </a:extLst>
            </p:cNvPr>
            <p:cNvGrpSpPr/>
            <p:nvPr/>
          </p:nvGrpSpPr>
          <p:grpSpPr>
            <a:xfrm>
              <a:off x="3928039" y="1792355"/>
              <a:ext cx="1830304" cy="2206534"/>
              <a:chOff x="3216839" y="2404072"/>
              <a:chExt cx="1830304" cy="2206534"/>
            </a:xfrm>
          </p:grpSpPr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B98059F9-1874-426D-8AF7-A12C21F37DD9}"/>
                  </a:ext>
                </a:extLst>
              </p:cNvPr>
              <p:cNvSpPr/>
              <p:nvPr/>
            </p:nvSpPr>
            <p:spPr>
              <a:xfrm>
                <a:off x="3216839" y="2404072"/>
                <a:ext cx="1830304" cy="1830304"/>
              </a:xfrm>
              <a:prstGeom prst="ellipse">
                <a:avLst/>
              </a:prstGeom>
              <a:solidFill>
                <a:srgbClr val="F2A40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/>
              </a:p>
            </p:txBody>
          </p:sp>
          <p:sp>
            <p:nvSpPr>
              <p:cNvPr id="26" name="Rectangle 5">
                <a:extLst>
                  <a:ext uri="{FF2B5EF4-FFF2-40B4-BE49-F238E27FC236}">
                    <a16:creationId xmlns:a16="http://schemas.microsoft.com/office/drawing/2014/main" id="{A3A1E077-DBDF-48F0-A924-604984B940A2}"/>
                  </a:ext>
                </a:extLst>
              </p:cNvPr>
              <p:cNvSpPr/>
              <p:nvPr/>
            </p:nvSpPr>
            <p:spPr>
              <a:xfrm>
                <a:off x="3699615" y="3807346"/>
                <a:ext cx="1143001" cy="803260"/>
              </a:xfrm>
              <a:custGeom>
                <a:avLst/>
                <a:gdLst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1130300"/>
                  <a:gd name="connsiteY0" fmla="*/ 0 h 787400"/>
                  <a:gd name="connsiteX1" fmla="*/ 1130300 w 1130300"/>
                  <a:gd name="connsiteY1" fmla="*/ 50800 h 787400"/>
                  <a:gd name="connsiteX2" fmla="*/ 876300 w 1130300"/>
                  <a:gd name="connsiteY2" fmla="*/ 787400 h 787400"/>
                  <a:gd name="connsiteX3" fmla="*/ 0 w 1130300"/>
                  <a:gd name="connsiteY3" fmla="*/ 787400 h 787400"/>
                  <a:gd name="connsiteX4" fmla="*/ 0 w 1130300"/>
                  <a:gd name="connsiteY4" fmla="*/ 0 h 787400"/>
                  <a:gd name="connsiteX0" fmla="*/ 0 w 1136650"/>
                  <a:gd name="connsiteY0" fmla="*/ 0 h 787400"/>
                  <a:gd name="connsiteX1" fmla="*/ 1136650 w 1136650"/>
                  <a:gd name="connsiteY1" fmla="*/ 38100 h 787400"/>
                  <a:gd name="connsiteX2" fmla="*/ 876300 w 1136650"/>
                  <a:gd name="connsiteY2" fmla="*/ 787400 h 787400"/>
                  <a:gd name="connsiteX3" fmla="*/ 0 w 1136650"/>
                  <a:gd name="connsiteY3" fmla="*/ 787400 h 787400"/>
                  <a:gd name="connsiteX4" fmla="*/ 0 w 1136650"/>
                  <a:gd name="connsiteY4" fmla="*/ 0 h 787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36650" h="787400">
                    <a:moveTo>
                      <a:pt x="0" y="0"/>
                    </a:moveTo>
                    <a:lnTo>
                      <a:pt x="1136650" y="38100"/>
                    </a:lnTo>
                    <a:cubicBezTo>
                      <a:pt x="920750" y="376767"/>
                      <a:pt x="876300" y="524933"/>
                      <a:pt x="876300" y="787400"/>
                    </a:cubicBezTo>
                    <a:lnTo>
                      <a:pt x="0" y="7874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2A40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 dirty="0"/>
              </a:p>
            </p:txBody>
          </p:sp>
          <p:sp>
            <p:nvSpPr>
              <p:cNvPr id="27" name="Rectangle 5">
                <a:extLst>
                  <a:ext uri="{FF2B5EF4-FFF2-40B4-BE49-F238E27FC236}">
                    <a16:creationId xmlns:a16="http://schemas.microsoft.com/office/drawing/2014/main" id="{798B1F51-1FA4-4199-81C7-62356C936CC9}"/>
                  </a:ext>
                </a:extLst>
              </p:cNvPr>
              <p:cNvSpPr/>
              <p:nvPr/>
            </p:nvSpPr>
            <p:spPr>
              <a:xfrm flipH="1">
                <a:off x="3426570" y="3807347"/>
                <a:ext cx="1143000" cy="803259"/>
              </a:xfrm>
              <a:custGeom>
                <a:avLst/>
                <a:gdLst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1130300"/>
                  <a:gd name="connsiteY0" fmla="*/ 0 h 787400"/>
                  <a:gd name="connsiteX1" fmla="*/ 1130300 w 1130300"/>
                  <a:gd name="connsiteY1" fmla="*/ 50800 h 787400"/>
                  <a:gd name="connsiteX2" fmla="*/ 876300 w 1130300"/>
                  <a:gd name="connsiteY2" fmla="*/ 787400 h 787400"/>
                  <a:gd name="connsiteX3" fmla="*/ 0 w 1130300"/>
                  <a:gd name="connsiteY3" fmla="*/ 787400 h 787400"/>
                  <a:gd name="connsiteX4" fmla="*/ 0 w 1130300"/>
                  <a:gd name="connsiteY4" fmla="*/ 0 h 787400"/>
                  <a:gd name="connsiteX0" fmla="*/ 0 w 1136650"/>
                  <a:gd name="connsiteY0" fmla="*/ 0 h 787400"/>
                  <a:gd name="connsiteX1" fmla="*/ 1136650 w 1136650"/>
                  <a:gd name="connsiteY1" fmla="*/ 38100 h 787400"/>
                  <a:gd name="connsiteX2" fmla="*/ 876300 w 1136650"/>
                  <a:gd name="connsiteY2" fmla="*/ 787400 h 787400"/>
                  <a:gd name="connsiteX3" fmla="*/ 0 w 1136650"/>
                  <a:gd name="connsiteY3" fmla="*/ 787400 h 787400"/>
                  <a:gd name="connsiteX4" fmla="*/ 0 w 1136650"/>
                  <a:gd name="connsiteY4" fmla="*/ 0 h 787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36650" h="787400">
                    <a:moveTo>
                      <a:pt x="0" y="0"/>
                    </a:moveTo>
                    <a:lnTo>
                      <a:pt x="1136650" y="38100"/>
                    </a:lnTo>
                    <a:cubicBezTo>
                      <a:pt x="920750" y="376767"/>
                      <a:pt x="876300" y="524933"/>
                      <a:pt x="876300" y="787400"/>
                    </a:cubicBezTo>
                    <a:lnTo>
                      <a:pt x="0" y="7874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2A40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 dirty="0"/>
              </a:p>
            </p:txBody>
          </p:sp>
          <p:sp>
            <p:nvSpPr>
              <p:cNvPr id="28" name="Arc 27">
                <a:extLst>
                  <a:ext uri="{FF2B5EF4-FFF2-40B4-BE49-F238E27FC236}">
                    <a16:creationId xmlns:a16="http://schemas.microsoft.com/office/drawing/2014/main" id="{40A224C8-1233-40F7-96AB-BFF79AF6CDCB}"/>
                  </a:ext>
                </a:extLst>
              </p:cNvPr>
              <p:cNvSpPr/>
              <p:nvPr/>
            </p:nvSpPr>
            <p:spPr>
              <a:xfrm>
                <a:off x="3454111" y="2482850"/>
                <a:ext cx="1504950" cy="1504950"/>
              </a:xfrm>
              <a:prstGeom prst="arc">
                <a:avLst>
                  <a:gd name="adj1" fmla="val 18068338"/>
                  <a:gd name="adj2" fmla="val 0"/>
                </a:avLst>
              </a:prstGeom>
              <a:ln w="38100" cap="rnd">
                <a:solidFill>
                  <a:schemeClr val="bg2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bg-BG">
                  <a:ln w="57150"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29" name="Arc 28">
                <a:extLst>
                  <a:ext uri="{FF2B5EF4-FFF2-40B4-BE49-F238E27FC236}">
                    <a16:creationId xmlns:a16="http://schemas.microsoft.com/office/drawing/2014/main" id="{B57C7CCC-E218-4321-8C7B-3F0C5753C7A1}"/>
                  </a:ext>
                </a:extLst>
              </p:cNvPr>
              <p:cNvSpPr/>
              <p:nvPr/>
            </p:nvSpPr>
            <p:spPr>
              <a:xfrm>
                <a:off x="3454111" y="2482849"/>
                <a:ext cx="1504950" cy="1504950"/>
              </a:xfrm>
              <a:prstGeom prst="arc">
                <a:avLst>
                  <a:gd name="adj1" fmla="val 17518504"/>
                  <a:gd name="adj2" fmla="val 17709817"/>
                </a:avLst>
              </a:prstGeom>
              <a:ln w="38100" cap="rnd">
                <a:solidFill>
                  <a:schemeClr val="bg2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bg-BG">
                  <a:ln w="57150">
                    <a:solidFill>
                      <a:schemeClr val="tx1"/>
                    </a:solidFill>
                  </a:ln>
                </a:endParaRPr>
              </a:p>
            </p:txBody>
          </p:sp>
        </p:grp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6AF309CA-A56C-4ABC-B293-420F4EB1A9B4}"/>
                </a:ext>
              </a:extLst>
            </p:cNvPr>
            <p:cNvSpPr/>
            <p:nvPr/>
          </p:nvSpPr>
          <p:spPr>
            <a:xfrm>
              <a:off x="4400007" y="4324162"/>
              <a:ext cx="886369" cy="150698"/>
            </a:xfrm>
            <a:prstGeom prst="roundRect">
              <a:avLst/>
            </a:prstGeom>
            <a:solidFill>
              <a:srgbClr val="F2A40D"/>
            </a:solidFill>
            <a:ln w="38100">
              <a:solidFill>
                <a:srgbClr val="46464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07955808-2AC7-44EB-8B6D-82B974E53A3C}"/>
                </a:ext>
              </a:extLst>
            </p:cNvPr>
            <p:cNvSpPr/>
            <p:nvPr/>
          </p:nvSpPr>
          <p:spPr>
            <a:xfrm>
              <a:off x="4533357" y="4542116"/>
              <a:ext cx="619670" cy="150699"/>
            </a:xfrm>
            <a:prstGeom prst="roundRect">
              <a:avLst/>
            </a:prstGeom>
            <a:solidFill>
              <a:srgbClr val="F2A40D"/>
            </a:solidFill>
            <a:ln w="38100">
              <a:solidFill>
                <a:srgbClr val="464646"/>
              </a:solidFill>
            </a:ln>
            <a:effectLst>
              <a:outerShdw blurRad="152400" dist="381000" dir="5400000" sx="70000" sy="70000" rotWithShape="0">
                <a:prstClr val="black">
                  <a:alpha val="3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AC6420D7-AEAB-45EF-8D46-11EB06E4AFE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472677" y="2844800"/>
              <a:ext cx="161562" cy="1164292"/>
            </a:xfrm>
            <a:prstGeom prst="line">
              <a:avLst/>
            </a:prstGeom>
            <a:solidFill>
              <a:srgbClr val="464646"/>
            </a:solidFill>
            <a:ln w="38100">
              <a:solidFill>
                <a:srgbClr val="46464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76C7FABC-6773-44F6-990B-3EB082BE9B3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78548" y="3618567"/>
              <a:ext cx="528128" cy="0"/>
            </a:xfrm>
            <a:prstGeom prst="line">
              <a:avLst/>
            </a:prstGeom>
            <a:solidFill>
              <a:srgbClr val="464646"/>
            </a:solidFill>
            <a:ln w="38100">
              <a:solidFill>
                <a:srgbClr val="46464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1FAD48E1-DC45-4B3D-9CE5-613250708496}"/>
                </a:ext>
              </a:extLst>
            </p:cNvPr>
            <p:cNvGrpSpPr/>
            <p:nvPr/>
          </p:nvGrpSpPr>
          <p:grpSpPr>
            <a:xfrm>
              <a:off x="4203288" y="2479090"/>
              <a:ext cx="436874" cy="448528"/>
              <a:chOff x="2320288" y="2903541"/>
              <a:chExt cx="332555" cy="302680"/>
            </a:xfrm>
            <a:solidFill>
              <a:srgbClr val="464646"/>
            </a:solidFill>
          </p:grpSpPr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B01FD1D1-046F-457B-AB63-2702CE3E906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321560" y="305488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895660C3-C72C-43EE-9C4A-170F85E5BE0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320288" y="290354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A74EE503-8FC0-42A6-8860-CA4EE42272E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48904" y="2844800"/>
              <a:ext cx="142425" cy="1164292"/>
            </a:xfrm>
            <a:prstGeom prst="line">
              <a:avLst/>
            </a:prstGeom>
            <a:solidFill>
              <a:srgbClr val="464646"/>
            </a:solidFill>
            <a:ln w="38100">
              <a:solidFill>
                <a:srgbClr val="46464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F4189FDA-9FE8-490B-8A70-2E941811021F}"/>
                </a:ext>
              </a:extLst>
            </p:cNvPr>
            <p:cNvSpPr/>
            <p:nvPr/>
          </p:nvSpPr>
          <p:spPr>
            <a:xfrm>
              <a:off x="4355556" y="4106208"/>
              <a:ext cx="975271" cy="150698"/>
            </a:xfrm>
            <a:prstGeom prst="roundRect">
              <a:avLst/>
            </a:prstGeom>
            <a:solidFill>
              <a:srgbClr val="F2A40D"/>
            </a:solidFill>
            <a:ln w="38100">
              <a:solidFill>
                <a:srgbClr val="46464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FDA3EFCD-0DF8-419D-8533-D781521E597E}"/>
                </a:ext>
              </a:extLst>
            </p:cNvPr>
            <p:cNvGrpSpPr/>
            <p:nvPr/>
          </p:nvGrpSpPr>
          <p:grpSpPr>
            <a:xfrm flipH="1">
              <a:off x="5035162" y="2479090"/>
              <a:ext cx="436872" cy="448528"/>
              <a:chOff x="2320288" y="2903541"/>
              <a:chExt cx="332555" cy="302680"/>
            </a:xfrm>
            <a:solidFill>
              <a:srgbClr val="464646"/>
            </a:solidFill>
          </p:grpSpPr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C3CC6A5A-182E-4A09-9C04-EB191881D78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321560" y="305488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440C8953-0555-48CC-8255-78F17E053EE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320288" y="290354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29B538CA-8CCB-43FB-B5E5-5FC04EBC1F54}"/>
              </a:ext>
            </a:extLst>
          </p:cNvPr>
          <p:cNvCxnSpPr>
            <a:cxnSpLocks/>
            <a:stCxn id="26" idx="2"/>
          </p:cNvCxnSpPr>
          <p:nvPr userDrawn="1"/>
        </p:nvCxnSpPr>
        <p:spPr>
          <a:xfrm flipH="1">
            <a:off x="673735" y="4203953"/>
            <a:ext cx="955204" cy="0"/>
          </a:xfrm>
          <a:prstGeom prst="line">
            <a:avLst/>
          </a:prstGeom>
          <a:solidFill>
            <a:srgbClr val="464646"/>
          </a:solidFill>
          <a:ln w="38100">
            <a:solidFill>
              <a:srgbClr val="464646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35453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portant Exa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1865BF6B-7F07-4E9C-879F-80E36EEB34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2" name="Rectangle Left">
            <a:extLst>
              <a:ext uri="{FF2B5EF4-FFF2-40B4-BE49-F238E27FC236}">
                <a16:creationId xmlns:a16="http://schemas.microsoft.com/office/drawing/2014/main" id="{345FB1C8-7F66-4D5C-ACCE-AE919936BCFD}"/>
              </a:ext>
            </a:extLst>
          </p:cNvPr>
          <p:cNvSpPr/>
          <p:nvPr/>
        </p:nvSpPr>
        <p:spPr>
          <a:xfrm>
            <a:off x="0" y="0"/>
            <a:ext cx="115383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5" name="Slide Body Text">
            <a:extLst>
              <a:ext uri="{FF2B5EF4-FFF2-40B4-BE49-F238E27FC236}">
                <a16:creationId xmlns:a16="http://schemas.microsoft.com/office/drawing/2014/main" id="{6157C8DE-E0AF-422B-BBB1-F0AF1264B5E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673561" y="1121143"/>
            <a:ext cx="10321675" cy="5546589"/>
          </a:xfrm>
        </p:spPr>
        <p:txBody>
          <a:bodyPr/>
          <a:lstStyle>
            <a:lvl1pPr latinLnBrk="0">
              <a:defRPr>
                <a:solidFill>
                  <a:schemeClr val="tx1"/>
                </a:solidFill>
              </a:defRPr>
            </a:lvl1pPr>
            <a:lvl2pPr latinLnBrk="0">
              <a:defRPr>
                <a:solidFill>
                  <a:schemeClr val="tx1"/>
                </a:solidFill>
              </a:defRPr>
            </a:lvl2pPr>
            <a:lvl3pPr latinLnBrk="0">
              <a:defRPr>
                <a:solidFill>
                  <a:schemeClr val="tx1"/>
                </a:solidFill>
              </a:defRPr>
            </a:lvl3pPr>
            <a:lvl4pPr latinLnBrk="0">
              <a:defRPr>
                <a:solidFill>
                  <a:schemeClr val="tx1"/>
                </a:solidFill>
              </a:defRPr>
            </a:lvl4pPr>
            <a:lvl5pPr latinLnBrk="0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pic>
        <p:nvPicPr>
          <p:cNvPr id="16" name="Logo Software University" descr="Software University logo">
            <a:extLst>
              <a:ext uri="{FF2B5EF4-FFF2-40B4-BE49-F238E27FC236}">
                <a16:creationId xmlns:a16="http://schemas.microsoft.com/office/drawing/2014/main" id="{EFEBB553-EACE-4B4F-8B4F-7629FDD910A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8761" y="190267"/>
            <a:ext cx="2013336" cy="690975"/>
          </a:xfrm>
          <a:prstGeom prst="rect">
            <a:avLst/>
          </a:prstGeom>
        </p:spPr>
      </p:pic>
      <p:sp>
        <p:nvSpPr>
          <p:cNvPr id="13" name="Slide Title">
            <a:extLst>
              <a:ext uri="{FF2B5EF4-FFF2-40B4-BE49-F238E27FC236}">
                <a16:creationId xmlns:a16="http://schemas.microsoft.com/office/drawing/2014/main" id="{0D5CC956-5C4A-44BE-8F8B-327FAFA51E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96957" y="100750"/>
            <a:ext cx="8625520" cy="882654"/>
          </a:xfrm>
        </p:spPr>
        <p:txBody>
          <a:bodyPr/>
          <a:lstStyle>
            <a:lvl1pPr latinLnBrk="0">
              <a:defRPr/>
            </a:lvl1pPr>
          </a:lstStyle>
          <a:p>
            <a:r>
              <a:rPr lang="en-US" noProof="0" dirty="0"/>
              <a:t>Slide Title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7CF60135-47AA-48F0-96BA-0E795668ABDB}"/>
              </a:ext>
            </a:extLst>
          </p:cNvPr>
          <p:cNvGrpSpPr/>
          <p:nvPr userDrawn="1"/>
        </p:nvGrpSpPr>
        <p:grpSpPr>
          <a:xfrm>
            <a:off x="392806" y="3429000"/>
            <a:ext cx="1522048" cy="2411973"/>
            <a:chOff x="3928039" y="1792355"/>
            <a:chExt cx="1830304" cy="2900460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2823380E-3936-41AF-BDF7-DA54D75BBF6B}"/>
                </a:ext>
              </a:extLst>
            </p:cNvPr>
            <p:cNvGrpSpPr/>
            <p:nvPr/>
          </p:nvGrpSpPr>
          <p:grpSpPr>
            <a:xfrm>
              <a:off x="3928039" y="1792355"/>
              <a:ext cx="1830304" cy="2206534"/>
              <a:chOff x="3216839" y="2404072"/>
              <a:chExt cx="1830304" cy="2206534"/>
            </a:xfrm>
          </p:grpSpPr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52B047D9-D8DD-45C7-9BC8-6D4F682F5182}"/>
                  </a:ext>
                </a:extLst>
              </p:cNvPr>
              <p:cNvSpPr/>
              <p:nvPr/>
            </p:nvSpPr>
            <p:spPr>
              <a:xfrm>
                <a:off x="3216839" y="2404072"/>
                <a:ext cx="1830304" cy="1830304"/>
              </a:xfrm>
              <a:prstGeom prst="ellipse">
                <a:avLst/>
              </a:prstGeom>
              <a:solidFill>
                <a:srgbClr val="F2A40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/>
              </a:p>
            </p:txBody>
          </p:sp>
          <p:sp>
            <p:nvSpPr>
              <p:cNvPr id="48" name="Rectangle 5">
                <a:extLst>
                  <a:ext uri="{FF2B5EF4-FFF2-40B4-BE49-F238E27FC236}">
                    <a16:creationId xmlns:a16="http://schemas.microsoft.com/office/drawing/2014/main" id="{4D84FE51-BD8E-47EA-9463-CE02FEA31766}"/>
                  </a:ext>
                </a:extLst>
              </p:cNvPr>
              <p:cNvSpPr/>
              <p:nvPr/>
            </p:nvSpPr>
            <p:spPr>
              <a:xfrm>
                <a:off x="3699615" y="3807346"/>
                <a:ext cx="1143001" cy="803260"/>
              </a:xfrm>
              <a:custGeom>
                <a:avLst/>
                <a:gdLst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1130300"/>
                  <a:gd name="connsiteY0" fmla="*/ 0 h 787400"/>
                  <a:gd name="connsiteX1" fmla="*/ 1130300 w 1130300"/>
                  <a:gd name="connsiteY1" fmla="*/ 50800 h 787400"/>
                  <a:gd name="connsiteX2" fmla="*/ 876300 w 1130300"/>
                  <a:gd name="connsiteY2" fmla="*/ 787400 h 787400"/>
                  <a:gd name="connsiteX3" fmla="*/ 0 w 1130300"/>
                  <a:gd name="connsiteY3" fmla="*/ 787400 h 787400"/>
                  <a:gd name="connsiteX4" fmla="*/ 0 w 1130300"/>
                  <a:gd name="connsiteY4" fmla="*/ 0 h 787400"/>
                  <a:gd name="connsiteX0" fmla="*/ 0 w 1136650"/>
                  <a:gd name="connsiteY0" fmla="*/ 0 h 787400"/>
                  <a:gd name="connsiteX1" fmla="*/ 1136650 w 1136650"/>
                  <a:gd name="connsiteY1" fmla="*/ 38100 h 787400"/>
                  <a:gd name="connsiteX2" fmla="*/ 876300 w 1136650"/>
                  <a:gd name="connsiteY2" fmla="*/ 787400 h 787400"/>
                  <a:gd name="connsiteX3" fmla="*/ 0 w 1136650"/>
                  <a:gd name="connsiteY3" fmla="*/ 787400 h 787400"/>
                  <a:gd name="connsiteX4" fmla="*/ 0 w 1136650"/>
                  <a:gd name="connsiteY4" fmla="*/ 0 h 787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36650" h="787400">
                    <a:moveTo>
                      <a:pt x="0" y="0"/>
                    </a:moveTo>
                    <a:lnTo>
                      <a:pt x="1136650" y="38100"/>
                    </a:lnTo>
                    <a:cubicBezTo>
                      <a:pt x="920750" y="376767"/>
                      <a:pt x="876300" y="524933"/>
                      <a:pt x="876300" y="787400"/>
                    </a:cubicBezTo>
                    <a:lnTo>
                      <a:pt x="0" y="7874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2A40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 dirty="0"/>
              </a:p>
            </p:txBody>
          </p:sp>
          <p:sp>
            <p:nvSpPr>
              <p:cNvPr id="49" name="Rectangle 5">
                <a:extLst>
                  <a:ext uri="{FF2B5EF4-FFF2-40B4-BE49-F238E27FC236}">
                    <a16:creationId xmlns:a16="http://schemas.microsoft.com/office/drawing/2014/main" id="{F5C8F037-C197-4219-AC87-3A81763512BC}"/>
                  </a:ext>
                </a:extLst>
              </p:cNvPr>
              <p:cNvSpPr/>
              <p:nvPr/>
            </p:nvSpPr>
            <p:spPr>
              <a:xfrm flipH="1">
                <a:off x="3426570" y="3807347"/>
                <a:ext cx="1143000" cy="803259"/>
              </a:xfrm>
              <a:custGeom>
                <a:avLst/>
                <a:gdLst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1130300"/>
                  <a:gd name="connsiteY0" fmla="*/ 0 h 787400"/>
                  <a:gd name="connsiteX1" fmla="*/ 1130300 w 1130300"/>
                  <a:gd name="connsiteY1" fmla="*/ 50800 h 787400"/>
                  <a:gd name="connsiteX2" fmla="*/ 876300 w 1130300"/>
                  <a:gd name="connsiteY2" fmla="*/ 787400 h 787400"/>
                  <a:gd name="connsiteX3" fmla="*/ 0 w 1130300"/>
                  <a:gd name="connsiteY3" fmla="*/ 787400 h 787400"/>
                  <a:gd name="connsiteX4" fmla="*/ 0 w 1130300"/>
                  <a:gd name="connsiteY4" fmla="*/ 0 h 787400"/>
                  <a:gd name="connsiteX0" fmla="*/ 0 w 1136650"/>
                  <a:gd name="connsiteY0" fmla="*/ 0 h 787400"/>
                  <a:gd name="connsiteX1" fmla="*/ 1136650 w 1136650"/>
                  <a:gd name="connsiteY1" fmla="*/ 38100 h 787400"/>
                  <a:gd name="connsiteX2" fmla="*/ 876300 w 1136650"/>
                  <a:gd name="connsiteY2" fmla="*/ 787400 h 787400"/>
                  <a:gd name="connsiteX3" fmla="*/ 0 w 1136650"/>
                  <a:gd name="connsiteY3" fmla="*/ 787400 h 787400"/>
                  <a:gd name="connsiteX4" fmla="*/ 0 w 1136650"/>
                  <a:gd name="connsiteY4" fmla="*/ 0 h 787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36650" h="787400">
                    <a:moveTo>
                      <a:pt x="0" y="0"/>
                    </a:moveTo>
                    <a:lnTo>
                      <a:pt x="1136650" y="38100"/>
                    </a:lnTo>
                    <a:cubicBezTo>
                      <a:pt x="920750" y="376767"/>
                      <a:pt x="876300" y="524933"/>
                      <a:pt x="876300" y="787400"/>
                    </a:cubicBezTo>
                    <a:lnTo>
                      <a:pt x="0" y="7874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2A40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 dirty="0"/>
              </a:p>
            </p:txBody>
          </p:sp>
          <p:sp>
            <p:nvSpPr>
              <p:cNvPr id="50" name="Arc 49">
                <a:extLst>
                  <a:ext uri="{FF2B5EF4-FFF2-40B4-BE49-F238E27FC236}">
                    <a16:creationId xmlns:a16="http://schemas.microsoft.com/office/drawing/2014/main" id="{786EE401-CF8E-439B-94A0-EE6F3A7D5798}"/>
                  </a:ext>
                </a:extLst>
              </p:cNvPr>
              <p:cNvSpPr/>
              <p:nvPr/>
            </p:nvSpPr>
            <p:spPr>
              <a:xfrm>
                <a:off x="3454111" y="2482850"/>
                <a:ext cx="1504950" cy="1504950"/>
              </a:xfrm>
              <a:prstGeom prst="arc">
                <a:avLst>
                  <a:gd name="adj1" fmla="val 18068338"/>
                  <a:gd name="adj2" fmla="val 0"/>
                </a:avLst>
              </a:prstGeom>
              <a:ln w="38100" cap="rnd">
                <a:solidFill>
                  <a:schemeClr val="bg2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bg-BG">
                  <a:ln w="57150"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51" name="Arc 50">
                <a:extLst>
                  <a:ext uri="{FF2B5EF4-FFF2-40B4-BE49-F238E27FC236}">
                    <a16:creationId xmlns:a16="http://schemas.microsoft.com/office/drawing/2014/main" id="{8D9ACD38-B3EB-4A63-9730-CBF0501BF235}"/>
                  </a:ext>
                </a:extLst>
              </p:cNvPr>
              <p:cNvSpPr/>
              <p:nvPr/>
            </p:nvSpPr>
            <p:spPr>
              <a:xfrm>
                <a:off x="3454111" y="2482849"/>
                <a:ext cx="1504950" cy="1504950"/>
              </a:xfrm>
              <a:prstGeom prst="arc">
                <a:avLst>
                  <a:gd name="adj1" fmla="val 17518504"/>
                  <a:gd name="adj2" fmla="val 17709817"/>
                </a:avLst>
              </a:prstGeom>
              <a:ln w="38100" cap="rnd">
                <a:solidFill>
                  <a:schemeClr val="bg2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bg-BG">
                  <a:ln w="57150">
                    <a:solidFill>
                      <a:schemeClr val="tx1"/>
                    </a:solidFill>
                  </a:ln>
                </a:endParaRPr>
              </a:p>
            </p:txBody>
          </p:sp>
        </p:grpSp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64EE493E-A353-4C75-A3B9-D48ABA2C57CC}"/>
                </a:ext>
              </a:extLst>
            </p:cNvPr>
            <p:cNvSpPr/>
            <p:nvPr/>
          </p:nvSpPr>
          <p:spPr>
            <a:xfrm>
              <a:off x="4400007" y="4324162"/>
              <a:ext cx="886369" cy="150698"/>
            </a:xfrm>
            <a:prstGeom prst="roundRect">
              <a:avLst/>
            </a:prstGeom>
            <a:solidFill>
              <a:srgbClr val="F2A40D"/>
            </a:solidFill>
            <a:ln w="38100">
              <a:solidFill>
                <a:srgbClr val="46464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36" name="Rectangle: Rounded Corners 35">
              <a:extLst>
                <a:ext uri="{FF2B5EF4-FFF2-40B4-BE49-F238E27FC236}">
                  <a16:creationId xmlns:a16="http://schemas.microsoft.com/office/drawing/2014/main" id="{718408B9-204E-42E3-9E79-33E047E869BC}"/>
                </a:ext>
              </a:extLst>
            </p:cNvPr>
            <p:cNvSpPr/>
            <p:nvPr/>
          </p:nvSpPr>
          <p:spPr>
            <a:xfrm>
              <a:off x="4533357" y="4542116"/>
              <a:ext cx="619670" cy="150699"/>
            </a:xfrm>
            <a:prstGeom prst="roundRect">
              <a:avLst/>
            </a:prstGeom>
            <a:solidFill>
              <a:srgbClr val="F2A40D"/>
            </a:solidFill>
            <a:ln w="38100">
              <a:solidFill>
                <a:srgbClr val="464646"/>
              </a:solidFill>
            </a:ln>
            <a:effectLst>
              <a:outerShdw blurRad="152400" dist="381000" dir="5400000" sx="70000" sy="70000" rotWithShape="0">
                <a:prstClr val="black">
                  <a:alpha val="3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0AB66D97-DF6F-4CD2-AF13-42B5C852F67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472677" y="2844800"/>
              <a:ext cx="161562" cy="1164292"/>
            </a:xfrm>
            <a:prstGeom prst="line">
              <a:avLst/>
            </a:prstGeom>
            <a:solidFill>
              <a:srgbClr val="464646"/>
            </a:solidFill>
            <a:ln w="38100">
              <a:solidFill>
                <a:srgbClr val="46464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F2AFBA69-C196-4703-8AAB-5F72A8EDCEB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78548" y="3618567"/>
              <a:ext cx="528128" cy="0"/>
            </a:xfrm>
            <a:prstGeom prst="line">
              <a:avLst/>
            </a:prstGeom>
            <a:solidFill>
              <a:srgbClr val="464646"/>
            </a:solidFill>
            <a:ln w="38100">
              <a:solidFill>
                <a:srgbClr val="46464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9AFC66C1-0C1C-4332-9C4E-782574C896B8}"/>
                </a:ext>
              </a:extLst>
            </p:cNvPr>
            <p:cNvGrpSpPr/>
            <p:nvPr/>
          </p:nvGrpSpPr>
          <p:grpSpPr>
            <a:xfrm>
              <a:off x="4203288" y="2479090"/>
              <a:ext cx="436874" cy="448528"/>
              <a:chOff x="2320288" y="2903541"/>
              <a:chExt cx="332555" cy="302680"/>
            </a:xfrm>
            <a:solidFill>
              <a:srgbClr val="464646"/>
            </a:solidFill>
          </p:grpSpPr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872CA8AD-EAF6-40BE-9DDE-ECDB4A980CA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321560" y="305488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>
                <a:extLst>
                  <a:ext uri="{FF2B5EF4-FFF2-40B4-BE49-F238E27FC236}">
                    <a16:creationId xmlns:a16="http://schemas.microsoft.com/office/drawing/2014/main" id="{57DD3EC7-1A13-4AFE-BD6F-DA12C281FAF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320288" y="290354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E46151FA-19E9-4E84-A082-EDAC6F76EA9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48904" y="2844800"/>
              <a:ext cx="142425" cy="1164292"/>
            </a:xfrm>
            <a:prstGeom prst="line">
              <a:avLst/>
            </a:prstGeom>
            <a:solidFill>
              <a:srgbClr val="464646"/>
            </a:solidFill>
            <a:ln w="38100">
              <a:solidFill>
                <a:srgbClr val="46464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1" name="Rectangle: Rounded Corners 40">
              <a:extLst>
                <a:ext uri="{FF2B5EF4-FFF2-40B4-BE49-F238E27FC236}">
                  <a16:creationId xmlns:a16="http://schemas.microsoft.com/office/drawing/2014/main" id="{3423EEF0-5B70-4091-B2DA-0740D2609643}"/>
                </a:ext>
              </a:extLst>
            </p:cNvPr>
            <p:cNvSpPr/>
            <p:nvPr/>
          </p:nvSpPr>
          <p:spPr>
            <a:xfrm>
              <a:off x="4355556" y="4106208"/>
              <a:ext cx="975271" cy="150698"/>
            </a:xfrm>
            <a:prstGeom prst="roundRect">
              <a:avLst/>
            </a:prstGeom>
            <a:solidFill>
              <a:srgbClr val="F2A40D"/>
            </a:solidFill>
            <a:ln w="38100">
              <a:solidFill>
                <a:srgbClr val="46464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49A8AAA7-98E7-4224-B027-830FFCC285A3}"/>
                </a:ext>
              </a:extLst>
            </p:cNvPr>
            <p:cNvGrpSpPr/>
            <p:nvPr/>
          </p:nvGrpSpPr>
          <p:grpSpPr>
            <a:xfrm flipH="1">
              <a:off x="5035162" y="2479090"/>
              <a:ext cx="436872" cy="448528"/>
              <a:chOff x="2320288" y="2903541"/>
              <a:chExt cx="332555" cy="302680"/>
            </a:xfrm>
            <a:solidFill>
              <a:srgbClr val="464646"/>
            </a:solidFill>
          </p:grpSpPr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2129EC38-471E-4685-973E-BA7A7F567C4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321560" y="305488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678142BE-84C9-4834-B6CC-6623E401661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320288" y="290354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16796517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">
            <a:extLst>
              <a:ext uri="{FF2B5EF4-FFF2-40B4-BE49-F238E27FC236}">
                <a16:creationId xmlns:a16="http://schemas.microsoft.com/office/drawing/2014/main" id="{F0B8C963-1813-4B69-AD27-6D02EBBBB5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3" name="Rectangle Left">
            <a:extLst>
              <a:ext uri="{FF2B5EF4-FFF2-40B4-BE49-F238E27FC236}">
                <a16:creationId xmlns:a16="http://schemas.microsoft.com/office/drawing/2014/main" id="{345FB1C8-7F66-4D5C-ACCE-AE919936BCFD}"/>
              </a:ext>
            </a:extLst>
          </p:cNvPr>
          <p:cNvSpPr/>
          <p:nvPr userDrawn="1"/>
        </p:nvSpPr>
        <p:spPr>
          <a:xfrm>
            <a:off x="0" y="0"/>
            <a:ext cx="429471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" name="Slide Body Text">
            <a:extLst>
              <a:ext uri="{FF2B5EF4-FFF2-40B4-BE49-F238E27FC236}">
                <a16:creationId xmlns:a16="http://schemas.microsoft.com/office/drawing/2014/main" id="{7296EDA7-D37D-4B31-A888-371F0804124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5176" y="1121143"/>
            <a:ext cx="11410061" cy="5546589"/>
          </a:xfrm>
        </p:spPr>
        <p:txBody>
          <a:bodyPr/>
          <a:lstStyle>
            <a:lvl1pPr latinLnBrk="0">
              <a:defRPr>
                <a:solidFill>
                  <a:schemeClr val="tx1"/>
                </a:solidFill>
              </a:defRPr>
            </a:lvl1pPr>
            <a:lvl2pPr latinLnBrk="0">
              <a:defRPr>
                <a:solidFill>
                  <a:schemeClr val="tx1"/>
                </a:solidFill>
              </a:defRPr>
            </a:lvl2pPr>
            <a:lvl3pPr latinLnBrk="0">
              <a:defRPr>
                <a:solidFill>
                  <a:schemeClr val="tx1"/>
                </a:solidFill>
              </a:defRPr>
            </a:lvl3pPr>
            <a:lvl4pPr latinLnBrk="0">
              <a:defRPr>
                <a:solidFill>
                  <a:schemeClr val="tx1"/>
                </a:solidFill>
              </a:defRPr>
            </a:lvl4pPr>
            <a:lvl5pPr latinLnBrk="0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6" name="Slide Title">
            <a:extLst>
              <a:ext uri="{FF2B5EF4-FFF2-40B4-BE49-F238E27FC236}">
                <a16:creationId xmlns:a16="http://schemas.microsoft.com/office/drawing/2014/main" id="{55A88B09-3557-48A3-BF27-42699C2692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176" y="100750"/>
            <a:ext cx="11410061" cy="882654"/>
          </a:xfrm>
        </p:spPr>
        <p:txBody>
          <a:bodyPr/>
          <a:lstStyle>
            <a:lvl1pPr latinLnBrk="0">
              <a:defRPr/>
            </a:lvl1pPr>
          </a:lstStyle>
          <a:p>
            <a:r>
              <a:rPr lang="en-US" noProof="0" dirty="0"/>
              <a:t>Slide Title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C4248838-4E67-439E-AE0A-0043D2CB04D6}"/>
              </a:ext>
            </a:extLst>
          </p:cNvPr>
          <p:cNvGrpSpPr/>
          <p:nvPr userDrawn="1"/>
        </p:nvGrpSpPr>
        <p:grpSpPr>
          <a:xfrm>
            <a:off x="108596" y="5591709"/>
            <a:ext cx="641749" cy="1016973"/>
            <a:chOff x="3928039" y="1792355"/>
            <a:chExt cx="1830304" cy="2900460"/>
          </a:xfrm>
        </p:grpSpPr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810CFD6A-2427-49D5-846A-5F93601D4184}"/>
                </a:ext>
              </a:extLst>
            </p:cNvPr>
            <p:cNvGrpSpPr/>
            <p:nvPr/>
          </p:nvGrpSpPr>
          <p:grpSpPr>
            <a:xfrm>
              <a:off x="3928039" y="1792355"/>
              <a:ext cx="1830304" cy="2206534"/>
              <a:chOff x="3216839" y="2404072"/>
              <a:chExt cx="1830304" cy="2206534"/>
            </a:xfrm>
          </p:grpSpPr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017B1AE5-5C36-4839-BA1F-B404EA44E701}"/>
                  </a:ext>
                </a:extLst>
              </p:cNvPr>
              <p:cNvSpPr/>
              <p:nvPr/>
            </p:nvSpPr>
            <p:spPr>
              <a:xfrm>
                <a:off x="3216839" y="2404072"/>
                <a:ext cx="1830304" cy="1830304"/>
              </a:xfrm>
              <a:prstGeom prst="ellipse">
                <a:avLst/>
              </a:prstGeom>
              <a:solidFill>
                <a:srgbClr val="F2A40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/>
              </a:p>
            </p:txBody>
          </p:sp>
          <p:sp>
            <p:nvSpPr>
              <p:cNvPr id="43" name="Rectangle 5">
                <a:extLst>
                  <a:ext uri="{FF2B5EF4-FFF2-40B4-BE49-F238E27FC236}">
                    <a16:creationId xmlns:a16="http://schemas.microsoft.com/office/drawing/2014/main" id="{FB963D79-BB49-4A1D-BA66-EA0670C79BAE}"/>
                  </a:ext>
                </a:extLst>
              </p:cNvPr>
              <p:cNvSpPr/>
              <p:nvPr/>
            </p:nvSpPr>
            <p:spPr>
              <a:xfrm>
                <a:off x="3699615" y="3807346"/>
                <a:ext cx="1143001" cy="803260"/>
              </a:xfrm>
              <a:custGeom>
                <a:avLst/>
                <a:gdLst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1130300"/>
                  <a:gd name="connsiteY0" fmla="*/ 0 h 787400"/>
                  <a:gd name="connsiteX1" fmla="*/ 1130300 w 1130300"/>
                  <a:gd name="connsiteY1" fmla="*/ 50800 h 787400"/>
                  <a:gd name="connsiteX2" fmla="*/ 876300 w 1130300"/>
                  <a:gd name="connsiteY2" fmla="*/ 787400 h 787400"/>
                  <a:gd name="connsiteX3" fmla="*/ 0 w 1130300"/>
                  <a:gd name="connsiteY3" fmla="*/ 787400 h 787400"/>
                  <a:gd name="connsiteX4" fmla="*/ 0 w 1130300"/>
                  <a:gd name="connsiteY4" fmla="*/ 0 h 787400"/>
                  <a:gd name="connsiteX0" fmla="*/ 0 w 1136650"/>
                  <a:gd name="connsiteY0" fmla="*/ 0 h 787400"/>
                  <a:gd name="connsiteX1" fmla="*/ 1136650 w 1136650"/>
                  <a:gd name="connsiteY1" fmla="*/ 38100 h 787400"/>
                  <a:gd name="connsiteX2" fmla="*/ 876300 w 1136650"/>
                  <a:gd name="connsiteY2" fmla="*/ 787400 h 787400"/>
                  <a:gd name="connsiteX3" fmla="*/ 0 w 1136650"/>
                  <a:gd name="connsiteY3" fmla="*/ 787400 h 787400"/>
                  <a:gd name="connsiteX4" fmla="*/ 0 w 1136650"/>
                  <a:gd name="connsiteY4" fmla="*/ 0 h 787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36650" h="787400">
                    <a:moveTo>
                      <a:pt x="0" y="0"/>
                    </a:moveTo>
                    <a:lnTo>
                      <a:pt x="1136650" y="38100"/>
                    </a:lnTo>
                    <a:cubicBezTo>
                      <a:pt x="920750" y="376767"/>
                      <a:pt x="876300" y="524933"/>
                      <a:pt x="876300" y="787400"/>
                    </a:cubicBezTo>
                    <a:lnTo>
                      <a:pt x="0" y="7874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2A40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 dirty="0"/>
              </a:p>
            </p:txBody>
          </p:sp>
          <p:sp>
            <p:nvSpPr>
              <p:cNvPr id="44" name="Rectangle 5">
                <a:extLst>
                  <a:ext uri="{FF2B5EF4-FFF2-40B4-BE49-F238E27FC236}">
                    <a16:creationId xmlns:a16="http://schemas.microsoft.com/office/drawing/2014/main" id="{6D7746D8-B913-493B-AAE9-25BC6893D40E}"/>
                  </a:ext>
                </a:extLst>
              </p:cNvPr>
              <p:cNvSpPr/>
              <p:nvPr/>
            </p:nvSpPr>
            <p:spPr>
              <a:xfrm flipH="1">
                <a:off x="3426570" y="3807347"/>
                <a:ext cx="1143000" cy="803259"/>
              </a:xfrm>
              <a:custGeom>
                <a:avLst/>
                <a:gdLst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1130300"/>
                  <a:gd name="connsiteY0" fmla="*/ 0 h 787400"/>
                  <a:gd name="connsiteX1" fmla="*/ 1130300 w 1130300"/>
                  <a:gd name="connsiteY1" fmla="*/ 50800 h 787400"/>
                  <a:gd name="connsiteX2" fmla="*/ 876300 w 1130300"/>
                  <a:gd name="connsiteY2" fmla="*/ 787400 h 787400"/>
                  <a:gd name="connsiteX3" fmla="*/ 0 w 1130300"/>
                  <a:gd name="connsiteY3" fmla="*/ 787400 h 787400"/>
                  <a:gd name="connsiteX4" fmla="*/ 0 w 1130300"/>
                  <a:gd name="connsiteY4" fmla="*/ 0 h 787400"/>
                  <a:gd name="connsiteX0" fmla="*/ 0 w 1136650"/>
                  <a:gd name="connsiteY0" fmla="*/ 0 h 787400"/>
                  <a:gd name="connsiteX1" fmla="*/ 1136650 w 1136650"/>
                  <a:gd name="connsiteY1" fmla="*/ 38100 h 787400"/>
                  <a:gd name="connsiteX2" fmla="*/ 876300 w 1136650"/>
                  <a:gd name="connsiteY2" fmla="*/ 787400 h 787400"/>
                  <a:gd name="connsiteX3" fmla="*/ 0 w 1136650"/>
                  <a:gd name="connsiteY3" fmla="*/ 787400 h 787400"/>
                  <a:gd name="connsiteX4" fmla="*/ 0 w 1136650"/>
                  <a:gd name="connsiteY4" fmla="*/ 0 h 787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36650" h="787400">
                    <a:moveTo>
                      <a:pt x="0" y="0"/>
                    </a:moveTo>
                    <a:lnTo>
                      <a:pt x="1136650" y="38100"/>
                    </a:lnTo>
                    <a:cubicBezTo>
                      <a:pt x="920750" y="376767"/>
                      <a:pt x="876300" y="524933"/>
                      <a:pt x="876300" y="787400"/>
                    </a:cubicBezTo>
                    <a:lnTo>
                      <a:pt x="0" y="7874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2A40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 dirty="0"/>
              </a:p>
            </p:txBody>
          </p:sp>
          <p:sp>
            <p:nvSpPr>
              <p:cNvPr id="45" name="Arc 44">
                <a:extLst>
                  <a:ext uri="{FF2B5EF4-FFF2-40B4-BE49-F238E27FC236}">
                    <a16:creationId xmlns:a16="http://schemas.microsoft.com/office/drawing/2014/main" id="{29031C02-E965-417B-8799-96061B14F30D}"/>
                  </a:ext>
                </a:extLst>
              </p:cNvPr>
              <p:cNvSpPr/>
              <p:nvPr/>
            </p:nvSpPr>
            <p:spPr>
              <a:xfrm>
                <a:off x="3454111" y="2482850"/>
                <a:ext cx="1504950" cy="1504950"/>
              </a:xfrm>
              <a:prstGeom prst="arc">
                <a:avLst>
                  <a:gd name="adj1" fmla="val 18068338"/>
                  <a:gd name="adj2" fmla="val 0"/>
                </a:avLst>
              </a:prstGeom>
              <a:ln w="38100" cap="rnd">
                <a:solidFill>
                  <a:schemeClr val="bg2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bg-BG">
                  <a:ln w="57150"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46" name="Arc 45">
                <a:extLst>
                  <a:ext uri="{FF2B5EF4-FFF2-40B4-BE49-F238E27FC236}">
                    <a16:creationId xmlns:a16="http://schemas.microsoft.com/office/drawing/2014/main" id="{26BFD8A6-BC99-4B16-BA10-08A9E5C681C0}"/>
                  </a:ext>
                </a:extLst>
              </p:cNvPr>
              <p:cNvSpPr/>
              <p:nvPr/>
            </p:nvSpPr>
            <p:spPr>
              <a:xfrm>
                <a:off x="3454111" y="2482849"/>
                <a:ext cx="1504950" cy="1504950"/>
              </a:xfrm>
              <a:prstGeom prst="arc">
                <a:avLst>
                  <a:gd name="adj1" fmla="val 17518504"/>
                  <a:gd name="adj2" fmla="val 17709817"/>
                </a:avLst>
              </a:prstGeom>
              <a:ln w="38100" cap="rnd">
                <a:solidFill>
                  <a:schemeClr val="bg2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bg-BG">
                  <a:ln w="57150">
                    <a:solidFill>
                      <a:schemeClr val="tx1"/>
                    </a:solidFill>
                  </a:ln>
                </a:endParaRPr>
              </a:p>
            </p:txBody>
          </p:sp>
        </p:grpSp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B310277F-A78E-4FB9-9EA9-88BE4F1D585B}"/>
                </a:ext>
              </a:extLst>
            </p:cNvPr>
            <p:cNvSpPr/>
            <p:nvPr/>
          </p:nvSpPr>
          <p:spPr>
            <a:xfrm>
              <a:off x="4400007" y="4324162"/>
              <a:ext cx="886369" cy="150698"/>
            </a:xfrm>
            <a:prstGeom prst="roundRect">
              <a:avLst/>
            </a:prstGeom>
            <a:solidFill>
              <a:srgbClr val="F2A40D"/>
            </a:solidFill>
            <a:ln w="38100">
              <a:solidFill>
                <a:srgbClr val="46464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A92CF92B-C212-4542-83AE-A0058B5BB5EA}"/>
                </a:ext>
              </a:extLst>
            </p:cNvPr>
            <p:cNvSpPr/>
            <p:nvPr/>
          </p:nvSpPr>
          <p:spPr>
            <a:xfrm>
              <a:off x="4533357" y="4542116"/>
              <a:ext cx="619670" cy="150699"/>
            </a:xfrm>
            <a:prstGeom prst="roundRect">
              <a:avLst/>
            </a:prstGeom>
            <a:solidFill>
              <a:srgbClr val="F2A40D"/>
            </a:solidFill>
            <a:ln w="38100">
              <a:solidFill>
                <a:srgbClr val="464646"/>
              </a:solidFill>
            </a:ln>
            <a:effectLst>
              <a:outerShdw blurRad="152400" dist="381000" dir="5400000" sx="70000" sy="70000" rotWithShape="0">
                <a:prstClr val="black">
                  <a:alpha val="3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563B4374-5C0D-461F-B3BD-78D99614D36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472677" y="2844800"/>
              <a:ext cx="161562" cy="1164292"/>
            </a:xfrm>
            <a:prstGeom prst="line">
              <a:avLst/>
            </a:prstGeom>
            <a:solidFill>
              <a:srgbClr val="464646"/>
            </a:solidFill>
            <a:ln w="38100">
              <a:solidFill>
                <a:srgbClr val="46464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FBC6FDE7-AEA1-4230-8433-4C088A0FF5F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78548" y="3618567"/>
              <a:ext cx="528128" cy="0"/>
            </a:xfrm>
            <a:prstGeom prst="line">
              <a:avLst/>
            </a:prstGeom>
            <a:solidFill>
              <a:srgbClr val="464646"/>
            </a:solidFill>
            <a:ln w="38100">
              <a:solidFill>
                <a:srgbClr val="46464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C4D1021D-07C7-4331-8FF6-36980A30978B}"/>
                </a:ext>
              </a:extLst>
            </p:cNvPr>
            <p:cNvGrpSpPr/>
            <p:nvPr/>
          </p:nvGrpSpPr>
          <p:grpSpPr>
            <a:xfrm>
              <a:off x="4203288" y="2479090"/>
              <a:ext cx="436874" cy="448528"/>
              <a:chOff x="2320288" y="2903541"/>
              <a:chExt cx="332555" cy="302680"/>
            </a:xfrm>
            <a:solidFill>
              <a:srgbClr val="464646"/>
            </a:solidFill>
          </p:grpSpPr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13B7FE99-95CF-45D5-966B-87A979B9343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321560" y="305488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71BBA69B-19FF-4ADB-A739-AD8136A5F0A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320288" y="290354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BFD1D86B-562B-40B2-8E46-34233EFEE7F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48904" y="2844800"/>
              <a:ext cx="142425" cy="1164292"/>
            </a:xfrm>
            <a:prstGeom prst="line">
              <a:avLst/>
            </a:prstGeom>
            <a:solidFill>
              <a:srgbClr val="464646"/>
            </a:solidFill>
            <a:ln w="38100">
              <a:solidFill>
                <a:srgbClr val="46464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6" name="Rectangle: Rounded Corners 35">
              <a:extLst>
                <a:ext uri="{FF2B5EF4-FFF2-40B4-BE49-F238E27FC236}">
                  <a16:creationId xmlns:a16="http://schemas.microsoft.com/office/drawing/2014/main" id="{388C17BD-16A1-43C5-BFFA-2FF9174719E1}"/>
                </a:ext>
              </a:extLst>
            </p:cNvPr>
            <p:cNvSpPr/>
            <p:nvPr/>
          </p:nvSpPr>
          <p:spPr>
            <a:xfrm>
              <a:off x="4355556" y="4106208"/>
              <a:ext cx="975271" cy="150698"/>
            </a:xfrm>
            <a:prstGeom prst="roundRect">
              <a:avLst/>
            </a:prstGeom>
            <a:solidFill>
              <a:srgbClr val="F2A40D"/>
            </a:solidFill>
            <a:ln w="38100">
              <a:solidFill>
                <a:srgbClr val="46464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1B3B910E-ACFC-4F28-8E28-F02E1588B87E}"/>
                </a:ext>
              </a:extLst>
            </p:cNvPr>
            <p:cNvGrpSpPr/>
            <p:nvPr/>
          </p:nvGrpSpPr>
          <p:grpSpPr>
            <a:xfrm flipH="1">
              <a:off x="5035162" y="2479090"/>
              <a:ext cx="436872" cy="448528"/>
              <a:chOff x="2320288" y="2903541"/>
              <a:chExt cx="332555" cy="302680"/>
            </a:xfrm>
            <a:solidFill>
              <a:srgbClr val="464646"/>
            </a:solidFill>
          </p:grpSpPr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F57772B6-06C0-4F54-AA94-D3F92DA4716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321560" y="305488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23370C1F-7876-4278-AB20-78F6CAA385E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320288" y="290354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32845625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urce Code Exa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">
            <a:extLst>
              <a:ext uri="{FF2B5EF4-FFF2-40B4-BE49-F238E27FC236}">
                <a16:creationId xmlns:a16="http://schemas.microsoft.com/office/drawing/2014/main" id="{509D954E-A844-4072-A556-DE584BEB93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6" name="Code Box">
            <a:extLst>
              <a:ext uri="{FF2B5EF4-FFF2-40B4-BE49-F238E27FC236}">
                <a16:creationId xmlns:a16="http://schemas.microsoft.com/office/drawing/2014/main" id="{3278A82F-5546-4977-9F75-2A933B41594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1234" y="1931154"/>
            <a:ext cx="10949531" cy="1362846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 w="12700">
            <a:solidFill>
              <a:schemeClr val="tx1">
                <a:lumMod val="50000"/>
              </a:schemeClr>
            </a:solidFill>
          </a:ln>
        </p:spPr>
        <p:txBody>
          <a:bodyPr wrap="square" lIns="144000" tIns="108000" rIns="144000" bIns="108000">
            <a:spAutoFit/>
          </a:bodyPr>
          <a:lstStyle>
            <a:lvl1pPr marL="0" indent="0" latinLnBrk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lang="en-US" sz="2398" b="1" noProof="1" smtClean="0">
                <a:solidFill>
                  <a:schemeClr val="tx1"/>
                </a:solidFill>
                <a:effectLst/>
                <a:latin typeface="Consolas" pitchFamily="49" charset="0"/>
                <a:cs typeface="Consolas" pitchFamily="49" charset="0"/>
              </a:defRPr>
            </a:lvl1pPr>
          </a:lstStyle>
          <a:p>
            <a:pPr marL="0" lvl="0"/>
            <a:r>
              <a:rPr lang="en-US" noProof="1"/>
              <a:t>Source code box</a:t>
            </a:r>
          </a:p>
          <a:p>
            <a:pPr marL="0" lvl="0"/>
            <a:r>
              <a:rPr lang="en-US" noProof="1"/>
              <a:t>…</a:t>
            </a:r>
          </a:p>
          <a:p>
            <a:pPr marL="0" lvl="0"/>
            <a:r>
              <a:rPr lang="en-US" noProof="1"/>
              <a:t>…</a:t>
            </a:r>
          </a:p>
        </p:txBody>
      </p:sp>
      <p:sp>
        <p:nvSpPr>
          <p:cNvPr id="21" name="Slide Body Text">
            <a:extLst>
              <a:ext uri="{FF2B5EF4-FFF2-40B4-BE49-F238E27FC236}">
                <a16:creationId xmlns:a16="http://schemas.microsoft.com/office/drawing/2014/main" id="{04F318BE-2BAD-4677-871C-D78A4BF0CBA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0501" y="1196126"/>
            <a:ext cx="11811097" cy="5561124"/>
          </a:xfrm>
        </p:spPr>
        <p:txBody>
          <a:bodyPr/>
          <a:lstStyle>
            <a:lvl1pPr marL="0" indent="0" latinLnBrk="0">
              <a:buNone/>
              <a:defRPr>
                <a:solidFill>
                  <a:schemeClr val="tx1"/>
                </a:solidFill>
              </a:defRPr>
            </a:lvl1pPr>
            <a:lvl2pPr marL="609219" indent="0">
              <a:buNone/>
              <a:defRPr/>
            </a:lvl2pPr>
          </a:lstStyle>
          <a:p>
            <a:pPr lvl="0"/>
            <a:r>
              <a:rPr lang="en-US" noProof="0"/>
              <a:t>Sample source code:</a:t>
            </a:r>
          </a:p>
        </p:txBody>
      </p:sp>
      <p:sp>
        <p:nvSpPr>
          <p:cNvPr id="9" name="Rectangle Top">
            <a:extLst>
              <a:ext uri="{FF2B5EF4-FFF2-40B4-BE49-F238E27FC236}">
                <a16:creationId xmlns:a16="http://schemas.microsoft.com/office/drawing/2014/main" id="{A15CE03A-0933-4E5D-9EA1-718D4F802FFC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10" name="Logo Software University" descr="Software University logo">
            <a:extLst>
              <a:ext uri="{FF2B5EF4-FFF2-40B4-BE49-F238E27FC236}">
                <a16:creationId xmlns:a16="http://schemas.microsoft.com/office/drawing/2014/main" id="{8C01D7AF-7CBD-46E1-99F3-8EB60E838D9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7957" y="253936"/>
            <a:ext cx="1915704" cy="559235"/>
          </a:xfrm>
          <a:prstGeom prst="rect">
            <a:avLst/>
          </a:prstGeom>
        </p:spPr>
      </p:pic>
      <p:sp>
        <p:nvSpPr>
          <p:cNvPr id="11" name="Slide Title">
            <a:extLst>
              <a:ext uri="{FF2B5EF4-FFF2-40B4-BE49-F238E27FC236}">
                <a16:creationId xmlns:a16="http://schemas.microsoft.com/office/drawing/2014/main" id="{47D60833-F0A9-4F29-8C06-A963A7C8BE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6" y="100750"/>
            <a:ext cx="9715594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10008298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">
            <a:extLst>
              <a:ext uri="{FF2B5EF4-FFF2-40B4-BE49-F238E27FC236}">
                <a16:creationId xmlns:a16="http://schemas.microsoft.com/office/drawing/2014/main" id="{39DDE17E-5472-41F3-AF5F-54DFF10DC6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/>
          </a:p>
        </p:txBody>
      </p:sp>
      <p:pic>
        <p:nvPicPr>
          <p:cNvPr id="9" name="Picture SoftUni Mascot" descr="SoftUni mascot with laptop">
            <a:extLst>
              <a:ext uri="{FF2B5EF4-FFF2-40B4-BE49-F238E27FC236}">
                <a16:creationId xmlns:a16="http://schemas.microsoft.com/office/drawing/2014/main" id="{DC4365F6-D2C1-47B4-8477-38FD2C7711A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9516000" y="3408496"/>
            <a:ext cx="2251057" cy="3044431"/>
          </a:xfrm>
          <a:prstGeom prst="rect">
            <a:avLst/>
          </a:prstGeom>
        </p:spPr>
      </p:pic>
      <p:sp>
        <p:nvSpPr>
          <p:cNvPr id="23" name="Slide Body Text">
            <a:extLst>
              <a:ext uri="{FF2B5EF4-FFF2-40B4-BE49-F238E27FC236}">
                <a16:creationId xmlns:a16="http://schemas.microsoft.com/office/drawing/2014/main" id="{889D93F4-ABFA-46BF-8E5D-FE6562ACB20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96766" y="1371604"/>
            <a:ext cx="9049234" cy="5207396"/>
          </a:xfrm>
        </p:spPr>
        <p:txBody>
          <a:bodyPr>
            <a:normAutofit/>
          </a:bodyPr>
          <a:lstStyle>
            <a:lvl1pPr marL="514042" indent="-514042" latinLnBrk="0">
              <a:buFont typeface="+mj-lt"/>
              <a:buAutoNum type="arabicPeriod"/>
              <a:defRPr sz="3600">
                <a:solidFill>
                  <a:schemeClr val="tx1"/>
                </a:solidFill>
              </a:defRPr>
            </a:lvl1pPr>
            <a:lvl2pPr>
              <a:defRPr sz="3400"/>
            </a:lvl2pPr>
          </a:lstStyle>
          <a:p>
            <a:pPr lvl="0"/>
            <a:r>
              <a:rPr lang="en-US" noProof="0"/>
              <a:t>…</a:t>
            </a:r>
          </a:p>
          <a:p>
            <a:pPr lvl="1"/>
            <a:r>
              <a:rPr lang="en-US" noProof="0"/>
              <a:t>…</a:t>
            </a:r>
          </a:p>
          <a:p>
            <a:pPr lvl="1"/>
            <a:r>
              <a:rPr lang="en-US" noProof="0"/>
              <a:t>…</a:t>
            </a:r>
          </a:p>
          <a:p>
            <a:pPr lvl="0"/>
            <a:r>
              <a:rPr lang="en-US" noProof="0"/>
              <a:t>…</a:t>
            </a:r>
          </a:p>
          <a:p>
            <a:pPr lvl="1"/>
            <a:r>
              <a:rPr lang="en-US" noProof="0"/>
              <a:t>…</a:t>
            </a:r>
          </a:p>
          <a:p>
            <a:pPr lvl="1"/>
            <a:r>
              <a:rPr lang="en-US" noProof="0"/>
              <a:t>…</a:t>
            </a:r>
          </a:p>
          <a:p>
            <a:pPr lvl="0"/>
            <a:r>
              <a:rPr lang="en-US" noProof="0"/>
              <a:t>…</a:t>
            </a:r>
          </a:p>
        </p:txBody>
      </p:sp>
      <p:sp>
        <p:nvSpPr>
          <p:cNvPr id="8" name="Rectangle Top">
            <a:extLst>
              <a:ext uri="{FF2B5EF4-FFF2-40B4-BE49-F238E27FC236}">
                <a16:creationId xmlns:a16="http://schemas.microsoft.com/office/drawing/2014/main" id="{930E0800-9260-4369-8330-8264DD33C5CE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11" name="Logo Software University" descr="Software University logo">
            <a:extLst>
              <a:ext uri="{FF2B5EF4-FFF2-40B4-BE49-F238E27FC236}">
                <a16:creationId xmlns:a16="http://schemas.microsoft.com/office/drawing/2014/main" id="{14F779A7-4A91-448B-BEFA-956C70A1C22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7957" y="253936"/>
            <a:ext cx="1915704" cy="559235"/>
          </a:xfrm>
          <a:prstGeom prst="rect">
            <a:avLst/>
          </a:prstGeom>
        </p:spPr>
      </p:pic>
      <p:sp>
        <p:nvSpPr>
          <p:cNvPr id="13" name="Slide Title">
            <a:extLst>
              <a:ext uri="{FF2B5EF4-FFF2-40B4-BE49-F238E27FC236}">
                <a16:creationId xmlns:a16="http://schemas.microsoft.com/office/drawing/2014/main" id="{357D7BE1-6358-42CC-94F3-7BCDD91DCB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6" y="100750"/>
            <a:ext cx="9715594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Table of Contents</a:t>
            </a:r>
          </a:p>
        </p:txBody>
      </p:sp>
    </p:spTree>
    <p:extLst>
      <p:ext uri="{BB962C8B-B14F-4D97-AF65-F5344CB8AC3E}">
        <p14:creationId xmlns:p14="http://schemas.microsoft.com/office/powerpoint/2010/main" val="10287244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Bottom"/>
          <p:cNvSpPr/>
          <p:nvPr/>
        </p:nvSpPr>
        <p:spPr>
          <a:xfrm>
            <a:off x="2" y="6264000"/>
            <a:ext cx="12192000" cy="594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856" tIns="60928" rIns="121856" bIns="6092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1" name="Slide Number">
            <a:extLst>
              <a:ext uri="{FF2B5EF4-FFF2-40B4-BE49-F238E27FC236}">
                <a16:creationId xmlns:a16="http://schemas.microsoft.com/office/drawing/2014/main" id="{6750ECE4-94E0-469B-B8E4-562792823B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462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bg2"/>
                </a:solidFill>
              </a:defRPr>
            </a:lvl1pPr>
          </a:lstStyle>
          <a:p>
            <a:fld id="{2BF067CD-8E6B-4360-9AA8-C5DF2A48A6D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Oval Logo Holder"/>
          <p:cNvSpPr/>
          <p:nvPr/>
        </p:nvSpPr>
        <p:spPr>
          <a:xfrm>
            <a:off x="5161650" y="4824665"/>
            <a:ext cx="1868701" cy="1868701"/>
          </a:xfrm>
          <a:prstGeom prst="ellipse">
            <a:avLst/>
          </a:prstGeom>
          <a:solidFill>
            <a:schemeClr val="tx2"/>
          </a:solidFill>
          <a:ln w="635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12" name="Logo Software University Down" descr="Software University logo">
            <a:extLst>
              <a:ext uri="{FF2B5EF4-FFF2-40B4-BE49-F238E27FC236}">
                <a16:creationId xmlns:a16="http://schemas.microsoft.com/office/drawing/2014/main" id="{7028D2F0-1E67-414B-A93D-D3F8F131A13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6551" y="5206773"/>
            <a:ext cx="958900" cy="1184869"/>
          </a:xfrm>
          <a:prstGeom prst="rect">
            <a:avLst/>
          </a:prstGeom>
        </p:spPr>
      </p:pic>
      <p:sp>
        <p:nvSpPr>
          <p:cNvPr id="10" name="Text Placeholder Right">
            <a:extLst>
              <a:ext uri="{FF2B5EF4-FFF2-40B4-BE49-F238E27FC236}">
                <a16:creationId xmlns:a16="http://schemas.microsoft.com/office/drawing/2014/main" id="{AF69A59F-C564-4A04-B1CC-31C26149999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56000" y="1195931"/>
            <a:ext cx="5545597" cy="4957073"/>
          </a:xfr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9" name="Text Placeholder Left">
            <a:extLst>
              <a:ext uri="{FF2B5EF4-FFF2-40B4-BE49-F238E27FC236}">
                <a16:creationId xmlns:a16="http://schemas.microsoft.com/office/drawing/2014/main" id="{C8A626D2-456B-41EF-9818-EA8DD7E314D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0402" y="1195931"/>
            <a:ext cx="5545598" cy="4957073"/>
          </a:xfr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3" name="Rectangle Top">
            <a:extLst>
              <a:ext uri="{FF2B5EF4-FFF2-40B4-BE49-F238E27FC236}">
                <a16:creationId xmlns:a16="http://schemas.microsoft.com/office/drawing/2014/main" id="{E03301DA-D0AF-46FD-8740-2F761250203A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14" name="Logo Software University" descr="Software University logo">
            <a:extLst>
              <a:ext uri="{FF2B5EF4-FFF2-40B4-BE49-F238E27FC236}">
                <a16:creationId xmlns:a16="http://schemas.microsoft.com/office/drawing/2014/main" id="{19A67BB9-D880-4EAD-B90E-89C4219BFC0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7957" y="253936"/>
            <a:ext cx="1915704" cy="559235"/>
          </a:xfrm>
          <a:prstGeom prst="rect">
            <a:avLst/>
          </a:prstGeom>
        </p:spPr>
      </p:pic>
      <p:sp>
        <p:nvSpPr>
          <p:cNvPr id="15" name="Slide Title">
            <a:extLst>
              <a:ext uri="{FF2B5EF4-FFF2-40B4-BE49-F238E27FC236}">
                <a16:creationId xmlns:a16="http://schemas.microsoft.com/office/drawing/2014/main" id="{EA9A94D1-F9F6-4D7B-85E3-896A987B6A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6" y="100750"/>
            <a:ext cx="9715594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3044033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 Number">
            <a:extLst>
              <a:ext uri="{FF2B5EF4-FFF2-40B4-BE49-F238E27FC236}">
                <a16:creationId xmlns:a16="http://schemas.microsoft.com/office/drawing/2014/main" id="{F888EE71-82B3-40F1-A63F-7417422FB4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444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4" name="Text Placeholder Body">
            <a:extLst>
              <a:ext uri="{FF2B5EF4-FFF2-40B4-BE49-F238E27FC236}">
                <a16:creationId xmlns:a16="http://schemas.microsoft.com/office/drawing/2014/main" id="{A2ABE920-240F-4CF6-AD45-23ED489FAD6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69002" y="1353866"/>
            <a:ext cx="7426234" cy="5219931"/>
          </a:xfr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Picture Placeholder Left"/>
          <p:cNvSpPr>
            <a:spLocks noGrp="1"/>
          </p:cNvSpPr>
          <p:nvPr>
            <p:ph type="pic" idx="1" hasCustomPrompt="1"/>
          </p:nvPr>
        </p:nvSpPr>
        <p:spPr>
          <a:xfrm>
            <a:off x="190405" y="1355077"/>
            <a:ext cx="3889373" cy="5366405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anchor="ctr"/>
          <a:lstStyle>
            <a:lvl1pPr marL="0" indent="0" algn="ctr" latinLnBrk="0">
              <a:buNone/>
              <a:defRPr sz="2131" baseline="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  <a:lvl2pPr marL="609219" indent="0">
              <a:buNone/>
              <a:defRPr sz="3731"/>
            </a:lvl2pPr>
            <a:lvl3pPr marL="1218438" indent="0">
              <a:buNone/>
              <a:defRPr sz="3198"/>
            </a:lvl3pPr>
            <a:lvl4pPr marL="1827657" indent="0">
              <a:buNone/>
              <a:defRPr sz="2665"/>
            </a:lvl4pPr>
            <a:lvl5pPr marL="2436876" indent="0">
              <a:buNone/>
              <a:defRPr sz="2665"/>
            </a:lvl5pPr>
            <a:lvl6pPr marL="3046096" indent="0">
              <a:buNone/>
              <a:defRPr sz="2665"/>
            </a:lvl6pPr>
            <a:lvl7pPr marL="3655315" indent="0">
              <a:buNone/>
              <a:defRPr sz="2665"/>
            </a:lvl7pPr>
            <a:lvl8pPr marL="4264533" indent="0">
              <a:buNone/>
              <a:defRPr sz="2665"/>
            </a:lvl8pPr>
            <a:lvl9pPr marL="4873752" indent="0">
              <a:buNone/>
              <a:defRPr sz="2665"/>
            </a:lvl9pPr>
          </a:lstStyle>
          <a:p>
            <a:r>
              <a:rPr lang="en-US" altLang="ko-KR" noProof="0"/>
              <a:t>Your Picture Here</a:t>
            </a:r>
          </a:p>
        </p:txBody>
      </p:sp>
      <p:sp>
        <p:nvSpPr>
          <p:cNvPr id="3" name="Rectangle Left Second"/>
          <p:cNvSpPr/>
          <p:nvPr/>
        </p:nvSpPr>
        <p:spPr>
          <a:xfrm>
            <a:off x="4127777" y="1748999"/>
            <a:ext cx="240001" cy="3360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2" name="Rectangle Left First"/>
          <p:cNvSpPr/>
          <p:nvPr/>
        </p:nvSpPr>
        <p:spPr>
          <a:xfrm>
            <a:off x="4079775" y="1355073"/>
            <a:ext cx="48001" cy="550292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0" name="Rectangle Down">
            <a:extLst>
              <a:ext uri="{FF2B5EF4-FFF2-40B4-BE49-F238E27FC236}">
                <a16:creationId xmlns:a16="http://schemas.microsoft.com/office/drawing/2014/main" id="{E9B994EC-35A8-4A11-98CB-25DC28852F94}"/>
              </a:ext>
            </a:extLst>
          </p:cNvPr>
          <p:cNvSpPr/>
          <p:nvPr/>
        </p:nvSpPr>
        <p:spPr>
          <a:xfrm>
            <a:off x="2" y="6721482"/>
            <a:ext cx="12192000" cy="13651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1" name="Rectangle Top">
            <a:extLst>
              <a:ext uri="{FF2B5EF4-FFF2-40B4-BE49-F238E27FC236}">
                <a16:creationId xmlns:a16="http://schemas.microsoft.com/office/drawing/2014/main" id="{274B8F05-DFCE-47BD-BAFD-DF93E1A63BDD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12" name="Logo Software University" descr="Software University logo">
            <a:extLst>
              <a:ext uri="{FF2B5EF4-FFF2-40B4-BE49-F238E27FC236}">
                <a16:creationId xmlns:a16="http://schemas.microsoft.com/office/drawing/2014/main" id="{233CBB95-791E-4630-B3D9-FADFCE7BCF5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7957" y="253936"/>
            <a:ext cx="1915704" cy="559235"/>
          </a:xfrm>
          <a:prstGeom prst="rect">
            <a:avLst/>
          </a:prstGeom>
        </p:spPr>
      </p:pic>
      <p:sp>
        <p:nvSpPr>
          <p:cNvPr id="13" name="Slide Title">
            <a:extLst>
              <a:ext uri="{FF2B5EF4-FFF2-40B4-BE49-F238E27FC236}">
                <a16:creationId xmlns:a16="http://schemas.microsoft.com/office/drawing/2014/main" id="{3F218E34-55D7-4290-BFE4-80F31F9415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6" y="100750"/>
            <a:ext cx="9715594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3774019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tions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Bottom">
            <a:extLst>
              <a:ext uri="{FF2B5EF4-FFF2-40B4-BE49-F238E27FC236}">
                <a16:creationId xmlns:a16="http://schemas.microsoft.com/office/drawing/2014/main" id="{550A59F9-9A9D-4956-95B4-F78CC0DB1D59}"/>
              </a:ext>
            </a:extLst>
          </p:cNvPr>
          <p:cNvSpPr/>
          <p:nvPr userDrawn="1"/>
        </p:nvSpPr>
        <p:spPr>
          <a:xfrm>
            <a:off x="0" y="6371332"/>
            <a:ext cx="12195176" cy="48723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53" name="Rectangle Bottom Copyright">
            <a:extLst>
              <a:ext uri="{FF2B5EF4-FFF2-40B4-BE49-F238E27FC236}">
                <a16:creationId xmlns:a16="http://schemas.microsoft.com/office/drawing/2014/main" id="{B07FB7FB-DA6C-4F5D-B068-357F0FCE27D8}"/>
              </a:ext>
            </a:extLst>
          </p:cNvPr>
          <p:cNvSpPr/>
          <p:nvPr userDrawn="1"/>
        </p:nvSpPr>
        <p:spPr>
          <a:xfrm>
            <a:off x="111000" y="6454758"/>
            <a:ext cx="11970000" cy="258449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noProof="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© SoftUni – </a:t>
            </a:r>
            <a:r>
              <a:rPr lang="en-US" sz="1600" u="sng" noProof="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https://softuni.org</a:t>
            </a:r>
            <a:r>
              <a:rPr lang="en-US" sz="1600" noProof="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. Copyrighted document. Unauthorized copy, reproduction or use is not permitted.</a:t>
            </a:r>
            <a:endParaRPr lang="en-US" sz="2400" noProof="0" dirty="0">
              <a:solidFill>
                <a:schemeClr val="bg2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26" name="Picture SoftUni Mascot" descr="SoftUni mascot with open hand">
            <a:extLst>
              <a:ext uri="{FF2B5EF4-FFF2-40B4-BE49-F238E27FC236}">
                <a16:creationId xmlns:a16="http://schemas.microsoft.com/office/drawing/2014/main" id="{247CFF3C-C4FA-493D-8505-DF469F4D36A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586" y="2898830"/>
            <a:ext cx="2451608" cy="2959741"/>
          </a:xfrm>
          <a:prstGeom prst="rect">
            <a:avLst/>
          </a:prstGeom>
        </p:spPr>
      </p:pic>
      <p:grpSp>
        <p:nvGrpSpPr>
          <p:cNvPr id="2" name="Group SoftUni Brands">
            <a:extLst>
              <a:ext uri="{FF2B5EF4-FFF2-40B4-BE49-F238E27FC236}">
                <a16:creationId xmlns:a16="http://schemas.microsoft.com/office/drawing/2014/main" id="{418FAE34-C1F8-46C7-A4AE-F270D1E70F25}"/>
              </a:ext>
            </a:extLst>
          </p:cNvPr>
          <p:cNvGrpSpPr/>
          <p:nvPr userDrawn="1"/>
        </p:nvGrpSpPr>
        <p:grpSpPr>
          <a:xfrm>
            <a:off x="3332216" y="1702473"/>
            <a:ext cx="8314909" cy="3543782"/>
            <a:chOff x="3332216" y="1702473"/>
            <a:chExt cx="8314909" cy="3543782"/>
          </a:xfrm>
        </p:grpSpPr>
        <p:pic>
          <p:nvPicPr>
            <p:cNvPr id="24" name="Picture SoftUni Kids Logo" descr="SoftUni Kids logo">
              <a:extLst>
                <a:ext uri="{FF2B5EF4-FFF2-40B4-BE49-F238E27FC236}">
                  <a16:creationId xmlns:a16="http://schemas.microsoft.com/office/drawing/2014/main" id="{B0812936-74B6-4265-8C08-AEDC8C79870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516883" y="3776294"/>
              <a:ext cx="1130242" cy="1389256"/>
            </a:xfrm>
            <a:prstGeom prst="rect">
              <a:avLst/>
            </a:prstGeom>
          </p:spPr>
        </p:pic>
        <p:pic>
          <p:nvPicPr>
            <p:cNvPr id="23" name="Picture SoftUni Foundation Logo" descr="SoftUni Foundation logo">
              <a:extLst>
                <a:ext uri="{FF2B5EF4-FFF2-40B4-BE49-F238E27FC236}">
                  <a16:creationId xmlns:a16="http://schemas.microsoft.com/office/drawing/2014/main" id="{6643F71A-2013-433A-8322-FBAAED3162D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053913" y="3788231"/>
              <a:ext cx="1166400" cy="1350756"/>
            </a:xfrm>
            <a:prstGeom prst="rect">
              <a:avLst/>
            </a:prstGeom>
          </p:spPr>
        </p:pic>
        <p:pic>
          <p:nvPicPr>
            <p:cNvPr id="22" name="Picture SoftUni Digital Logo" descr="SoftUni Digital logo">
              <a:extLst>
                <a:ext uri="{FF2B5EF4-FFF2-40B4-BE49-F238E27FC236}">
                  <a16:creationId xmlns:a16="http://schemas.microsoft.com/office/drawing/2014/main" id="{0A83D66F-855B-463B-920B-BF239B01A20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57695" y="3789000"/>
              <a:ext cx="1084614" cy="1457255"/>
            </a:xfrm>
            <a:prstGeom prst="rect">
              <a:avLst/>
            </a:prstGeom>
          </p:spPr>
        </p:pic>
        <p:pic>
          <p:nvPicPr>
            <p:cNvPr id="21" name="Picture SoftUni Creative Logo" descr="SoftUni Creative logo">
              <a:extLst>
                <a:ext uri="{FF2B5EF4-FFF2-40B4-BE49-F238E27FC236}">
                  <a16:creationId xmlns:a16="http://schemas.microsoft.com/office/drawing/2014/main" id="{EA755AAE-BA08-481C-9224-0061170EE4B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73913" y="3776293"/>
              <a:ext cx="1166400" cy="1389257"/>
            </a:xfrm>
            <a:prstGeom prst="rect">
              <a:avLst/>
            </a:prstGeom>
          </p:spPr>
        </p:pic>
        <p:pic>
          <p:nvPicPr>
            <p:cNvPr id="20" name="Picture SoftUni Svetlina Logo" descr="SoftUni Svetlina logo">
              <a:extLst>
                <a:ext uri="{FF2B5EF4-FFF2-40B4-BE49-F238E27FC236}">
                  <a16:creationId xmlns:a16="http://schemas.microsoft.com/office/drawing/2014/main" id="{827D15FD-4C66-4B85-98E6-7826AA8F61C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35029" y="3776293"/>
              <a:ext cx="1166400" cy="1402229"/>
            </a:xfrm>
            <a:prstGeom prst="rect">
              <a:avLst/>
            </a:prstGeom>
          </p:spPr>
        </p:pic>
        <p:pic>
          <p:nvPicPr>
            <p:cNvPr id="25" name="Picture Software University Logo" descr="Software University logo">
              <a:extLst>
                <a:ext uri="{FF2B5EF4-FFF2-40B4-BE49-F238E27FC236}">
                  <a16:creationId xmlns:a16="http://schemas.microsoft.com/office/drawing/2014/main" id="{C74C190C-5856-41B9-8819-AE8DE0E10980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32216" y="3776295"/>
              <a:ext cx="1164654" cy="1440000"/>
            </a:xfrm>
            <a:prstGeom prst="rect">
              <a:avLst/>
            </a:prstGeom>
          </p:spPr>
        </p:pic>
        <p:cxnSp>
          <p:nvCxnSpPr>
            <p:cNvPr id="33" name="Straight Connector 6">
              <a:extLst>
                <a:ext uri="{FF2B5EF4-FFF2-40B4-BE49-F238E27FC236}">
                  <a16:creationId xmlns:a16="http://schemas.microsoft.com/office/drawing/2014/main" id="{5C63D1E8-4A92-4691-8A24-A2FC7E8008E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077113" y="3335565"/>
              <a:ext cx="0" cy="23622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5">
              <a:extLst>
                <a:ext uri="{FF2B5EF4-FFF2-40B4-BE49-F238E27FC236}">
                  <a16:creationId xmlns:a16="http://schemas.microsoft.com/office/drawing/2014/main" id="{6E91D320-3732-40B8-864D-142D0A277ED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637113" y="3329215"/>
              <a:ext cx="0" cy="23622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4">
              <a:extLst>
                <a:ext uri="{FF2B5EF4-FFF2-40B4-BE49-F238E27FC236}">
                  <a16:creationId xmlns:a16="http://schemas.microsoft.com/office/drawing/2014/main" id="{299ABE09-E33C-46B7-A80D-7BF4A6956211}"/>
                </a:ext>
              </a:extLst>
            </p:cNvPr>
            <p:cNvCxnSpPr/>
            <p:nvPr userDrawn="1"/>
          </p:nvCxnSpPr>
          <p:spPr>
            <a:xfrm>
              <a:off x="8197113" y="3329215"/>
              <a:ext cx="0" cy="23622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3">
              <a:extLst>
                <a:ext uri="{FF2B5EF4-FFF2-40B4-BE49-F238E27FC236}">
                  <a16:creationId xmlns:a16="http://schemas.microsoft.com/office/drawing/2014/main" id="{93DDBF37-0764-47AA-94E3-9A44F3ED8FB5}"/>
                </a:ext>
              </a:extLst>
            </p:cNvPr>
            <p:cNvCxnSpPr/>
            <p:nvPr userDrawn="1"/>
          </p:nvCxnSpPr>
          <p:spPr>
            <a:xfrm>
              <a:off x="6757113" y="3329215"/>
              <a:ext cx="0" cy="23622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">
              <a:extLst>
                <a:ext uri="{FF2B5EF4-FFF2-40B4-BE49-F238E27FC236}">
                  <a16:creationId xmlns:a16="http://schemas.microsoft.com/office/drawing/2014/main" id="{72BFE2F3-0845-4E5B-9375-E9D4027DD675}"/>
                </a:ext>
              </a:extLst>
            </p:cNvPr>
            <p:cNvCxnSpPr/>
            <p:nvPr userDrawn="1"/>
          </p:nvCxnSpPr>
          <p:spPr>
            <a:xfrm>
              <a:off x="5309913" y="3335565"/>
              <a:ext cx="0" cy="23622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1">
              <a:extLst>
                <a:ext uri="{FF2B5EF4-FFF2-40B4-BE49-F238E27FC236}">
                  <a16:creationId xmlns:a16="http://schemas.microsoft.com/office/drawing/2014/main" id="{D4E5982E-3110-47E1-A5BB-91B7BECC3093}"/>
                </a:ext>
              </a:extLst>
            </p:cNvPr>
            <p:cNvCxnSpPr/>
            <p:nvPr userDrawn="1"/>
          </p:nvCxnSpPr>
          <p:spPr>
            <a:xfrm>
              <a:off x="3915327" y="3335565"/>
              <a:ext cx="0" cy="23622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Horizontal">
              <a:extLst>
                <a:ext uri="{FF2B5EF4-FFF2-40B4-BE49-F238E27FC236}">
                  <a16:creationId xmlns:a16="http://schemas.microsoft.com/office/drawing/2014/main" id="{5F62FB7C-BD6E-4383-98C1-2CF30F34CAF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915327" y="3335565"/>
              <a:ext cx="7161786" cy="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0">
              <a:extLst>
                <a:ext uri="{FF2B5EF4-FFF2-40B4-BE49-F238E27FC236}">
                  <a16:creationId xmlns:a16="http://schemas.microsoft.com/office/drawing/2014/main" id="{C84A0FE1-723D-4682-8682-77BAD950EE15}"/>
                </a:ext>
              </a:extLst>
            </p:cNvPr>
            <p:cNvCxnSpPr/>
            <p:nvPr userDrawn="1"/>
          </p:nvCxnSpPr>
          <p:spPr>
            <a:xfrm>
              <a:off x="7496220" y="3092995"/>
              <a:ext cx="0" cy="23622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8" name="Picture SoftUni Logo" descr="SoftUni logo">
              <a:extLst>
                <a:ext uri="{FF2B5EF4-FFF2-40B4-BE49-F238E27FC236}">
                  <a16:creationId xmlns:a16="http://schemas.microsoft.com/office/drawing/2014/main" id="{A0675455-B7FA-4569-A5FD-A3B0F20B2A26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96770" y="1702473"/>
              <a:ext cx="1198901" cy="1198901"/>
            </a:xfrm>
            <a:prstGeom prst="rect">
              <a:avLst/>
            </a:prstGeom>
          </p:spPr>
        </p:pic>
      </p:grpSp>
      <p:sp>
        <p:nvSpPr>
          <p:cNvPr id="19" name="Slide Title">
            <a:extLst>
              <a:ext uri="{FF2B5EF4-FFF2-40B4-BE49-F238E27FC236}">
                <a16:creationId xmlns:a16="http://schemas.microsoft.com/office/drawing/2014/main" id="{7CFDBB16-985C-4CC7-B6DB-B81B360379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9628" y="703244"/>
            <a:ext cx="5916372" cy="1033303"/>
          </a:xfrm>
          <a:prstGeom prst="rect">
            <a:avLst/>
          </a:prstGeom>
        </p:spPr>
        <p:txBody>
          <a:bodyPr wrap="none" lIns="0" tIns="0" rIns="0" bIns="0" anchor="ctr" anchorCtr="0">
            <a:noAutofit/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pPr marL="0" marR="0" lvl="0" indent="0" algn="l" defTabSz="913852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7748E">
                  <a:lumMod val="40000"/>
                  <a:lumOff val="60000"/>
                </a:srgbClr>
              </a:buClr>
              <a:buSzPct val="70000"/>
              <a:buFont typeface="Wingdings 2" pitchFamily="18" charset="2"/>
              <a:buNone/>
              <a:tabLst/>
              <a:defRPr/>
            </a:pPr>
            <a:r>
              <a:rPr kumimoji="0" lang="en-US" sz="8797" b="1" i="0" u="none" strike="noStrike" kern="1200" cap="none" spc="0" normalizeH="0" baseline="0" noProof="0" dirty="0">
                <a:ln>
                  <a:noFill/>
                </a:ln>
                <a:solidFill>
                  <a:srgbClr val="23446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Questions?</a:t>
            </a:r>
            <a:endParaRPr kumimoji="0" lang="en-US" sz="8797" b="1" i="0" u="none" strike="noStrike" kern="1200" cap="none" spc="150" normalizeH="0" baseline="0" noProof="0" dirty="0">
              <a:ln w="11430"/>
              <a:solidFill>
                <a:srgbClr val="234465"/>
              </a:solidFill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6" name="Logo Software University" descr="Software University logo">
            <a:extLst>
              <a:ext uri="{FF2B5EF4-FFF2-40B4-BE49-F238E27FC236}">
                <a16:creationId xmlns:a16="http://schemas.microsoft.com/office/drawing/2014/main" id="{67FC4D2E-913D-432A-B658-F0D82839FA5E}"/>
              </a:ext>
            </a:extLst>
          </p:cNvPr>
          <p:cNvPicPr>
            <a:picLocks noChangeAspect="1"/>
          </p:cNvPicPr>
          <p:nvPr userDrawn="1"/>
        </p:nvPicPr>
        <p:blipFill>
          <a:blip r:embed="rId11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8761" y="190267"/>
            <a:ext cx="2013336" cy="690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20612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ou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">
            <a:extLst>
              <a:ext uri="{FF2B5EF4-FFF2-40B4-BE49-F238E27FC236}">
                <a16:creationId xmlns:a16="http://schemas.microsoft.com/office/drawing/2014/main" id="{5B8761D8-B42F-4A70-A0CE-682CEB2AE3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pic>
        <p:nvPicPr>
          <p:cNvPr id="17" name="Picture Logo FB" descr="Facebook logo">
            <a:hlinkClick r:id="rId2" tooltip="Software University @ Facebook"/>
            <a:extLst>
              <a:ext uri="{FF2B5EF4-FFF2-40B4-BE49-F238E27FC236}">
                <a16:creationId xmlns:a16="http://schemas.microsoft.com/office/drawing/2014/main" id="{6B2C510E-5EF2-49F6-B926-2BD74CD3C7F8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10523831" y="4524339"/>
            <a:ext cx="1003954" cy="10175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Logo SoftUni Right" descr="Software University logo">
            <a:hlinkClick r:id="rId4"/>
            <a:extLst>
              <a:ext uri="{FF2B5EF4-FFF2-40B4-BE49-F238E27FC236}">
                <a16:creationId xmlns:a16="http://schemas.microsoft.com/office/drawing/2014/main" id="{F4604840-E810-44B7-9FF1-3B28CD68B758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29781" y="2327308"/>
            <a:ext cx="1192055" cy="1473880"/>
          </a:xfrm>
          <a:prstGeom prst="rect">
            <a:avLst/>
          </a:prstGeom>
        </p:spPr>
      </p:pic>
      <p:pic>
        <p:nvPicPr>
          <p:cNvPr id="16" name="Picture SoftUni Mascot" descr="SoftUni mascot">
            <a:hlinkClick r:id="rId6"/>
            <a:extLst>
              <a:ext uri="{FF2B5EF4-FFF2-40B4-BE49-F238E27FC236}">
                <a16:creationId xmlns:a16="http://schemas.microsoft.com/office/drawing/2014/main" id="{07C965FA-A87E-4824-AFA8-C67AF548A76A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181957" y="2584289"/>
            <a:ext cx="2732955" cy="3630993"/>
          </a:xfrm>
          <a:prstGeom prst="rect">
            <a:avLst/>
          </a:prstGeom>
        </p:spPr>
      </p:pic>
      <p:sp>
        <p:nvSpPr>
          <p:cNvPr id="12" name="Slide Body Text">
            <a:extLst>
              <a:ext uri="{FF2B5EF4-FFF2-40B4-BE49-F238E27FC236}">
                <a16:creationId xmlns:a16="http://schemas.microsoft.com/office/drawing/2014/main" id="{0C1F9416-8B6E-46DE-973C-777785E27A26}"/>
              </a:ext>
            </a:extLst>
          </p:cNvPr>
          <p:cNvSpPr>
            <a:spLocks noGrp="1"/>
          </p:cNvSpPr>
          <p:nvPr>
            <p:ph idx="4294967295" hasCustomPrompt="1"/>
          </p:nvPr>
        </p:nvSpPr>
        <p:spPr>
          <a:xfrm>
            <a:off x="152410" y="1186307"/>
            <a:ext cx="8688590" cy="5496127"/>
          </a:xfrm>
        </p:spPr>
        <p:txBody>
          <a:bodyPr wrap="square">
            <a:noAutofit/>
          </a:bodyPr>
          <a:lstStyle>
            <a:lvl1pPr latinLnBrk="0">
              <a:buClr>
                <a:schemeClr val="tx1"/>
              </a:buClr>
              <a:defRPr sz="2798"/>
            </a:lvl1pPr>
            <a:lvl2pPr marL="989981" marR="0" indent="-380762" algn="l" defTabSz="1218438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§"/>
              <a:tabLst>
                <a:tab pos="282405" algn="l"/>
              </a:tabLst>
              <a:defRPr sz="2800"/>
            </a:lvl2pPr>
            <a:lvl3pPr>
              <a:buClr>
                <a:schemeClr val="tx1"/>
              </a:buClr>
              <a:defRPr/>
            </a:lvl3pPr>
          </a:lstStyle>
          <a:p>
            <a:r>
              <a:rPr lang="en-US" sz="3000" noProof="0" dirty="0"/>
              <a:t>Software University – High-Quality Education, Profession and Job for Software Developers</a:t>
            </a:r>
          </a:p>
          <a:p>
            <a:pPr lvl="1"/>
            <a:r>
              <a:rPr lang="en-US" noProof="1">
                <a:hlinkClick r:id="rId6"/>
              </a:rPr>
              <a:t>softuni.bg</a:t>
            </a:r>
            <a:r>
              <a:rPr lang="en-US" noProof="1"/>
              <a:t> </a:t>
            </a:r>
          </a:p>
          <a:p>
            <a:r>
              <a:rPr lang="en-US" sz="3000" noProof="0" dirty="0"/>
              <a:t>Software University Foundation</a:t>
            </a:r>
          </a:p>
          <a:p>
            <a:pPr lvl="1"/>
            <a:r>
              <a:rPr lang="en-US" noProof="1">
                <a:hlinkClick r:id="rId8"/>
              </a:rPr>
              <a:t>softuni.foundation</a:t>
            </a:r>
            <a:endParaRPr lang="en-US" noProof="1"/>
          </a:p>
          <a:p>
            <a:r>
              <a:rPr lang="en-US" sz="3000" noProof="0" dirty="0"/>
              <a:t>Software University @ Facebook</a:t>
            </a:r>
          </a:p>
          <a:p>
            <a:pPr lvl="1"/>
            <a:r>
              <a:rPr lang="en-US" noProof="1">
                <a:hlinkClick r:id="rId2"/>
              </a:rPr>
              <a:t>facebook.com/SoftwareUniversity</a:t>
            </a:r>
            <a:endParaRPr lang="en-US" noProof="1"/>
          </a:p>
          <a:p>
            <a:r>
              <a:rPr lang="en-US" sz="3000" noProof="0" dirty="0"/>
              <a:t>Software University Forums</a:t>
            </a:r>
          </a:p>
          <a:p>
            <a:pPr lvl="1"/>
            <a:r>
              <a:rPr lang="en-US" noProof="1">
                <a:hlinkClick r:id="rId9"/>
              </a:rPr>
              <a:t>forum.softuni.bg</a:t>
            </a:r>
            <a:endParaRPr lang="en-US" noProof="1"/>
          </a:p>
        </p:txBody>
      </p:sp>
      <p:sp>
        <p:nvSpPr>
          <p:cNvPr id="10" name="Rectangle Top">
            <a:extLst>
              <a:ext uri="{FF2B5EF4-FFF2-40B4-BE49-F238E27FC236}">
                <a16:creationId xmlns:a16="http://schemas.microsoft.com/office/drawing/2014/main" id="{86646B95-5E3B-4DE8-9118-031C2C296D8C}"/>
              </a:ext>
            </a:extLst>
          </p:cNvPr>
          <p:cNvSpPr/>
          <p:nvPr userDrawn="1"/>
        </p:nvSpPr>
        <p:spPr>
          <a:xfrm>
            <a:off x="0" y="0"/>
            <a:ext cx="12195176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11" name="Logo Software University" descr="Software University logo">
            <a:extLst>
              <a:ext uri="{FF2B5EF4-FFF2-40B4-BE49-F238E27FC236}">
                <a16:creationId xmlns:a16="http://schemas.microsoft.com/office/drawing/2014/main" id="{58AB1944-B146-4E89-B2D9-426EB610F319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7957" y="253936"/>
            <a:ext cx="1915704" cy="559235"/>
          </a:xfrm>
          <a:prstGeom prst="rect">
            <a:avLst/>
          </a:prstGeom>
        </p:spPr>
      </p:pic>
      <p:sp>
        <p:nvSpPr>
          <p:cNvPr id="18" name="Slide Title">
            <a:extLst>
              <a:ext uri="{FF2B5EF4-FFF2-40B4-BE49-F238E27FC236}">
                <a16:creationId xmlns:a16="http://schemas.microsoft.com/office/drawing/2014/main" id="{AE87ED9C-76E1-4D85-9B06-3AF44AABB6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2286" y="108873"/>
            <a:ext cx="9742626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Trainings @ Software University (SoftUni)</a:t>
            </a:r>
          </a:p>
        </p:txBody>
      </p:sp>
    </p:spTree>
    <p:extLst>
      <p:ext uri="{BB962C8B-B14F-4D97-AF65-F5344CB8AC3E}">
        <p14:creationId xmlns:p14="http://schemas.microsoft.com/office/powerpoint/2010/main" val="21964663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3C145-EA12-94EF-AA17-5F628EA0AD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B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55E72E-5B45-B6EE-75AE-03B188AD9A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B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C6A8EA-0240-01AB-A7C2-BD1CD885E1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2F75B-1C4E-1E47-AE31-5B79E79ADF4F}" type="datetimeFigureOut">
              <a:rPr lang="en-BG" smtClean="0"/>
              <a:t>09/25/2024</a:t>
            </a:fld>
            <a:endParaRPr lang="en-B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5CBF96-4249-1541-E44E-FBCECA233B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B54F2-814F-F79B-8CD7-FA3133365C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CCE35-F5E1-7541-B177-7204A9BB7A19}" type="slidenum">
              <a:rPr lang="en-BG" smtClean="0"/>
              <a:t>‹#›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34440367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gray"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Background" descr="SoftUni Background">
            <a:extLst>
              <a:ext uri="{FF2B5EF4-FFF2-40B4-BE49-F238E27FC236}">
                <a16:creationId xmlns:a16="http://schemas.microsoft.com/office/drawing/2014/main" id="{5BE90A63-DDD9-4B3B-A234-DF69B9BC812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5" cstate="print"/>
          <a:srcRect b="1672"/>
          <a:stretch/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sp>
        <p:nvSpPr>
          <p:cNvPr id="11" name="Slide Body Text">
            <a:extLst>
              <a:ext uri="{FF2B5EF4-FFF2-40B4-BE49-F238E27FC236}">
                <a16:creationId xmlns:a16="http://schemas.microsoft.com/office/drawing/2014/main" id="{90CBFB32-9F46-4F2F-8A54-9EE8BED278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0404" y="1138844"/>
            <a:ext cx="11804830" cy="5530156"/>
          </a:xfrm>
          <a:prstGeom prst="rect">
            <a:avLst/>
          </a:prstGeom>
        </p:spPr>
        <p:txBody>
          <a:bodyPr vert="horz" lIns="108000" tIns="36000" rIns="108000" bIns="36000" rtlCol="0">
            <a:normAutofit/>
          </a:bodyPr>
          <a:lstStyle/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10" name="Slide Title">
            <a:extLst>
              <a:ext uri="{FF2B5EF4-FFF2-40B4-BE49-F238E27FC236}">
                <a16:creationId xmlns:a16="http://schemas.microsoft.com/office/drawing/2014/main" id="{B770C392-3003-4C35-9625-BB041F8257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405" y="100750"/>
            <a:ext cx="11804829" cy="882654"/>
          </a:xfrm>
          <a:prstGeom prst="rect">
            <a:avLst/>
          </a:prstGeom>
        </p:spPr>
        <p:txBody>
          <a:bodyPr vert="horz" lIns="108000" tIns="36000" rIns="108000" bIns="36000" rtlCol="0" anchor="ctr" anchorCtr="0">
            <a:normAutofit/>
          </a:bodyPr>
          <a:lstStyle/>
          <a:p>
            <a:r>
              <a:rPr lang="en-US" dirty="0"/>
              <a:t>Click to Edit Master Title Style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6789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89" r:id="rId2"/>
    <p:sldLayoutId id="2147483681" r:id="rId3"/>
    <p:sldLayoutId id="2147483691" r:id="rId4"/>
    <p:sldLayoutId id="2147483680" r:id="rId5"/>
    <p:sldLayoutId id="2147483688" r:id="rId6"/>
    <p:sldLayoutId id="2147483684" r:id="rId7"/>
    <p:sldLayoutId id="2147483677" r:id="rId8"/>
    <p:sldLayoutId id="2147483683" r:id="rId9"/>
    <p:sldLayoutId id="2147483685" r:id="rId10"/>
    <p:sldLayoutId id="2147483686" r:id="rId11"/>
    <p:sldLayoutId id="2147483687" r:id="rId12"/>
    <p:sldLayoutId id="2147483692" r:id="rId13"/>
  </p:sldLayoutIdLst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hf hdr="0" ftr="0" dt="0"/>
  <p:txStyles>
    <p:titleStyle>
      <a:lvl1pPr algn="l" defTabSz="1218438" rtl="0" eaLnBrk="1" latinLnBrk="0" hangingPunct="1">
        <a:spcBef>
          <a:spcPct val="0"/>
        </a:spcBef>
        <a:buNone/>
        <a:defRPr sz="3998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60363" indent="-360363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3398" kern="1200">
          <a:solidFill>
            <a:schemeClr val="tx1"/>
          </a:solidFill>
          <a:latin typeface="+mn-lt"/>
          <a:ea typeface="+mn-ea"/>
          <a:cs typeface="+mn-cs"/>
        </a:defRPr>
      </a:lvl1pPr>
      <a:lvl2pPr marL="803275" indent="-360363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3198" kern="1200">
          <a:solidFill>
            <a:schemeClr val="tx1"/>
          </a:solidFill>
          <a:latin typeface="+mn-lt"/>
          <a:ea typeface="+mn-ea"/>
          <a:cs typeface="+mn-cs"/>
        </a:defRPr>
      </a:lvl2pPr>
      <a:lvl3pPr marL="1255713" indent="-360363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2998" kern="1200">
          <a:solidFill>
            <a:schemeClr val="tx1"/>
          </a:solidFill>
          <a:latin typeface="+mn-lt"/>
          <a:ea typeface="+mn-ea"/>
          <a:cs typeface="+mn-cs"/>
        </a:defRPr>
      </a:lvl3pPr>
      <a:lvl4pPr marL="1700213" indent="-352425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2798" kern="1200">
          <a:solidFill>
            <a:schemeClr val="tx1"/>
          </a:solidFill>
          <a:latin typeface="+mn-lt"/>
          <a:ea typeface="+mn-ea"/>
          <a:cs typeface="+mn-cs"/>
        </a:defRPr>
      </a:lvl4pPr>
      <a:lvl5pPr marL="2058988" indent="-266700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2598" kern="1200">
          <a:solidFill>
            <a:schemeClr val="tx1"/>
          </a:solidFill>
          <a:latin typeface="+mn-lt"/>
          <a:ea typeface="+mn-ea"/>
          <a:cs typeface="+mn-cs"/>
        </a:defRPr>
      </a:lvl5pPr>
      <a:lvl6pPr marL="3350704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59924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69143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78362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1pPr>
      <a:lvl2pPr marL="609219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2pPr>
      <a:lvl3pPr marL="1218438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3pPr>
      <a:lvl4pPr marL="1827657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4pPr>
      <a:lvl5pPr marL="2436876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5pPr>
      <a:lvl6pPr marL="3046096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6pPr>
      <a:lvl7pPr marL="3655315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7pPr>
      <a:lvl8pPr marL="4264533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8pPr>
      <a:lvl9pPr marL="4873752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1843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bg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customXml" Target="../ink/ink2.xml"/><Relationship Id="rId4" Type="http://schemas.openxmlformats.org/officeDocument/2006/relationships/image" Target="../media/image24.e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emf"/><Relationship Id="rId3" Type="http://schemas.openxmlformats.org/officeDocument/2006/relationships/customXml" Target="../ink/ink3.xml"/><Relationship Id="rId7" Type="http://schemas.openxmlformats.org/officeDocument/2006/relationships/customXml" Target="../ink/ink6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customXml" Target="../ink/ink5.xml"/><Relationship Id="rId5" Type="http://schemas.openxmlformats.org/officeDocument/2006/relationships/customXml" Target="../ink/ink4.xml"/><Relationship Id="rId4" Type="http://schemas.openxmlformats.org/officeDocument/2006/relationships/image" Target="../media/image27.e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emf"/><Relationship Id="rId3" Type="http://schemas.openxmlformats.org/officeDocument/2006/relationships/customXml" Target="../ink/ink7.xml"/><Relationship Id="rId7" Type="http://schemas.openxmlformats.org/officeDocument/2006/relationships/customXml" Target="../ink/ink10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customXml" Target="../ink/ink9.xml"/><Relationship Id="rId5" Type="http://schemas.openxmlformats.org/officeDocument/2006/relationships/customXml" Target="../ink/ink8.xml"/><Relationship Id="rId4" Type="http://schemas.openxmlformats.org/officeDocument/2006/relationships/image" Target="../media/image27.e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emf"/><Relationship Id="rId3" Type="http://schemas.openxmlformats.org/officeDocument/2006/relationships/customXml" Target="../ink/ink11.xml"/><Relationship Id="rId7" Type="http://schemas.openxmlformats.org/officeDocument/2006/relationships/customXml" Target="../ink/ink14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customXml" Target="../ink/ink13.xml"/><Relationship Id="rId5" Type="http://schemas.openxmlformats.org/officeDocument/2006/relationships/customXml" Target="../ink/ink12.xml"/><Relationship Id="rId4" Type="http://schemas.openxmlformats.org/officeDocument/2006/relationships/image" Target="../media/image27.e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emf"/><Relationship Id="rId3" Type="http://schemas.openxmlformats.org/officeDocument/2006/relationships/customXml" Target="../ink/ink15.xml"/><Relationship Id="rId7" Type="http://schemas.openxmlformats.org/officeDocument/2006/relationships/customXml" Target="../ink/ink18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customXml" Target="../ink/ink17.xml"/><Relationship Id="rId5" Type="http://schemas.openxmlformats.org/officeDocument/2006/relationships/customXml" Target="../ink/ink16.xml"/><Relationship Id="rId4" Type="http://schemas.openxmlformats.org/officeDocument/2006/relationships/image" Target="../media/image27.e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13" Type="http://schemas.openxmlformats.org/officeDocument/2006/relationships/image" Target="../media/image41.sv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12" Type="http://schemas.openxmlformats.org/officeDocument/2006/relationships/image" Target="../media/image4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4.png"/><Relationship Id="rId11" Type="http://schemas.openxmlformats.org/officeDocument/2006/relationships/image" Target="../media/image39.svg"/><Relationship Id="rId5" Type="http://schemas.openxmlformats.org/officeDocument/2006/relationships/image" Target="../media/image33.png"/><Relationship Id="rId15" Type="http://schemas.openxmlformats.org/officeDocument/2006/relationships/image" Target="../media/image43.png"/><Relationship Id="rId10" Type="http://schemas.openxmlformats.org/officeDocument/2006/relationships/image" Target="../media/image38.png"/><Relationship Id="rId4" Type="http://schemas.openxmlformats.org/officeDocument/2006/relationships/image" Target="../media/image32.png"/><Relationship Id="rId9" Type="http://schemas.openxmlformats.org/officeDocument/2006/relationships/image" Target="../media/image37.png"/><Relationship Id="rId14" Type="http://schemas.openxmlformats.org/officeDocument/2006/relationships/image" Target="../media/image42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4.png"/><Relationship Id="rId4" Type="http://schemas.openxmlformats.org/officeDocument/2006/relationships/hyperlink" Target="https://softuni.bg/" TargetMode="Externa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bg/" TargetMode="Externa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Relationship Id="rId5" Type="http://schemas.openxmlformats.org/officeDocument/2006/relationships/hyperlink" Target="https://www.facebook.com/SoftwareUniversity" TargetMode="External"/><Relationship Id="rId4" Type="http://schemas.openxmlformats.org/officeDocument/2006/relationships/hyperlink" Target="https://softuni.foundation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 5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bg-BG" dirty="0"/>
              <a:t>Прости повторения с </a:t>
            </a:r>
            <a:r>
              <a:rPr lang="en-US" dirty="0"/>
              <a:t>For-</a:t>
            </a:r>
            <a:r>
              <a:rPr lang="bg-BG" dirty="0"/>
              <a:t>цикъл</a:t>
            </a:r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dirty="0"/>
              <a:t>Повторения (цикли)</a:t>
            </a:r>
            <a:endParaRPr lang="en-US" dirty="0"/>
          </a:p>
        </p:txBody>
      </p:sp>
      <p:sp>
        <p:nvSpPr>
          <p:cNvPr id="18" name="Text Placeholder 11"/>
          <p:cNvSpPr>
            <a:spLocks noGrp="1"/>
          </p:cNvSpPr>
          <p:nvPr>
            <p:ph type="body" sz="quarter" idx="20"/>
          </p:nvPr>
        </p:nvSpPr>
        <p:spPr>
          <a:xfrm>
            <a:off x="9906000" y="6182778"/>
            <a:ext cx="1842040" cy="351754"/>
          </a:xfrm>
        </p:spPr>
        <p:txBody>
          <a:bodyPr/>
          <a:lstStyle/>
          <a:p>
            <a:r>
              <a:rPr lang="en-US" sz="1800" dirty="0">
                <a:hlinkClick r:id="rId3"/>
              </a:rPr>
              <a:t>https://softuni.bg</a:t>
            </a:r>
            <a:endParaRPr lang="en-US" sz="1800" dirty="0"/>
          </a:p>
        </p:txBody>
      </p:sp>
      <p:sp>
        <p:nvSpPr>
          <p:cNvPr id="19" name="Text Placeholder 9"/>
          <p:cNvSpPr>
            <a:spLocks noGrp="1"/>
          </p:cNvSpPr>
          <p:nvPr>
            <p:ph type="body" sz="quarter" idx="17"/>
          </p:nvPr>
        </p:nvSpPr>
        <p:spPr>
          <a:xfrm>
            <a:off x="8643191" y="5916124"/>
            <a:ext cx="2950749" cy="382788"/>
          </a:xfrm>
        </p:spPr>
        <p:txBody>
          <a:bodyPr/>
          <a:lstStyle/>
          <a:p>
            <a:r>
              <a:rPr lang="bg-BG" dirty="0"/>
              <a:t>Софтуерен университет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941D5C10-8D10-4D4A-BDC4-202C30EAED2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72561" y="4876928"/>
            <a:ext cx="2950749" cy="506540"/>
          </a:xfrm>
        </p:spPr>
        <p:txBody>
          <a:bodyPr/>
          <a:lstStyle/>
          <a:p>
            <a:r>
              <a:rPr lang="bg-BG" noProof="1"/>
              <a:t>СофтУни</a:t>
            </a:r>
            <a:endParaRPr lang="en-US" noProof="1"/>
          </a:p>
        </p:txBody>
      </p:sp>
      <p:sp>
        <p:nvSpPr>
          <p:cNvPr id="21" name="Text Placeholder 6">
            <a:extLst>
              <a:ext uri="{FF2B5EF4-FFF2-40B4-BE49-F238E27FC236}">
                <a16:creationId xmlns:a16="http://schemas.microsoft.com/office/drawing/2014/main" id="{76A05CC2-FC4D-4504-ABD3-8A2DED65D2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72561" y="5368868"/>
            <a:ext cx="3175747" cy="444536"/>
          </a:xfrm>
        </p:spPr>
        <p:txBody>
          <a:bodyPr/>
          <a:lstStyle/>
          <a:p>
            <a:r>
              <a:rPr lang="bg-BG" noProof="1"/>
              <a:t>Преподавателски</a:t>
            </a:r>
            <a:r>
              <a:rPr lang="bg-BG" dirty="0"/>
              <a:t> екип</a:t>
            </a:r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F376815-D334-46C2-8FD5-F12D811DCA8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duotone>
              <a:prstClr val="black"/>
              <a:schemeClr val="accent5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015253" y="2244644"/>
            <a:ext cx="3175747" cy="2352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15712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419" name="Rectangle 3"/>
          <p:cNvSpPr>
            <a:spLocks noGrp="1" noChangeArrowheads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bg-BG" sz="3400" dirty="0">
                <a:latin typeface="+mj-lt"/>
                <a:cs typeface="Calibri" panose="020F0502020204030204" pitchFamily="34" charset="0"/>
              </a:rPr>
              <a:t>Преговор</a:t>
            </a:r>
          </a:p>
          <a:p>
            <a:r>
              <a:rPr lang="bg-BG" sz="3400" dirty="0">
                <a:latin typeface="+mj-lt"/>
                <a:cs typeface="Calibri" panose="020F0502020204030204" pitchFamily="34" charset="0"/>
              </a:rPr>
              <a:t>Увеличаване и намаляване на стойността на променлива</a:t>
            </a:r>
          </a:p>
          <a:p>
            <a:r>
              <a:rPr lang="bg-BG" sz="3400" dirty="0">
                <a:latin typeface="+mj-lt"/>
                <a:cs typeface="Calibri" panose="020F0502020204030204" pitchFamily="34" charset="0"/>
              </a:rPr>
              <a:t>Повторения на блокове код</a:t>
            </a:r>
          </a:p>
          <a:p>
            <a:r>
              <a:rPr lang="bg-BG" sz="3200" dirty="0">
                <a:latin typeface="+mj-lt"/>
              </a:rPr>
              <a:t>Работа с по-сложни </a:t>
            </a:r>
            <a:r>
              <a:rPr lang="en-US" sz="3200" dirty="0">
                <a:latin typeface="+mj-lt"/>
              </a:rPr>
              <a:t>for-</a:t>
            </a:r>
            <a:r>
              <a:rPr lang="bg-BG" sz="3200" dirty="0">
                <a:latin typeface="+mj-lt"/>
              </a:rPr>
              <a:t>цикли</a:t>
            </a:r>
            <a:endParaRPr lang="bg-BG" sz="3400" dirty="0">
              <a:latin typeface="+mj-lt"/>
              <a:cs typeface="Calibri" panose="020F0502020204030204" pitchFamily="34" charset="0"/>
            </a:endParaRPr>
          </a:p>
          <a:p>
            <a:pPr marL="514350" indent="-514350"/>
            <a:r>
              <a:rPr lang="bg-BG" sz="3400" dirty="0">
                <a:latin typeface="+mj-lt"/>
                <a:cs typeface="Calibri" panose="020F0502020204030204" pitchFamily="34" charset="0"/>
              </a:rPr>
              <a:t>Работа с текст</a:t>
            </a:r>
            <a:endParaRPr lang="en-US" sz="3400" dirty="0">
              <a:latin typeface="+mj-lt"/>
              <a:cs typeface="Calibri" panose="020F0502020204030204" pitchFamily="34" charset="0"/>
            </a:endParaRPr>
          </a:p>
          <a:p>
            <a:pPr marL="514350" indent="-514350"/>
            <a:r>
              <a:rPr lang="bg-BG" sz="3400" dirty="0">
                <a:latin typeface="+mj-lt"/>
              </a:rPr>
              <a:t>Техники за използване на </a:t>
            </a:r>
            <a:r>
              <a:rPr lang="en-US" sz="3200" dirty="0">
                <a:latin typeface="+mj-lt"/>
              </a:rPr>
              <a:t>for-</a:t>
            </a:r>
            <a:r>
              <a:rPr lang="bg-BG" sz="3400" dirty="0">
                <a:latin typeface="+mj-lt"/>
              </a:rPr>
              <a:t>цикли</a:t>
            </a:r>
          </a:p>
          <a:p>
            <a:pPr marL="0" indent="0">
              <a:buNone/>
            </a:pPr>
            <a:endParaRPr lang="en-US" sz="3200" dirty="0"/>
          </a:p>
          <a:p>
            <a:pPr marL="0" indent="0">
              <a:buNone/>
            </a:pPr>
            <a:endParaRPr lang="bg-BG" sz="3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04746" lvl="1" indent="0">
              <a:buNone/>
            </a:pPr>
            <a:endParaRPr lang="bg-BG" dirty="0"/>
          </a:p>
        </p:txBody>
      </p:sp>
      <p:sp>
        <p:nvSpPr>
          <p:cNvPr id="44441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dirty="0"/>
              <a:t>Съдържание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C4F38866-256D-4C40-92DC-446CA1ABF6AE}"/>
              </a:ext>
            </a:extLst>
          </p:cNvPr>
          <p:cNvSpPr txBox="1">
            <a:spLocks/>
          </p:cNvSpPr>
          <p:nvPr/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BF067CD-8E6B-4360-9AA8-C5DF2A48A6D1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1601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444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444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444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444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B18787-8E5D-4387-99CF-FB0C9C01EE76}"/>
              </a:ext>
            </a:extLst>
          </p:cNvPr>
          <p:cNvSpPr>
            <a:spLocks noGrp="1"/>
          </p:cNvSpPr>
          <p:nvPr>
            <p:ph type="title" sz="quarter" idx="10"/>
          </p:nvPr>
        </p:nvSpPr>
        <p:spPr/>
        <p:txBody>
          <a:bodyPr/>
          <a:lstStyle/>
          <a:p>
            <a:r>
              <a:rPr lang="bg-BG" dirty="0"/>
              <a:t>Преговор</a:t>
            </a:r>
          </a:p>
        </p:txBody>
      </p:sp>
      <p:pic>
        <p:nvPicPr>
          <p:cNvPr id="1026" name="Picture 2" descr="Ð¡Ð²ÑÑÐ·Ð°Ð½Ð¾ Ð¸Ð·Ð¾Ð±ÑÐ°Ð¶ÐµÐ½Ð¸Ðµ">
            <a:extLst>
              <a:ext uri="{FF2B5EF4-FFF2-40B4-BE49-F238E27FC236}">
                <a16:creationId xmlns:a16="http://schemas.microsoft.com/office/drawing/2014/main" id="{933A1FEE-0D74-4291-9197-45C891F6CF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7801" y="1385092"/>
            <a:ext cx="2285999" cy="2285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443784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0C63803-9C95-487B-B660-EDF01426E51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73100" y="2406650"/>
            <a:ext cx="3563416" cy="4075946"/>
          </a:xfrm>
        </p:spPr>
        <p:txBody>
          <a:bodyPr/>
          <a:lstStyle/>
          <a:p>
            <a:r>
              <a:rPr lang="en-US" dirty="0"/>
              <a:t>let a = 5;</a:t>
            </a:r>
          </a:p>
          <a:p>
            <a:r>
              <a:rPr lang="en-US" dirty="0"/>
              <a:t>switch (a){</a:t>
            </a:r>
          </a:p>
          <a:p>
            <a:r>
              <a:rPr lang="en-US" dirty="0"/>
              <a:t>  case 5:</a:t>
            </a:r>
          </a:p>
          <a:p>
            <a:r>
              <a:rPr lang="en-US" dirty="0"/>
              <a:t>  case 6:</a:t>
            </a:r>
          </a:p>
          <a:p>
            <a:r>
              <a:rPr lang="en-US" dirty="0"/>
              <a:t>    a = a + 1;</a:t>
            </a:r>
          </a:p>
          <a:p>
            <a:r>
              <a:rPr lang="en-US" dirty="0"/>
              <a:t>    break;</a:t>
            </a:r>
          </a:p>
          <a:p>
            <a:r>
              <a:rPr lang="en-US" dirty="0"/>
              <a:t>  default:</a:t>
            </a:r>
          </a:p>
          <a:p>
            <a:r>
              <a:rPr lang="en-US" dirty="0"/>
              <a:t>    a = a + 2;</a:t>
            </a:r>
          </a:p>
          <a:p>
            <a:r>
              <a:rPr lang="en-US" dirty="0"/>
              <a:t>    break;</a:t>
            </a:r>
          </a:p>
          <a:p>
            <a:r>
              <a:rPr lang="en-US" dirty="0"/>
              <a:t>}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5383082-8613-4F76-B9D3-514B71488D8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1. </a:t>
            </a:r>
            <a:r>
              <a:rPr lang="en-US" dirty="0" err="1"/>
              <a:t>Каква</a:t>
            </a:r>
            <a:r>
              <a:rPr lang="en-US" dirty="0"/>
              <a:t> </a:t>
            </a:r>
            <a:r>
              <a:rPr lang="en-US" dirty="0" err="1"/>
              <a:t>ще</a:t>
            </a:r>
            <a:r>
              <a:rPr lang="en-US" dirty="0"/>
              <a:t> е </a:t>
            </a:r>
            <a:r>
              <a:rPr lang="en-US" dirty="0" err="1"/>
              <a:t>стойността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променливата</a:t>
            </a:r>
            <a:r>
              <a:rPr lang="en-US" dirty="0"/>
              <a:t> </a:t>
            </a:r>
            <a:r>
              <a:rPr lang="en-US" b="1" dirty="0"/>
              <a:t>а</a:t>
            </a:r>
            <a:r>
              <a:rPr lang="en-US" dirty="0"/>
              <a:t> </a:t>
            </a:r>
            <a:r>
              <a:rPr lang="en-US" dirty="0" err="1"/>
              <a:t>след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 err="1"/>
              <a:t>изпълнението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следната</a:t>
            </a:r>
            <a:r>
              <a:rPr lang="en-US" dirty="0"/>
              <a:t> </a:t>
            </a:r>
            <a:r>
              <a:rPr lang="en-US" dirty="0" err="1"/>
              <a:t>програма</a:t>
            </a:r>
            <a:r>
              <a:rPr lang="en-US" dirty="0"/>
              <a:t>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4AB5DC8B-CE9B-4DBD-9057-F289D15D94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Преговор</a:t>
            </a:r>
            <a:endParaRPr lang="en-US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56C13EED-B490-48BB-B5E6-BD0EA6ACE9C4}"/>
              </a:ext>
            </a:extLst>
          </p:cNvPr>
          <p:cNvGrpSpPr/>
          <p:nvPr/>
        </p:nvGrpSpPr>
        <p:grpSpPr>
          <a:xfrm>
            <a:off x="8229600" y="2029131"/>
            <a:ext cx="2636906" cy="1927074"/>
            <a:chOff x="5209288" y="4647336"/>
            <a:chExt cx="3048000" cy="2438818"/>
          </a:xfrm>
          <a:solidFill>
            <a:schemeClr val="tx1"/>
          </a:solidFill>
        </p:grpSpPr>
        <p:sp>
          <p:nvSpPr>
            <p:cNvPr id="16" name="Speech Bubble: Oval 15">
              <a:extLst>
                <a:ext uri="{FF2B5EF4-FFF2-40B4-BE49-F238E27FC236}">
                  <a16:creationId xmlns:a16="http://schemas.microsoft.com/office/drawing/2014/main" id="{840CD16A-FA6A-4B07-B359-C42C1B083C6F}"/>
                </a:ext>
              </a:extLst>
            </p:cNvPr>
            <p:cNvSpPr/>
            <p:nvPr/>
          </p:nvSpPr>
          <p:spPr bwMode="auto">
            <a:xfrm>
              <a:off x="5209288" y="4647336"/>
              <a:ext cx="3048000" cy="2438818"/>
            </a:xfrm>
            <a:prstGeom prst="wedgeEllipseCallout">
              <a:avLst>
                <a:gd name="adj1" fmla="val -29974"/>
                <a:gd name="adj2" fmla="val 60507"/>
              </a:avLst>
            </a:prstGeom>
            <a:grpFill/>
            <a:ln w="190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001">
              <a:schemeClr val="dk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4858EFCE-0BDC-40B4-9587-9EA9CF824A7B}"/>
                </a:ext>
              </a:extLst>
            </p:cNvPr>
            <p:cNvSpPr txBox="1"/>
            <p:nvPr/>
          </p:nvSpPr>
          <p:spPr>
            <a:xfrm>
              <a:off x="5866634" y="5428780"/>
              <a:ext cx="1803158" cy="977144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144000" tIns="108000" rIns="144000" bIns="108000" rtlCol="0">
              <a:spAutoFit/>
            </a:bodyPr>
            <a:lstStyle>
              <a:defPPr>
                <a:defRPr lang="en-US"/>
              </a:defPPr>
              <a:lvl1pPr eaLnBrk="0" hangingPunct="0">
                <a:lnSpc>
                  <a:spcPct val="110000"/>
                </a:lnSpc>
                <a:buClr>
                  <a:schemeClr val="accent5">
                    <a:lumMod val="40000"/>
                    <a:lumOff val="60000"/>
                  </a:schemeClr>
                </a:buClr>
                <a:buSzPct val="70000"/>
                <a:defRPr sz="3600" b="1">
                  <a:solidFill>
                    <a:schemeClr val="bg2"/>
                  </a:solidFill>
                </a:defRPr>
              </a:lvl1pPr>
            </a:lstStyle>
            <a:p>
              <a:pPr lvl="1"/>
              <a:r>
                <a:rPr lang="bg-BG" sz="3600" b="1" dirty="0">
                  <a:solidFill>
                    <a:schemeClr val="bg2"/>
                  </a:solidFill>
                </a:rPr>
                <a:t>5</a:t>
              </a:r>
              <a:endParaRPr lang="en-US" sz="2800" b="1" dirty="0">
                <a:solidFill>
                  <a:schemeClr val="bg2"/>
                </a:solidFill>
              </a:endParaRP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AE6A1D6A-A1D4-4185-94E0-BD06FBFEA04C}"/>
              </a:ext>
            </a:extLst>
          </p:cNvPr>
          <p:cNvGrpSpPr/>
          <p:nvPr/>
        </p:nvGrpSpPr>
        <p:grpSpPr>
          <a:xfrm>
            <a:off x="8319196" y="4396431"/>
            <a:ext cx="2752636" cy="1139906"/>
            <a:chOff x="828202" y="1992406"/>
            <a:chExt cx="4160936" cy="1493675"/>
          </a:xfrm>
          <a:solidFill>
            <a:schemeClr val="tx1">
              <a:lumMod val="60000"/>
              <a:lumOff val="40000"/>
            </a:schemeClr>
          </a:solidFill>
        </p:grpSpPr>
        <p:sp>
          <p:nvSpPr>
            <p:cNvPr id="7" name="Speech Bubble: Rectangle with Corners Rounded 6">
              <a:extLst>
                <a:ext uri="{FF2B5EF4-FFF2-40B4-BE49-F238E27FC236}">
                  <a16:creationId xmlns:a16="http://schemas.microsoft.com/office/drawing/2014/main" id="{17181624-A5B5-4EAC-AF25-BF34A31DC0C9}"/>
                </a:ext>
              </a:extLst>
            </p:cNvPr>
            <p:cNvSpPr/>
            <p:nvPr/>
          </p:nvSpPr>
          <p:spPr bwMode="auto">
            <a:xfrm>
              <a:off x="874338" y="1992406"/>
              <a:ext cx="4114800" cy="1493675"/>
            </a:xfrm>
            <a:prstGeom prst="wedgeRoundRectCallout">
              <a:avLst>
                <a:gd name="adj1" fmla="val -33863"/>
                <a:gd name="adj2" fmla="val 71525"/>
                <a:gd name="adj3" fmla="val 16667"/>
              </a:avLst>
            </a:prstGeom>
            <a:grpFill/>
            <a:ln w="190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001">
              <a:schemeClr val="dk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491F519D-2770-4771-89D8-3A3F9FC93886}"/>
                </a:ext>
              </a:extLst>
            </p:cNvPr>
            <p:cNvSpPr txBox="1"/>
            <p:nvPr/>
          </p:nvSpPr>
          <p:spPr>
            <a:xfrm>
              <a:off x="828202" y="2223134"/>
              <a:ext cx="4070632" cy="1128685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144000" tIns="108000" rIns="144000" bIns="108000" rtlCol="0">
              <a:spAutoFit/>
            </a:bodyPr>
            <a:lstStyle>
              <a:defPPr>
                <a:defRPr lang="en-US"/>
              </a:defPPr>
              <a:lvl1pPr eaLnBrk="0" hangingPunct="0">
                <a:lnSpc>
                  <a:spcPct val="110000"/>
                </a:lnSpc>
                <a:buClr>
                  <a:schemeClr val="accent5">
                    <a:lumMod val="40000"/>
                    <a:lumOff val="60000"/>
                  </a:schemeClr>
                </a:buClr>
                <a:buSzPct val="70000"/>
                <a:defRPr sz="3600" b="1">
                  <a:solidFill>
                    <a:schemeClr val="bg2"/>
                  </a:solidFill>
                </a:defRPr>
              </a:lvl1pPr>
            </a:lstStyle>
            <a:p>
              <a:pPr algn="ctr"/>
              <a:r>
                <a:rPr lang="bg-BG" sz="4000" dirty="0"/>
                <a:t>7</a:t>
              </a:r>
              <a:endParaRPr lang="en-US" sz="4000" dirty="0"/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BF86B02D-4D4C-480C-AD46-CCEF1FA5684A}"/>
              </a:ext>
            </a:extLst>
          </p:cNvPr>
          <p:cNvGrpSpPr/>
          <p:nvPr/>
        </p:nvGrpSpPr>
        <p:grpSpPr>
          <a:xfrm>
            <a:off x="4943728" y="2895600"/>
            <a:ext cx="2636906" cy="1318666"/>
            <a:chOff x="8138855" y="2320388"/>
            <a:chExt cx="2993647" cy="1266985"/>
          </a:xfrm>
          <a:solidFill>
            <a:schemeClr val="tx1">
              <a:lumMod val="60000"/>
              <a:lumOff val="40000"/>
            </a:schemeClr>
          </a:solidFill>
        </p:grpSpPr>
        <p:sp>
          <p:nvSpPr>
            <p:cNvPr id="2" name="Speech Bubble: Rectangle with Corners Rounded 1">
              <a:extLst>
                <a:ext uri="{FF2B5EF4-FFF2-40B4-BE49-F238E27FC236}">
                  <a16:creationId xmlns:a16="http://schemas.microsoft.com/office/drawing/2014/main" id="{5929BF1E-D41C-4AE9-BE7D-7543AFD50F3C}"/>
                </a:ext>
              </a:extLst>
            </p:cNvPr>
            <p:cNvSpPr/>
            <p:nvPr/>
          </p:nvSpPr>
          <p:spPr bwMode="auto">
            <a:xfrm>
              <a:off x="8138855" y="2320388"/>
              <a:ext cx="2993647" cy="1266985"/>
            </a:xfrm>
            <a:prstGeom prst="wedgeRoundRectCallout">
              <a:avLst>
                <a:gd name="adj1" fmla="val 31465"/>
                <a:gd name="adj2" fmla="val 67258"/>
                <a:gd name="adj3" fmla="val 16667"/>
              </a:avLst>
            </a:prstGeom>
            <a:grpFill/>
            <a:ln w="190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001">
              <a:schemeClr val="dk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8A199862-28A4-4375-B144-E298EC356FA9}"/>
                </a:ext>
              </a:extLst>
            </p:cNvPr>
            <p:cNvSpPr txBox="1"/>
            <p:nvPr/>
          </p:nvSpPr>
          <p:spPr>
            <a:xfrm>
              <a:off x="9332463" y="2597068"/>
              <a:ext cx="940687" cy="765812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144000" tIns="108000" rIns="144000" bIns="108000" rtlCol="0">
              <a:spAutoFit/>
            </a:bodyPr>
            <a:lstStyle/>
            <a:p>
              <a:pPr algn="l" eaLnBrk="0" hangingPunct="0">
                <a:lnSpc>
                  <a:spcPct val="110000"/>
                </a:lnSpc>
                <a:buClr>
                  <a:schemeClr val="accent5">
                    <a:lumMod val="40000"/>
                    <a:lumOff val="60000"/>
                  </a:schemeClr>
                </a:buClr>
                <a:buSzPct val="70000"/>
              </a:pPr>
              <a:r>
                <a:rPr lang="bg-BG" sz="3600" b="1" dirty="0">
                  <a:solidFill>
                    <a:schemeClr val="bg2"/>
                  </a:solidFill>
                </a:rPr>
                <a:t>0</a:t>
              </a:r>
              <a:endParaRPr lang="en-US" sz="3600" b="1" dirty="0">
                <a:solidFill>
                  <a:schemeClr val="bg2"/>
                </a:solidFill>
              </a:endParaRP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A309E37-E2B9-414A-B29A-6FBF8B960C4F}"/>
              </a:ext>
            </a:extLst>
          </p:cNvPr>
          <p:cNvGrpSpPr/>
          <p:nvPr/>
        </p:nvGrpSpPr>
        <p:grpSpPr>
          <a:xfrm>
            <a:off x="5410201" y="4877004"/>
            <a:ext cx="2722115" cy="1318666"/>
            <a:chOff x="1039935" y="4225124"/>
            <a:chExt cx="5767434" cy="2021280"/>
          </a:xfrm>
          <a:solidFill>
            <a:schemeClr val="tx1"/>
          </a:solidFill>
        </p:grpSpPr>
        <p:sp>
          <p:nvSpPr>
            <p:cNvPr id="13" name="Speech Bubble: Rectangle with Corners Rounded 12">
              <a:extLst>
                <a:ext uri="{FF2B5EF4-FFF2-40B4-BE49-F238E27FC236}">
                  <a16:creationId xmlns:a16="http://schemas.microsoft.com/office/drawing/2014/main" id="{2F3C1CB8-FE31-49D8-8150-0025FF81669C}"/>
                </a:ext>
              </a:extLst>
            </p:cNvPr>
            <p:cNvSpPr/>
            <p:nvPr/>
          </p:nvSpPr>
          <p:spPr bwMode="auto">
            <a:xfrm>
              <a:off x="1039935" y="4225124"/>
              <a:ext cx="5767434" cy="2021280"/>
            </a:xfrm>
            <a:prstGeom prst="wedgeRoundRectCallout">
              <a:avLst>
                <a:gd name="adj1" fmla="val 33001"/>
                <a:gd name="adj2" fmla="val 69209"/>
                <a:gd name="adj3" fmla="val 16667"/>
              </a:avLst>
            </a:prstGeom>
            <a:grpFill/>
            <a:ln w="190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001">
              <a:schemeClr val="dk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F6988221-874E-4FF7-8580-CD3636623647}"/>
                </a:ext>
              </a:extLst>
            </p:cNvPr>
            <p:cNvSpPr txBox="1"/>
            <p:nvPr/>
          </p:nvSpPr>
          <p:spPr>
            <a:xfrm>
              <a:off x="1321226" y="4575607"/>
              <a:ext cx="5204849" cy="1320314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144000" tIns="108000" rIns="144000" bIns="108000" rtlCol="0">
              <a:spAutoFit/>
            </a:bodyPr>
            <a:lstStyle>
              <a:defPPr>
                <a:defRPr lang="en-US"/>
              </a:defPPr>
              <a:lvl1pPr eaLnBrk="0" hangingPunct="0">
                <a:lnSpc>
                  <a:spcPct val="110000"/>
                </a:lnSpc>
                <a:buClr>
                  <a:schemeClr val="accent5">
                    <a:lumMod val="40000"/>
                    <a:lumOff val="60000"/>
                  </a:schemeClr>
                </a:buClr>
                <a:buSzPct val="70000"/>
                <a:defRPr sz="3600" b="1">
                  <a:solidFill>
                    <a:schemeClr val="bg2"/>
                  </a:solidFill>
                </a:defRPr>
              </a:lvl1pPr>
            </a:lstStyle>
            <a:p>
              <a:pPr algn="ctr"/>
              <a:r>
                <a:rPr lang="bg-BG" sz="4000" dirty="0"/>
                <a:t>6</a:t>
              </a:r>
              <a:endParaRPr lang="en-US" sz="4000" dirty="0"/>
            </a:p>
          </p:txBody>
        </p:sp>
      </p:grpSp>
      <p:sp>
        <p:nvSpPr>
          <p:cNvPr id="18" name="Slide Number">
            <a:extLst>
              <a:ext uri="{FF2B5EF4-FFF2-40B4-BE49-F238E27FC236}">
                <a16:creationId xmlns:a16="http://schemas.microsoft.com/office/drawing/2014/main" id="{B95506B7-2555-4E31-BDE9-B9E429304C32}"/>
              </a:ext>
            </a:extLst>
          </p:cNvPr>
          <p:cNvSpPr txBox="1">
            <a:spLocks/>
          </p:cNvSpPr>
          <p:nvPr/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BF067CD-8E6B-4360-9AA8-C5DF2A48A6D1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17844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0C63803-9C95-487B-B660-EDF01426E51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577035" y="1784350"/>
            <a:ext cx="7163965" cy="975368"/>
          </a:xfrm>
        </p:spPr>
        <p:txBody>
          <a:bodyPr/>
          <a:lstStyle/>
          <a:p>
            <a:r>
              <a:rPr lang="en-US" dirty="0"/>
              <a:t>console.log(!(5 ==</a:t>
            </a:r>
            <a:r>
              <a:rPr lang="bg-BG" dirty="0"/>
              <a:t>=</a:t>
            </a:r>
            <a:r>
              <a:rPr lang="en-US" dirty="0"/>
              <a:t> 5) &amp;&amp; (4 + 1 =</a:t>
            </a:r>
            <a:r>
              <a:rPr lang="bg-BG" dirty="0"/>
              <a:t>=</a:t>
            </a:r>
            <a:r>
              <a:rPr lang="en-US" dirty="0"/>
              <a:t>= 5));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5383082-8613-4F76-B9D3-514B71488D8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451" y="1185254"/>
            <a:ext cx="11811097" cy="5561124"/>
          </a:xfrm>
        </p:spPr>
        <p:txBody>
          <a:bodyPr/>
          <a:lstStyle/>
          <a:p>
            <a:r>
              <a:rPr lang="en-US" dirty="0"/>
              <a:t>2. </a:t>
            </a:r>
            <a:r>
              <a:rPr lang="en-US" dirty="0" err="1"/>
              <a:t>Какво</a:t>
            </a:r>
            <a:r>
              <a:rPr lang="en-US" dirty="0"/>
              <a:t> </a:t>
            </a:r>
            <a:r>
              <a:rPr lang="en-US" dirty="0" err="1"/>
              <a:t>ще</a:t>
            </a:r>
            <a:r>
              <a:rPr lang="en-US" dirty="0"/>
              <a:t> </a:t>
            </a:r>
            <a:r>
              <a:rPr lang="en-US" dirty="0" err="1"/>
              <a:t>се</a:t>
            </a:r>
            <a:r>
              <a:rPr lang="en-US" dirty="0"/>
              <a:t> </a:t>
            </a:r>
            <a:r>
              <a:rPr lang="en-US" dirty="0" err="1"/>
              <a:t>отпечата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конзолата</a:t>
            </a:r>
            <a:r>
              <a:rPr lang="en-US" dirty="0"/>
              <a:t>, </a:t>
            </a:r>
            <a:r>
              <a:rPr lang="en-US" dirty="0" err="1"/>
              <a:t>ако</a:t>
            </a:r>
            <a:r>
              <a:rPr lang="en-US" dirty="0"/>
              <a:t> </a:t>
            </a:r>
            <a:r>
              <a:rPr lang="en-US" dirty="0" err="1"/>
              <a:t>изпълним</a:t>
            </a:r>
            <a:r>
              <a:rPr lang="en-US" dirty="0"/>
              <a:t> </a:t>
            </a:r>
            <a:r>
              <a:rPr lang="en-US" dirty="0" err="1"/>
              <a:t>следната</a:t>
            </a:r>
            <a:r>
              <a:rPr lang="en-US" dirty="0"/>
              <a:t> </a:t>
            </a:r>
            <a:r>
              <a:rPr lang="en-US" dirty="0" err="1"/>
              <a:t>команда</a:t>
            </a:r>
            <a:r>
              <a:rPr lang="en-US" dirty="0"/>
              <a:t>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4AB5DC8B-CE9B-4DBD-9057-F289D15D94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Преговор</a:t>
            </a:r>
            <a:endParaRPr lang="en-US" dirty="0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F82C3521-A3BA-47AF-BF9D-EA9ECCA11FE5}"/>
              </a:ext>
            </a:extLst>
          </p:cNvPr>
          <p:cNvGrpSpPr/>
          <p:nvPr/>
        </p:nvGrpSpPr>
        <p:grpSpPr>
          <a:xfrm>
            <a:off x="530492" y="4449310"/>
            <a:ext cx="3250647" cy="1729686"/>
            <a:chOff x="1022647" y="3317410"/>
            <a:chExt cx="4114800" cy="1493675"/>
          </a:xfrm>
          <a:solidFill>
            <a:schemeClr val="tx1">
              <a:lumMod val="60000"/>
              <a:lumOff val="40000"/>
            </a:schemeClr>
          </a:solidFill>
        </p:grpSpPr>
        <p:sp>
          <p:nvSpPr>
            <p:cNvPr id="24" name="Speech Bubble: Rectangle with Corners Rounded 23">
              <a:extLst>
                <a:ext uri="{FF2B5EF4-FFF2-40B4-BE49-F238E27FC236}">
                  <a16:creationId xmlns:a16="http://schemas.microsoft.com/office/drawing/2014/main" id="{65852AE0-9E74-4CC9-AF4D-AD4BE0EFE486}"/>
                </a:ext>
              </a:extLst>
            </p:cNvPr>
            <p:cNvSpPr/>
            <p:nvPr/>
          </p:nvSpPr>
          <p:spPr bwMode="auto">
            <a:xfrm>
              <a:off x="1022647" y="3317410"/>
              <a:ext cx="4114800" cy="1493675"/>
            </a:xfrm>
            <a:prstGeom prst="wedgeRoundRectCallout">
              <a:avLst>
                <a:gd name="adj1" fmla="val 37419"/>
                <a:gd name="adj2" fmla="val 64754"/>
                <a:gd name="adj3" fmla="val 16667"/>
              </a:avLst>
            </a:prstGeom>
            <a:grpFill/>
            <a:ln w="190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001">
              <a:schemeClr val="dk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11A52449-8F4C-4DCD-A5CF-8F60742401D2}"/>
                </a:ext>
              </a:extLst>
            </p:cNvPr>
            <p:cNvSpPr txBox="1"/>
            <p:nvPr/>
          </p:nvSpPr>
          <p:spPr>
            <a:xfrm>
              <a:off x="1454704" y="3468563"/>
              <a:ext cx="3153816" cy="1257881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144000" tIns="108000" rIns="144000" bIns="108000" rtlCol="0">
              <a:spAutoFit/>
            </a:bodyPr>
            <a:lstStyle>
              <a:defPPr>
                <a:defRPr lang="en-US"/>
              </a:defPPr>
              <a:lvl1pPr eaLnBrk="0" hangingPunct="0">
                <a:lnSpc>
                  <a:spcPct val="110000"/>
                </a:lnSpc>
                <a:buClr>
                  <a:schemeClr val="accent5">
                    <a:lumMod val="40000"/>
                    <a:lumOff val="60000"/>
                  </a:schemeClr>
                </a:buClr>
                <a:buSzPct val="70000"/>
                <a:defRPr sz="3600" b="1">
                  <a:solidFill>
                    <a:schemeClr val="bg2"/>
                  </a:solidFill>
                </a:defRPr>
              </a:lvl1pPr>
            </a:lstStyle>
            <a:p>
              <a:pPr algn="ctr"/>
              <a:r>
                <a:rPr lang="en-US" dirty="0"/>
                <a:t>Runtime error</a:t>
              </a: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E526640B-ABDF-4FCE-88D7-9AAC6C0FEA88}"/>
              </a:ext>
            </a:extLst>
          </p:cNvPr>
          <p:cNvGrpSpPr/>
          <p:nvPr/>
        </p:nvGrpSpPr>
        <p:grpSpPr>
          <a:xfrm>
            <a:off x="7601930" y="4584874"/>
            <a:ext cx="3804561" cy="1673707"/>
            <a:chOff x="1051483" y="4124632"/>
            <a:chExt cx="4114800" cy="1493675"/>
          </a:xfrm>
          <a:solidFill>
            <a:schemeClr val="tx1"/>
          </a:solidFill>
        </p:grpSpPr>
        <p:sp>
          <p:nvSpPr>
            <p:cNvPr id="29" name="Speech Bubble: Rectangle with Corners Rounded 28">
              <a:extLst>
                <a:ext uri="{FF2B5EF4-FFF2-40B4-BE49-F238E27FC236}">
                  <a16:creationId xmlns:a16="http://schemas.microsoft.com/office/drawing/2014/main" id="{38386E56-6AC7-4E60-B358-3537BB179600}"/>
                </a:ext>
              </a:extLst>
            </p:cNvPr>
            <p:cNvSpPr/>
            <p:nvPr/>
          </p:nvSpPr>
          <p:spPr bwMode="auto">
            <a:xfrm>
              <a:off x="1051483" y="4124632"/>
              <a:ext cx="4114800" cy="1493675"/>
            </a:xfrm>
            <a:prstGeom prst="wedgeRoundRectCallout">
              <a:avLst>
                <a:gd name="adj1" fmla="val -42026"/>
                <a:gd name="adj2" fmla="val 65843"/>
                <a:gd name="adj3" fmla="val 16667"/>
              </a:avLst>
            </a:prstGeom>
            <a:grpFill/>
            <a:ln w="190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001">
              <a:schemeClr val="dk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A0154C5A-3C28-4971-B49F-F5F5726A331A}"/>
                </a:ext>
              </a:extLst>
            </p:cNvPr>
            <p:cNvSpPr txBox="1"/>
            <p:nvPr/>
          </p:nvSpPr>
          <p:spPr>
            <a:xfrm>
              <a:off x="1365255" y="4307762"/>
              <a:ext cx="3515718" cy="1255164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144000" tIns="108000" rIns="144000" bIns="108000" rtlCol="0">
              <a:spAutoFit/>
            </a:bodyPr>
            <a:lstStyle>
              <a:defPPr>
                <a:defRPr lang="en-US"/>
              </a:defPPr>
              <a:lvl1pPr eaLnBrk="0" hangingPunct="0">
                <a:lnSpc>
                  <a:spcPct val="110000"/>
                </a:lnSpc>
                <a:buClr>
                  <a:schemeClr val="accent5">
                    <a:lumMod val="40000"/>
                    <a:lumOff val="60000"/>
                  </a:schemeClr>
                </a:buClr>
                <a:buSzPct val="70000"/>
                <a:defRPr sz="3600" b="1">
                  <a:solidFill>
                    <a:schemeClr val="bg2"/>
                  </a:solidFill>
                </a:defRPr>
              </a:lvl1pPr>
            </a:lstStyle>
            <a:p>
              <a:pPr algn="ctr"/>
              <a:r>
                <a:rPr lang="en-US" dirty="0"/>
                <a:t>Compile time error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1509E396-D65F-41DC-9F88-F93378AEB206}"/>
              </a:ext>
            </a:extLst>
          </p:cNvPr>
          <p:cNvGrpSpPr/>
          <p:nvPr/>
        </p:nvGrpSpPr>
        <p:grpSpPr>
          <a:xfrm>
            <a:off x="2653955" y="3008509"/>
            <a:ext cx="2931372" cy="2344154"/>
            <a:chOff x="5383671" y="4398726"/>
            <a:chExt cx="3048000" cy="2438818"/>
          </a:xfrm>
          <a:solidFill>
            <a:schemeClr val="tx1"/>
          </a:solidFill>
        </p:grpSpPr>
        <p:sp>
          <p:nvSpPr>
            <p:cNvPr id="22" name="Speech Bubble: Oval 21">
              <a:extLst>
                <a:ext uri="{FF2B5EF4-FFF2-40B4-BE49-F238E27FC236}">
                  <a16:creationId xmlns:a16="http://schemas.microsoft.com/office/drawing/2014/main" id="{90F8F129-FD09-4084-826F-461572C4BC0A}"/>
                </a:ext>
              </a:extLst>
            </p:cNvPr>
            <p:cNvSpPr/>
            <p:nvPr/>
          </p:nvSpPr>
          <p:spPr bwMode="auto">
            <a:xfrm>
              <a:off x="5383671" y="4398726"/>
              <a:ext cx="3048000" cy="2438818"/>
            </a:xfrm>
            <a:prstGeom prst="wedgeEllipseCallout">
              <a:avLst>
                <a:gd name="adj1" fmla="val 31199"/>
                <a:gd name="adj2" fmla="val 60372"/>
              </a:avLst>
            </a:prstGeom>
            <a:grpFill/>
            <a:ln w="190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001">
              <a:schemeClr val="dk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12CE9A96-0384-4423-8AAF-67B3C123036A}"/>
                </a:ext>
              </a:extLst>
            </p:cNvPr>
            <p:cNvSpPr txBox="1"/>
            <p:nvPr/>
          </p:nvSpPr>
          <p:spPr>
            <a:xfrm>
              <a:off x="5819804" y="5159913"/>
              <a:ext cx="2337722" cy="867329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144000" tIns="108000" rIns="144000" bIns="108000" rtlCol="0">
              <a:spAutoFit/>
            </a:bodyPr>
            <a:lstStyle>
              <a:defPPr>
                <a:defRPr lang="en-US"/>
              </a:defPPr>
              <a:lvl1pPr eaLnBrk="0" hangingPunct="0">
                <a:lnSpc>
                  <a:spcPct val="110000"/>
                </a:lnSpc>
                <a:buClr>
                  <a:schemeClr val="accent5">
                    <a:lumMod val="40000"/>
                    <a:lumOff val="60000"/>
                  </a:schemeClr>
                </a:buClr>
                <a:buSzPct val="70000"/>
                <a:defRPr sz="3600" b="1">
                  <a:solidFill>
                    <a:schemeClr val="bg2"/>
                  </a:solidFill>
                </a:defRPr>
              </a:lvl1pPr>
            </a:lstStyle>
            <a:p>
              <a:pPr lvl="1"/>
              <a:r>
                <a:rPr lang="en-US" sz="4000" b="1" dirty="0">
                  <a:solidFill>
                    <a:schemeClr val="bg2"/>
                  </a:solidFill>
                </a:rPr>
                <a:t>True</a:t>
              </a:r>
              <a:endParaRPr lang="en-US" sz="3600" b="1" dirty="0">
                <a:solidFill>
                  <a:schemeClr val="bg2"/>
                </a:solidFill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6FBE0A13-936B-4B5E-B42D-9A84F05A242C}"/>
              </a:ext>
            </a:extLst>
          </p:cNvPr>
          <p:cNvGrpSpPr/>
          <p:nvPr/>
        </p:nvGrpSpPr>
        <p:grpSpPr>
          <a:xfrm>
            <a:off x="5486756" y="3102512"/>
            <a:ext cx="3086935" cy="2429836"/>
            <a:chOff x="8179623" y="2362198"/>
            <a:chExt cx="3048000" cy="2133600"/>
          </a:xfrm>
          <a:solidFill>
            <a:schemeClr val="tx1">
              <a:lumMod val="60000"/>
              <a:lumOff val="40000"/>
            </a:schemeClr>
          </a:solidFill>
        </p:grpSpPr>
        <p:sp>
          <p:nvSpPr>
            <p:cNvPr id="18" name="Speech Bubble: Oval 17">
              <a:extLst>
                <a:ext uri="{FF2B5EF4-FFF2-40B4-BE49-F238E27FC236}">
                  <a16:creationId xmlns:a16="http://schemas.microsoft.com/office/drawing/2014/main" id="{ADCF6939-8ED6-4118-85B1-4F662F6E9365}"/>
                </a:ext>
              </a:extLst>
            </p:cNvPr>
            <p:cNvSpPr/>
            <p:nvPr/>
          </p:nvSpPr>
          <p:spPr bwMode="auto">
            <a:xfrm>
              <a:off x="8179623" y="2362198"/>
              <a:ext cx="3048000" cy="2133600"/>
            </a:xfrm>
            <a:prstGeom prst="wedgeEllipseCallout">
              <a:avLst>
                <a:gd name="adj1" fmla="val -39259"/>
                <a:gd name="adj2" fmla="val 50815"/>
              </a:avLst>
            </a:prstGeom>
            <a:grpFill/>
            <a:ln w="190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001">
              <a:schemeClr val="dk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B6BE5BAB-F2D8-4EAE-A78E-957443B4BF6B}"/>
                </a:ext>
              </a:extLst>
            </p:cNvPr>
            <p:cNvSpPr txBox="1"/>
            <p:nvPr/>
          </p:nvSpPr>
          <p:spPr>
            <a:xfrm>
              <a:off x="9013711" y="3053153"/>
              <a:ext cx="1777668" cy="772483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144000" tIns="108000" rIns="144000" bIns="108000" rtlCol="0">
              <a:spAutoFit/>
            </a:bodyPr>
            <a:lstStyle/>
            <a:p>
              <a:pPr algn="l" eaLnBrk="0" hangingPunct="0">
                <a:lnSpc>
                  <a:spcPct val="110000"/>
                </a:lnSpc>
                <a:buClr>
                  <a:schemeClr val="accent5">
                    <a:lumMod val="40000"/>
                    <a:lumOff val="60000"/>
                  </a:schemeClr>
                </a:buClr>
                <a:buSzPct val="70000"/>
              </a:pPr>
              <a:r>
                <a:rPr lang="en-US" sz="4000" b="1" dirty="0">
                  <a:solidFill>
                    <a:schemeClr val="bg2"/>
                  </a:solidFill>
                </a:rPr>
                <a:t>False</a:t>
              </a:r>
              <a:endParaRPr lang="en-US" b="1" dirty="0">
                <a:solidFill>
                  <a:schemeClr val="bg2"/>
                </a:solidFill>
              </a:endParaRPr>
            </a:p>
          </p:txBody>
        </p:sp>
      </p:grpSp>
      <p:sp>
        <p:nvSpPr>
          <p:cNvPr id="17" name="Slide Number">
            <a:extLst>
              <a:ext uri="{FF2B5EF4-FFF2-40B4-BE49-F238E27FC236}">
                <a16:creationId xmlns:a16="http://schemas.microsoft.com/office/drawing/2014/main" id="{F02645B7-F87B-459C-886E-AC6E3CA44EBD}"/>
              </a:ext>
            </a:extLst>
          </p:cNvPr>
          <p:cNvSpPr txBox="1">
            <a:spLocks/>
          </p:cNvSpPr>
          <p:nvPr/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BF067CD-8E6B-4360-9AA8-C5DF2A48A6D1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24841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0C63803-9C95-487B-B660-EDF01426E51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584450" y="1784350"/>
            <a:ext cx="6541565" cy="587891"/>
          </a:xfrm>
        </p:spPr>
        <p:txBody>
          <a:bodyPr/>
          <a:lstStyle/>
          <a:p>
            <a:r>
              <a:rPr lang="en-US" dirty="0"/>
              <a:t>console.log(!(3 =</a:t>
            </a:r>
            <a:r>
              <a:rPr lang="bg-BG" dirty="0"/>
              <a:t>=</a:t>
            </a:r>
            <a:r>
              <a:rPr lang="en-US" dirty="0"/>
              <a:t>= 3) || (3 =</a:t>
            </a:r>
            <a:r>
              <a:rPr lang="bg-BG" dirty="0"/>
              <a:t>=</a:t>
            </a:r>
            <a:r>
              <a:rPr lang="en-US" dirty="0"/>
              <a:t>= 5));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5383082-8613-4F76-B9D3-514B71488D8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556" y="1141978"/>
            <a:ext cx="11811097" cy="5561124"/>
          </a:xfrm>
        </p:spPr>
        <p:txBody>
          <a:bodyPr/>
          <a:lstStyle/>
          <a:p>
            <a:r>
              <a:rPr lang="bg-BG" dirty="0"/>
              <a:t>3. Какво ще се отпечата на конзолата, ако изпълним следната                 команда:</a:t>
            </a:r>
          </a:p>
          <a:p>
            <a:endParaRPr lang="bg-BG" dirty="0"/>
          </a:p>
          <a:p>
            <a:endParaRPr lang="bg-BG" dirty="0"/>
          </a:p>
          <a:p>
            <a:endParaRPr lang="bg-BG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4AB5DC8B-CE9B-4DBD-9057-F289D15D94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Преговор</a:t>
            </a:r>
            <a:endParaRPr 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A309E37-E2B9-414A-B29A-6FBF8B960C4F}"/>
              </a:ext>
            </a:extLst>
          </p:cNvPr>
          <p:cNvGrpSpPr/>
          <p:nvPr/>
        </p:nvGrpSpPr>
        <p:grpSpPr>
          <a:xfrm>
            <a:off x="7315200" y="4346317"/>
            <a:ext cx="3893324" cy="2023447"/>
            <a:chOff x="1047229" y="4098002"/>
            <a:chExt cx="4114800" cy="1493675"/>
          </a:xfrm>
          <a:solidFill>
            <a:schemeClr val="tx1"/>
          </a:solidFill>
        </p:grpSpPr>
        <p:sp>
          <p:nvSpPr>
            <p:cNvPr id="13" name="Speech Bubble: Rectangle with Corners Rounded 12">
              <a:extLst>
                <a:ext uri="{FF2B5EF4-FFF2-40B4-BE49-F238E27FC236}">
                  <a16:creationId xmlns:a16="http://schemas.microsoft.com/office/drawing/2014/main" id="{2F3C1CB8-FE31-49D8-8150-0025FF81669C}"/>
                </a:ext>
              </a:extLst>
            </p:cNvPr>
            <p:cNvSpPr/>
            <p:nvPr/>
          </p:nvSpPr>
          <p:spPr bwMode="auto">
            <a:xfrm>
              <a:off x="1047229" y="4098002"/>
              <a:ext cx="4114800" cy="1493675"/>
            </a:xfrm>
            <a:prstGeom prst="wedgeRoundRectCallout">
              <a:avLst>
                <a:gd name="adj1" fmla="val -42026"/>
                <a:gd name="adj2" fmla="val 65843"/>
                <a:gd name="adj3" fmla="val 16667"/>
              </a:avLst>
            </a:prstGeom>
            <a:grpFill/>
            <a:ln w="190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001">
              <a:schemeClr val="dk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F6988221-874E-4FF7-8580-CD3636623647}"/>
                </a:ext>
              </a:extLst>
            </p:cNvPr>
            <p:cNvSpPr txBox="1"/>
            <p:nvPr/>
          </p:nvSpPr>
          <p:spPr>
            <a:xfrm>
              <a:off x="1365254" y="4307762"/>
              <a:ext cx="3515718" cy="1135674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144000" tIns="108000" rIns="144000" bIns="108000" rtlCol="0">
              <a:spAutoFit/>
            </a:bodyPr>
            <a:lstStyle>
              <a:defPPr>
                <a:defRPr lang="en-US"/>
              </a:defPPr>
              <a:lvl1pPr eaLnBrk="0" hangingPunct="0">
                <a:lnSpc>
                  <a:spcPct val="110000"/>
                </a:lnSpc>
                <a:buClr>
                  <a:schemeClr val="accent5">
                    <a:lumMod val="40000"/>
                    <a:lumOff val="60000"/>
                  </a:schemeClr>
                </a:buClr>
                <a:buSzPct val="70000"/>
                <a:defRPr sz="3600" b="1">
                  <a:solidFill>
                    <a:schemeClr val="bg2"/>
                  </a:solidFill>
                </a:defRPr>
              </a:lvl1pPr>
            </a:lstStyle>
            <a:p>
              <a:pPr algn="ctr"/>
              <a:r>
                <a:rPr lang="en-US" sz="4000" dirty="0"/>
                <a:t>Compile time error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56C13EED-B490-48BB-B5E6-BD0EA6ACE9C4}"/>
              </a:ext>
            </a:extLst>
          </p:cNvPr>
          <p:cNvGrpSpPr/>
          <p:nvPr/>
        </p:nvGrpSpPr>
        <p:grpSpPr>
          <a:xfrm>
            <a:off x="803920" y="3759540"/>
            <a:ext cx="3008540" cy="2720441"/>
            <a:chOff x="5541569" y="4570824"/>
            <a:chExt cx="3048000" cy="2438818"/>
          </a:xfrm>
          <a:solidFill>
            <a:schemeClr val="tx1">
              <a:lumMod val="60000"/>
              <a:lumOff val="40000"/>
            </a:schemeClr>
          </a:solidFill>
        </p:grpSpPr>
        <p:sp>
          <p:nvSpPr>
            <p:cNvPr id="16" name="Speech Bubble: Oval 15">
              <a:extLst>
                <a:ext uri="{FF2B5EF4-FFF2-40B4-BE49-F238E27FC236}">
                  <a16:creationId xmlns:a16="http://schemas.microsoft.com/office/drawing/2014/main" id="{840CD16A-FA6A-4B07-B359-C42C1B083C6F}"/>
                </a:ext>
              </a:extLst>
            </p:cNvPr>
            <p:cNvSpPr/>
            <p:nvPr/>
          </p:nvSpPr>
          <p:spPr bwMode="auto">
            <a:xfrm>
              <a:off x="5541569" y="4570824"/>
              <a:ext cx="3048000" cy="2438818"/>
            </a:xfrm>
            <a:prstGeom prst="wedgeEllipseCallout">
              <a:avLst>
                <a:gd name="adj1" fmla="val 46396"/>
                <a:gd name="adj2" fmla="val 51383"/>
              </a:avLst>
            </a:prstGeom>
            <a:grpFill/>
            <a:ln w="190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001">
              <a:schemeClr val="dk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4858EFCE-0BDC-40B4-9587-9EA9CF824A7B}"/>
                </a:ext>
              </a:extLst>
            </p:cNvPr>
            <p:cNvSpPr txBox="1"/>
            <p:nvPr/>
          </p:nvSpPr>
          <p:spPr>
            <a:xfrm>
              <a:off x="5765887" y="5387729"/>
              <a:ext cx="2337722" cy="802544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144000" tIns="108000" rIns="144000" bIns="108000" rtlCol="0">
              <a:spAutoFit/>
            </a:bodyPr>
            <a:lstStyle>
              <a:defPPr>
                <a:defRPr lang="en-US"/>
              </a:defPPr>
              <a:lvl1pPr eaLnBrk="0" hangingPunct="0">
                <a:lnSpc>
                  <a:spcPct val="110000"/>
                </a:lnSpc>
                <a:buClr>
                  <a:schemeClr val="accent5">
                    <a:lumMod val="40000"/>
                    <a:lumOff val="60000"/>
                  </a:schemeClr>
                </a:buClr>
                <a:buSzPct val="70000"/>
                <a:defRPr sz="3600" b="1">
                  <a:solidFill>
                    <a:schemeClr val="bg2"/>
                  </a:solidFill>
                </a:defRPr>
              </a:lvl1pPr>
            </a:lstStyle>
            <a:p>
              <a:pPr lvl="1"/>
              <a:r>
                <a:rPr lang="en-US" sz="4400" b="1" dirty="0">
                  <a:solidFill>
                    <a:schemeClr val="bg2"/>
                  </a:solidFill>
                </a:rPr>
                <a:t>True</a:t>
              </a:r>
              <a:endParaRPr lang="en-US" sz="3600" b="1" dirty="0">
                <a:solidFill>
                  <a:schemeClr val="bg2"/>
                </a:solidFill>
              </a:endParaRP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AE6A1D6A-A1D4-4185-94E0-BD06FBFEA04C}"/>
              </a:ext>
            </a:extLst>
          </p:cNvPr>
          <p:cNvGrpSpPr/>
          <p:nvPr/>
        </p:nvGrpSpPr>
        <p:grpSpPr>
          <a:xfrm>
            <a:off x="2544267" y="2953652"/>
            <a:ext cx="3530995" cy="2023447"/>
            <a:chOff x="1063130" y="3246971"/>
            <a:chExt cx="4114800" cy="1493675"/>
          </a:xfrm>
          <a:solidFill>
            <a:schemeClr val="tx1"/>
          </a:solidFill>
        </p:grpSpPr>
        <p:sp>
          <p:nvSpPr>
            <p:cNvPr id="7" name="Speech Bubble: Rectangle with Corners Rounded 6">
              <a:extLst>
                <a:ext uri="{FF2B5EF4-FFF2-40B4-BE49-F238E27FC236}">
                  <a16:creationId xmlns:a16="http://schemas.microsoft.com/office/drawing/2014/main" id="{17181624-A5B5-4EAC-AF25-BF34A31DC0C9}"/>
                </a:ext>
              </a:extLst>
            </p:cNvPr>
            <p:cNvSpPr/>
            <p:nvPr/>
          </p:nvSpPr>
          <p:spPr bwMode="auto">
            <a:xfrm>
              <a:off x="1063130" y="3246971"/>
              <a:ext cx="4114800" cy="1493675"/>
            </a:xfrm>
            <a:prstGeom prst="wedgeRoundRectCallout">
              <a:avLst>
                <a:gd name="adj1" fmla="val 11732"/>
                <a:gd name="adj2" fmla="val 82599"/>
                <a:gd name="adj3" fmla="val 16667"/>
              </a:avLst>
            </a:prstGeom>
            <a:grpFill/>
            <a:ln w="190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001">
              <a:schemeClr val="dk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491F519D-2770-4771-89D8-3A3F9FC93886}"/>
                </a:ext>
              </a:extLst>
            </p:cNvPr>
            <p:cNvSpPr txBox="1"/>
            <p:nvPr/>
          </p:nvSpPr>
          <p:spPr>
            <a:xfrm>
              <a:off x="1503138" y="3394352"/>
              <a:ext cx="3153816" cy="1135674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144000" tIns="108000" rIns="144000" bIns="108000" rtlCol="0">
              <a:spAutoFit/>
            </a:bodyPr>
            <a:lstStyle>
              <a:defPPr>
                <a:defRPr lang="en-US"/>
              </a:defPPr>
              <a:lvl1pPr eaLnBrk="0" hangingPunct="0">
                <a:lnSpc>
                  <a:spcPct val="110000"/>
                </a:lnSpc>
                <a:buClr>
                  <a:schemeClr val="accent5">
                    <a:lumMod val="40000"/>
                    <a:lumOff val="60000"/>
                  </a:schemeClr>
                </a:buClr>
                <a:buSzPct val="70000"/>
                <a:defRPr sz="3600" b="1">
                  <a:solidFill>
                    <a:schemeClr val="bg2"/>
                  </a:solidFill>
                </a:defRPr>
              </a:lvl1pPr>
            </a:lstStyle>
            <a:p>
              <a:pPr algn="ctr"/>
              <a:r>
                <a:rPr lang="en-US" sz="4000" dirty="0"/>
                <a:t>Runtime error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5B8BB7FC-6F0C-4A28-8913-7C5160408401}"/>
              </a:ext>
            </a:extLst>
          </p:cNvPr>
          <p:cNvGrpSpPr/>
          <p:nvPr/>
        </p:nvGrpSpPr>
        <p:grpSpPr>
          <a:xfrm>
            <a:off x="5429290" y="2652938"/>
            <a:ext cx="2877700" cy="2501581"/>
            <a:chOff x="8273212" y="2372594"/>
            <a:chExt cx="3048000" cy="2133600"/>
          </a:xfrm>
          <a:solidFill>
            <a:schemeClr val="tx1">
              <a:lumMod val="60000"/>
              <a:lumOff val="40000"/>
            </a:schemeClr>
          </a:solidFill>
        </p:grpSpPr>
        <p:sp>
          <p:nvSpPr>
            <p:cNvPr id="19" name="Speech Bubble: Oval 18">
              <a:extLst>
                <a:ext uri="{FF2B5EF4-FFF2-40B4-BE49-F238E27FC236}">
                  <a16:creationId xmlns:a16="http://schemas.microsoft.com/office/drawing/2014/main" id="{AA3689B5-A398-4CA8-9087-F65690EDE2BC}"/>
                </a:ext>
              </a:extLst>
            </p:cNvPr>
            <p:cNvSpPr/>
            <p:nvPr/>
          </p:nvSpPr>
          <p:spPr bwMode="auto">
            <a:xfrm>
              <a:off x="8273212" y="2372594"/>
              <a:ext cx="3048000" cy="2133600"/>
            </a:xfrm>
            <a:prstGeom prst="wedgeEllipseCallout">
              <a:avLst>
                <a:gd name="adj1" fmla="val -8754"/>
                <a:gd name="adj2" fmla="val 66116"/>
              </a:avLst>
            </a:prstGeom>
            <a:grpFill/>
            <a:ln w="190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001">
              <a:schemeClr val="dk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1A6CA757-0AA2-4AA5-A66D-2164B1D43D2B}"/>
                </a:ext>
              </a:extLst>
            </p:cNvPr>
            <p:cNvSpPr txBox="1"/>
            <p:nvPr/>
          </p:nvSpPr>
          <p:spPr>
            <a:xfrm>
              <a:off x="9023081" y="3060684"/>
              <a:ext cx="1777668" cy="789509"/>
            </a:xfrm>
            <a:prstGeom prst="rect">
              <a:avLst/>
            </a:prstGeom>
            <a:grpFill/>
            <a:ln w="12700">
              <a:noFill/>
            </a:ln>
          </p:spPr>
          <p:txBody>
            <a:bodyPr vert="horz" wrap="square" lIns="144000" tIns="108000" rIns="144000" bIns="108000" rtlCol="0">
              <a:spAutoFit/>
            </a:bodyPr>
            <a:lstStyle/>
            <a:p>
              <a:pPr algn="l" eaLnBrk="0" hangingPunct="0">
                <a:lnSpc>
                  <a:spcPct val="110000"/>
                </a:lnSpc>
                <a:buClr>
                  <a:schemeClr val="accent5">
                    <a:lumMod val="40000"/>
                    <a:lumOff val="60000"/>
                  </a:schemeClr>
                </a:buClr>
                <a:buSzPct val="70000"/>
              </a:pPr>
              <a:r>
                <a:rPr lang="en-US" sz="4400" b="1" dirty="0">
                  <a:solidFill>
                    <a:schemeClr val="bg2"/>
                  </a:solidFill>
                </a:rPr>
                <a:t>False</a:t>
              </a:r>
              <a:endParaRPr lang="en-US" b="1" dirty="0">
                <a:solidFill>
                  <a:schemeClr val="bg2"/>
                </a:solidFill>
              </a:endParaRPr>
            </a:p>
          </p:txBody>
        </p:sp>
      </p:grpSp>
      <p:sp>
        <p:nvSpPr>
          <p:cNvPr id="21" name="Slide Number">
            <a:extLst>
              <a:ext uri="{FF2B5EF4-FFF2-40B4-BE49-F238E27FC236}">
                <a16:creationId xmlns:a16="http://schemas.microsoft.com/office/drawing/2014/main" id="{832980DA-0758-4F4A-B9A8-B9C91DD27FF1}"/>
              </a:ext>
            </a:extLst>
          </p:cNvPr>
          <p:cNvSpPr txBox="1">
            <a:spLocks/>
          </p:cNvSpPr>
          <p:nvPr/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BF067CD-8E6B-4360-9AA8-C5DF2A48A6D1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60622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5383082-8613-4F76-B9D3-514B71488D8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4. </a:t>
            </a:r>
            <a:r>
              <a:rPr lang="en-US" dirty="0" err="1"/>
              <a:t>Какво</a:t>
            </a:r>
            <a:r>
              <a:rPr lang="en-US" dirty="0"/>
              <a:t> </a:t>
            </a:r>
            <a:r>
              <a:rPr lang="en-US" dirty="0" err="1"/>
              <a:t>ще</a:t>
            </a:r>
            <a:r>
              <a:rPr lang="en-US" dirty="0"/>
              <a:t> </a:t>
            </a:r>
            <a:r>
              <a:rPr lang="en-US" dirty="0" err="1"/>
              <a:t>се</a:t>
            </a:r>
            <a:r>
              <a:rPr lang="en-US" dirty="0"/>
              <a:t> </a:t>
            </a:r>
            <a:r>
              <a:rPr lang="en-US" dirty="0" err="1"/>
              <a:t>отпечата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конзолата</a:t>
            </a:r>
            <a:r>
              <a:rPr lang="en-US" dirty="0"/>
              <a:t>, </a:t>
            </a:r>
            <a:r>
              <a:rPr lang="en-US" dirty="0" err="1"/>
              <a:t>ако</a:t>
            </a:r>
            <a:r>
              <a:rPr lang="en-US" dirty="0"/>
              <a:t> </a:t>
            </a:r>
            <a:r>
              <a:rPr lang="en-US" dirty="0" err="1"/>
              <a:t>изпълним</a:t>
            </a:r>
            <a:r>
              <a:rPr lang="en-US" dirty="0"/>
              <a:t> </a:t>
            </a:r>
            <a:r>
              <a:rPr lang="en-US" dirty="0" err="1"/>
              <a:t>следната</a:t>
            </a:r>
            <a:r>
              <a:rPr lang="en-US" dirty="0"/>
              <a:t>    </a:t>
            </a:r>
            <a:r>
              <a:rPr lang="en-US" dirty="0" err="1"/>
              <a:t>проверка</a:t>
            </a:r>
            <a:r>
              <a:rPr lang="en-US" dirty="0"/>
              <a:t>:</a:t>
            </a:r>
          </a:p>
          <a:p>
            <a:pPr marL="514350" indent="-514350">
              <a:buAutoNum type="arabicPeriod" startAt="3"/>
            </a:pPr>
            <a:endParaRPr lang="en-US" dirty="0"/>
          </a:p>
          <a:p>
            <a:pPr marL="514350" indent="-514350">
              <a:buFont typeface="+mj-lt"/>
              <a:buAutoNum type="arabicPeriod" startAt="3"/>
            </a:pPr>
            <a:endParaRPr lang="en-US" dirty="0"/>
          </a:p>
          <a:p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0C63803-9C95-487B-B660-EDF01426E51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584450" y="1784351"/>
            <a:ext cx="6166550" cy="956132"/>
          </a:xfrm>
          <a:solidFill>
            <a:schemeClr val="accent5">
              <a:lumMod val="60000"/>
              <a:lumOff val="40000"/>
              <a:alpha val="15000"/>
            </a:schemeClr>
          </a:solidFill>
        </p:spPr>
        <p:txBody>
          <a:bodyPr/>
          <a:lstStyle/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console.log(!(3 &gt; 5) || (1 ==</a:t>
            </a:r>
            <a:r>
              <a:rPr lang="bg-BG" dirty="0"/>
              <a:t>=</a:t>
            </a:r>
            <a:r>
              <a:rPr lang="en-US" dirty="0"/>
              <a:t> 1));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4AB5DC8B-CE9B-4DBD-9057-F289D15D94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Преговор</a:t>
            </a:r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CE9C47A8-18C0-4A8D-AA35-198791083351}"/>
              </a:ext>
            </a:extLst>
          </p:cNvPr>
          <p:cNvGrpSpPr/>
          <p:nvPr/>
        </p:nvGrpSpPr>
        <p:grpSpPr>
          <a:xfrm>
            <a:off x="888631" y="3139890"/>
            <a:ext cx="3709138" cy="1816543"/>
            <a:chOff x="1065712" y="4121282"/>
            <a:chExt cx="4114800" cy="1505093"/>
          </a:xfrm>
          <a:solidFill>
            <a:schemeClr val="tx1"/>
          </a:solidFill>
        </p:grpSpPr>
        <p:sp>
          <p:nvSpPr>
            <p:cNvPr id="6" name="Speech Bubble: Rectangle with Corners Rounded 5">
              <a:extLst>
                <a:ext uri="{FF2B5EF4-FFF2-40B4-BE49-F238E27FC236}">
                  <a16:creationId xmlns:a16="http://schemas.microsoft.com/office/drawing/2014/main" id="{4AE007E9-D57E-4DFF-BA26-BF502FFA5E77}"/>
                </a:ext>
              </a:extLst>
            </p:cNvPr>
            <p:cNvSpPr/>
            <p:nvPr/>
          </p:nvSpPr>
          <p:spPr bwMode="auto">
            <a:xfrm>
              <a:off x="1065712" y="4121282"/>
              <a:ext cx="4114800" cy="1493675"/>
            </a:xfrm>
            <a:prstGeom prst="wedgeRoundRectCallout">
              <a:avLst>
                <a:gd name="adj1" fmla="val -8443"/>
                <a:gd name="adj2" fmla="val 65917"/>
                <a:gd name="adj3" fmla="val 16667"/>
              </a:avLst>
            </a:prstGeom>
            <a:grpFill/>
            <a:ln w="190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001">
              <a:schemeClr val="dk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A4E93C4B-BAE8-4D7B-A81E-93C3E8B689CB}"/>
                </a:ext>
              </a:extLst>
            </p:cNvPr>
            <p:cNvSpPr txBox="1"/>
            <p:nvPr/>
          </p:nvSpPr>
          <p:spPr>
            <a:xfrm>
              <a:off x="1365254" y="4307761"/>
              <a:ext cx="3515717" cy="1318614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144000" tIns="108000" rIns="144000" bIns="108000" rtlCol="0">
              <a:spAutoFit/>
            </a:bodyPr>
            <a:lstStyle>
              <a:defPPr>
                <a:defRPr lang="en-US"/>
              </a:defPPr>
              <a:lvl1pPr eaLnBrk="0" hangingPunct="0">
                <a:lnSpc>
                  <a:spcPct val="110000"/>
                </a:lnSpc>
                <a:buClr>
                  <a:schemeClr val="accent5">
                    <a:lumMod val="40000"/>
                    <a:lumOff val="60000"/>
                  </a:schemeClr>
                </a:buClr>
                <a:buSzPct val="70000"/>
                <a:defRPr sz="3600" b="1">
                  <a:solidFill>
                    <a:schemeClr val="bg2"/>
                  </a:solidFill>
                </a:defRPr>
              </a:lvl1pPr>
            </a:lstStyle>
            <a:p>
              <a:pPr algn="ctr"/>
              <a:r>
                <a:rPr lang="en-US" sz="4000" dirty="0"/>
                <a:t>Compile time error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96617635-D8AB-46F2-932B-1EEDE4BD4CA1}"/>
              </a:ext>
            </a:extLst>
          </p:cNvPr>
          <p:cNvGrpSpPr/>
          <p:nvPr/>
        </p:nvGrpSpPr>
        <p:grpSpPr>
          <a:xfrm>
            <a:off x="8001000" y="3661311"/>
            <a:ext cx="3008540" cy="2720441"/>
            <a:chOff x="5686304" y="4518492"/>
            <a:chExt cx="3048000" cy="2438818"/>
          </a:xfrm>
          <a:solidFill>
            <a:schemeClr val="tx1">
              <a:lumMod val="60000"/>
              <a:lumOff val="40000"/>
            </a:schemeClr>
          </a:solidFill>
        </p:grpSpPr>
        <p:sp>
          <p:nvSpPr>
            <p:cNvPr id="12" name="Speech Bubble: Oval 11">
              <a:extLst>
                <a:ext uri="{FF2B5EF4-FFF2-40B4-BE49-F238E27FC236}">
                  <a16:creationId xmlns:a16="http://schemas.microsoft.com/office/drawing/2014/main" id="{00BC79FD-D0C6-404D-9C07-2F174B961F62}"/>
                </a:ext>
              </a:extLst>
            </p:cNvPr>
            <p:cNvSpPr/>
            <p:nvPr/>
          </p:nvSpPr>
          <p:spPr bwMode="auto">
            <a:xfrm>
              <a:off x="5686304" y="4518492"/>
              <a:ext cx="3048000" cy="2438818"/>
            </a:xfrm>
            <a:prstGeom prst="wedgeEllipseCallout">
              <a:avLst>
                <a:gd name="adj1" fmla="val -34900"/>
                <a:gd name="adj2" fmla="val 52290"/>
              </a:avLst>
            </a:prstGeom>
            <a:grpFill/>
            <a:ln w="190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001">
              <a:schemeClr val="dk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BD5B43E8-1B5A-436B-ADF5-2D0125EF1C31}"/>
                </a:ext>
              </a:extLst>
            </p:cNvPr>
            <p:cNvSpPr txBox="1"/>
            <p:nvPr/>
          </p:nvSpPr>
          <p:spPr>
            <a:xfrm>
              <a:off x="6087027" y="5340716"/>
              <a:ext cx="2337722" cy="802544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144000" tIns="108000" rIns="144000" bIns="108000" rtlCol="0">
              <a:spAutoFit/>
            </a:bodyPr>
            <a:lstStyle>
              <a:defPPr>
                <a:defRPr lang="en-US"/>
              </a:defPPr>
              <a:lvl1pPr eaLnBrk="0" hangingPunct="0">
                <a:lnSpc>
                  <a:spcPct val="110000"/>
                </a:lnSpc>
                <a:buClr>
                  <a:schemeClr val="accent5">
                    <a:lumMod val="40000"/>
                    <a:lumOff val="60000"/>
                  </a:schemeClr>
                </a:buClr>
                <a:buSzPct val="70000"/>
                <a:defRPr sz="3600" b="1">
                  <a:solidFill>
                    <a:schemeClr val="bg2"/>
                  </a:solidFill>
                </a:defRPr>
              </a:lvl1pPr>
            </a:lstStyle>
            <a:p>
              <a:pPr lvl="1"/>
              <a:r>
                <a:rPr lang="en-US" sz="4400" b="1" dirty="0">
                  <a:solidFill>
                    <a:schemeClr val="bg2"/>
                  </a:solidFill>
                </a:rPr>
                <a:t>True</a:t>
              </a:r>
              <a:endParaRPr lang="en-US" sz="3600" b="1" dirty="0">
                <a:solidFill>
                  <a:schemeClr val="bg2"/>
                </a:solidFill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C48998B-FAFE-445F-9A3E-1FA6D414A6DB}"/>
              </a:ext>
            </a:extLst>
          </p:cNvPr>
          <p:cNvGrpSpPr/>
          <p:nvPr/>
        </p:nvGrpSpPr>
        <p:grpSpPr>
          <a:xfrm>
            <a:off x="5423671" y="2932988"/>
            <a:ext cx="3530995" cy="2023447"/>
            <a:chOff x="1063130" y="3246971"/>
            <a:chExt cx="4114800" cy="1493675"/>
          </a:xfrm>
          <a:solidFill>
            <a:schemeClr val="tx1"/>
          </a:solidFill>
        </p:grpSpPr>
        <p:sp>
          <p:nvSpPr>
            <p:cNvPr id="15" name="Speech Bubble: Rectangle with Corners Rounded 14">
              <a:extLst>
                <a:ext uri="{FF2B5EF4-FFF2-40B4-BE49-F238E27FC236}">
                  <a16:creationId xmlns:a16="http://schemas.microsoft.com/office/drawing/2014/main" id="{90604D9A-0F93-4C39-86D0-47A8139AB76A}"/>
                </a:ext>
              </a:extLst>
            </p:cNvPr>
            <p:cNvSpPr/>
            <p:nvPr/>
          </p:nvSpPr>
          <p:spPr bwMode="auto">
            <a:xfrm>
              <a:off x="1063130" y="3246971"/>
              <a:ext cx="4114800" cy="1493675"/>
            </a:xfrm>
            <a:prstGeom prst="wedgeRoundRectCallout">
              <a:avLst>
                <a:gd name="adj1" fmla="val 4189"/>
                <a:gd name="adj2" fmla="val 68120"/>
                <a:gd name="adj3" fmla="val 16667"/>
              </a:avLst>
            </a:prstGeom>
            <a:grpFill/>
            <a:ln w="190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001">
              <a:schemeClr val="dk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53A40423-DCAE-42EF-8603-CB7CE6D9AD44}"/>
                </a:ext>
              </a:extLst>
            </p:cNvPr>
            <p:cNvSpPr txBox="1"/>
            <p:nvPr/>
          </p:nvSpPr>
          <p:spPr>
            <a:xfrm>
              <a:off x="1503138" y="3394352"/>
              <a:ext cx="3153816" cy="1135674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144000" tIns="108000" rIns="144000" bIns="108000" rtlCol="0">
              <a:spAutoFit/>
            </a:bodyPr>
            <a:lstStyle>
              <a:defPPr>
                <a:defRPr lang="en-US"/>
              </a:defPPr>
              <a:lvl1pPr eaLnBrk="0" hangingPunct="0">
                <a:lnSpc>
                  <a:spcPct val="110000"/>
                </a:lnSpc>
                <a:buClr>
                  <a:schemeClr val="accent5">
                    <a:lumMod val="40000"/>
                    <a:lumOff val="60000"/>
                  </a:schemeClr>
                </a:buClr>
                <a:buSzPct val="70000"/>
                <a:defRPr sz="3600" b="1">
                  <a:solidFill>
                    <a:schemeClr val="bg2"/>
                  </a:solidFill>
                </a:defRPr>
              </a:lvl1pPr>
            </a:lstStyle>
            <a:p>
              <a:pPr algn="ctr"/>
              <a:r>
                <a:rPr lang="en-US" sz="4000" dirty="0"/>
                <a:t>Runtime error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A0156991-F43C-4280-8C77-46589B09C2FF}"/>
              </a:ext>
            </a:extLst>
          </p:cNvPr>
          <p:cNvGrpSpPr/>
          <p:nvPr/>
        </p:nvGrpSpPr>
        <p:grpSpPr>
          <a:xfrm>
            <a:off x="3507920" y="3994540"/>
            <a:ext cx="2877700" cy="2501581"/>
            <a:chOff x="8273212" y="2372594"/>
            <a:chExt cx="3048000" cy="2133600"/>
          </a:xfrm>
          <a:solidFill>
            <a:schemeClr val="tx1">
              <a:lumMod val="60000"/>
              <a:lumOff val="40000"/>
            </a:schemeClr>
          </a:solidFill>
        </p:grpSpPr>
        <p:sp>
          <p:nvSpPr>
            <p:cNvPr id="18" name="Speech Bubble: Oval 17">
              <a:extLst>
                <a:ext uri="{FF2B5EF4-FFF2-40B4-BE49-F238E27FC236}">
                  <a16:creationId xmlns:a16="http://schemas.microsoft.com/office/drawing/2014/main" id="{1B7411D7-31EF-431B-BBA8-AD98E15F5BB9}"/>
                </a:ext>
              </a:extLst>
            </p:cNvPr>
            <p:cNvSpPr/>
            <p:nvPr/>
          </p:nvSpPr>
          <p:spPr bwMode="auto">
            <a:xfrm>
              <a:off x="8273212" y="2372594"/>
              <a:ext cx="3048000" cy="2133600"/>
            </a:xfrm>
            <a:prstGeom prst="wedgeEllipseCallout">
              <a:avLst>
                <a:gd name="adj1" fmla="val 20553"/>
                <a:gd name="adj2" fmla="val 58663"/>
              </a:avLst>
            </a:prstGeom>
            <a:grpFill/>
            <a:ln w="190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001">
              <a:schemeClr val="dk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817F3AC2-049D-47F6-9DE8-7BBF820D0F82}"/>
                </a:ext>
              </a:extLst>
            </p:cNvPr>
            <p:cNvSpPr txBox="1"/>
            <p:nvPr/>
          </p:nvSpPr>
          <p:spPr>
            <a:xfrm>
              <a:off x="9023081" y="3060684"/>
              <a:ext cx="1777668" cy="789509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144000" tIns="108000" rIns="144000" bIns="108000" rtlCol="0">
              <a:spAutoFit/>
            </a:bodyPr>
            <a:lstStyle/>
            <a:p>
              <a:pPr algn="l" eaLnBrk="0" hangingPunct="0">
                <a:lnSpc>
                  <a:spcPct val="110000"/>
                </a:lnSpc>
                <a:buClr>
                  <a:schemeClr val="accent5">
                    <a:lumMod val="40000"/>
                    <a:lumOff val="60000"/>
                  </a:schemeClr>
                </a:buClr>
                <a:buSzPct val="70000"/>
              </a:pPr>
              <a:r>
                <a:rPr lang="en-US" sz="4400" b="1" dirty="0">
                  <a:solidFill>
                    <a:schemeClr val="bg2"/>
                  </a:solidFill>
                </a:rPr>
                <a:t>False</a:t>
              </a:r>
              <a:endParaRPr lang="en-US" b="1" dirty="0">
                <a:solidFill>
                  <a:schemeClr val="bg2"/>
                </a:solidFill>
              </a:endParaRPr>
            </a:p>
          </p:txBody>
        </p:sp>
      </p:grpSp>
      <p:sp>
        <p:nvSpPr>
          <p:cNvPr id="20" name="Slide Number">
            <a:extLst>
              <a:ext uri="{FF2B5EF4-FFF2-40B4-BE49-F238E27FC236}">
                <a16:creationId xmlns:a16="http://schemas.microsoft.com/office/drawing/2014/main" id="{87EB85DC-B934-4C7D-8A1C-5E7576973D56}"/>
              </a:ext>
            </a:extLst>
          </p:cNvPr>
          <p:cNvSpPr txBox="1">
            <a:spLocks/>
          </p:cNvSpPr>
          <p:nvPr/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BF067CD-8E6B-4360-9AA8-C5DF2A48A6D1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73657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5A309E37-E2B9-414A-B29A-6FBF8B960C4F}"/>
              </a:ext>
            </a:extLst>
          </p:cNvPr>
          <p:cNvGrpSpPr/>
          <p:nvPr/>
        </p:nvGrpSpPr>
        <p:grpSpPr>
          <a:xfrm>
            <a:off x="7130828" y="4453006"/>
            <a:ext cx="2722115" cy="1321907"/>
            <a:chOff x="1039935" y="4225124"/>
            <a:chExt cx="5767434" cy="2026248"/>
          </a:xfrm>
          <a:solidFill>
            <a:srgbClr val="60BFB7"/>
          </a:solidFill>
        </p:grpSpPr>
        <p:sp>
          <p:nvSpPr>
            <p:cNvPr id="13" name="Speech Bubble: Rectangle with Corners Rounded 12">
              <a:extLst>
                <a:ext uri="{FF2B5EF4-FFF2-40B4-BE49-F238E27FC236}">
                  <a16:creationId xmlns:a16="http://schemas.microsoft.com/office/drawing/2014/main" id="{2F3C1CB8-FE31-49D8-8150-0025FF81669C}"/>
                </a:ext>
              </a:extLst>
            </p:cNvPr>
            <p:cNvSpPr/>
            <p:nvPr/>
          </p:nvSpPr>
          <p:spPr bwMode="auto">
            <a:xfrm>
              <a:off x="1039935" y="4225124"/>
              <a:ext cx="5767434" cy="2021280"/>
            </a:xfrm>
            <a:prstGeom prst="wedgeRoundRectCallout">
              <a:avLst>
                <a:gd name="adj1" fmla="val 33001"/>
                <a:gd name="adj2" fmla="val 69209"/>
                <a:gd name="adj3" fmla="val 16667"/>
              </a:avLst>
            </a:prstGeom>
            <a:solidFill>
              <a:schemeClr val="tx1"/>
            </a:solidFill>
            <a:ln w="190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001">
              <a:schemeClr val="dk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F6988221-874E-4FF7-8580-CD3636623647}"/>
                </a:ext>
              </a:extLst>
            </p:cNvPr>
            <p:cNvSpPr txBox="1"/>
            <p:nvPr/>
          </p:nvSpPr>
          <p:spPr>
            <a:xfrm>
              <a:off x="1321229" y="4297907"/>
              <a:ext cx="5204849" cy="1953465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144000" tIns="108000" rIns="144000" bIns="108000" rtlCol="0">
              <a:spAutoFit/>
            </a:bodyPr>
            <a:lstStyle>
              <a:defPPr>
                <a:defRPr lang="en-US"/>
              </a:defPPr>
              <a:lvl1pPr eaLnBrk="0" hangingPunct="0">
                <a:lnSpc>
                  <a:spcPct val="110000"/>
                </a:lnSpc>
                <a:buClr>
                  <a:schemeClr val="accent5">
                    <a:lumMod val="40000"/>
                    <a:lumOff val="60000"/>
                  </a:schemeClr>
                </a:buClr>
                <a:buSzPct val="70000"/>
                <a:defRPr sz="3600" b="1">
                  <a:solidFill>
                    <a:schemeClr val="bg2"/>
                  </a:solidFill>
                </a:defRPr>
              </a:lvl1pPr>
            </a:lstStyle>
            <a:p>
              <a:pPr algn="ctr"/>
              <a:r>
                <a:rPr lang="en-US" sz="3200" dirty="0"/>
                <a:t>Compile time error</a:t>
              </a:r>
              <a:endParaRPr lang="en-US" sz="4000" dirty="0"/>
            </a:p>
          </p:txBody>
        </p:sp>
      </p:grp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5383082-8613-4F76-B9D3-514B71488D8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84260" y="1190235"/>
            <a:ext cx="11808021" cy="5185625"/>
          </a:xfrm>
        </p:spPr>
        <p:txBody>
          <a:bodyPr/>
          <a:lstStyle/>
          <a:p>
            <a:r>
              <a:rPr lang="en-US" dirty="0"/>
              <a:t>5. </a:t>
            </a:r>
            <a:r>
              <a:rPr lang="bg-BG" dirty="0"/>
              <a:t>Какво ще се отпечата на конзолата, ако изпълним следната логическа проверка:</a:t>
            </a:r>
          </a:p>
          <a:p>
            <a:pPr marL="514350" indent="-514350">
              <a:buAutoNum type="arabicPeriod" startAt="4"/>
            </a:pPr>
            <a:endParaRPr lang="en-US" dirty="0"/>
          </a:p>
          <a:p>
            <a:pPr marL="514350" indent="-514350">
              <a:buFont typeface="+mj-lt"/>
              <a:buAutoNum type="arabicPeriod" startAt="4"/>
            </a:pPr>
            <a:endParaRPr lang="en-US" dirty="0"/>
          </a:p>
          <a:p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0C63803-9C95-487B-B660-EDF01426E51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02548" y="2509468"/>
            <a:ext cx="5349002" cy="3296581"/>
          </a:xfrm>
          <a:solidFill>
            <a:schemeClr val="accent5">
              <a:lumMod val="60000"/>
              <a:lumOff val="40000"/>
              <a:alpha val="1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txBody>
          <a:bodyPr/>
          <a:lstStyle/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400" dirty="0"/>
              <a:t>let number = 101;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400" dirty="0"/>
              <a:t>if (number &gt;= 1)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400" dirty="0"/>
              <a:t> </a:t>
            </a:r>
            <a:r>
              <a:rPr lang="en-US" dirty="0"/>
              <a:t>console.log</a:t>
            </a:r>
            <a:r>
              <a:rPr lang="en-US" sz="2400" dirty="0"/>
              <a:t>("Larger than 1");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400" dirty="0"/>
              <a:t>if (number &lt;= 101)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400" dirty="0"/>
              <a:t> </a:t>
            </a:r>
            <a:r>
              <a:rPr lang="en-US" dirty="0"/>
              <a:t>console.log</a:t>
            </a:r>
            <a:r>
              <a:rPr lang="en-US" sz="2400" dirty="0"/>
              <a:t>("Less than 101");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400" dirty="0"/>
              <a:t> </a:t>
            </a:r>
            <a:r>
              <a:rPr lang="en-US" dirty="0"/>
              <a:t>console.log</a:t>
            </a:r>
            <a:r>
              <a:rPr lang="en-US" sz="2400" dirty="0"/>
              <a:t>("Equal to 101");</a:t>
            </a:r>
            <a:endParaRPr lang="en-US" sz="1400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4AB5DC8B-CE9B-4DBD-9057-F289D15D94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Преговор</a:t>
            </a:r>
            <a:endParaRPr lang="en-US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56C13EED-B490-48BB-B5E6-BD0EA6ACE9C4}"/>
              </a:ext>
            </a:extLst>
          </p:cNvPr>
          <p:cNvGrpSpPr/>
          <p:nvPr/>
        </p:nvGrpSpPr>
        <p:grpSpPr>
          <a:xfrm>
            <a:off x="8902750" y="3271238"/>
            <a:ext cx="3657600" cy="1927074"/>
            <a:chOff x="5152379" y="4659415"/>
            <a:chExt cx="3743045" cy="2438818"/>
          </a:xfrm>
        </p:grpSpPr>
        <p:sp>
          <p:nvSpPr>
            <p:cNvPr id="16" name="Speech Bubble: Oval 15">
              <a:extLst>
                <a:ext uri="{FF2B5EF4-FFF2-40B4-BE49-F238E27FC236}">
                  <a16:creationId xmlns:a16="http://schemas.microsoft.com/office/drawing/2014/main" id="{840CD16A-FA6A-4B07-B359-C42C1B083C6F}"/>
                </a:ext>
              </a:extLst>
            </p:cNvPr>
            <p:cNvSpPr/>
            <p:nvPr/>
          </p:nvSpPr>
          <p:spPr bwMode="auto">
            <a:xfrm>
              <a:off x="5514317" y="4659415"/>
              <a:ext cx="3048000" cy="2438818"/>
            </a:xfrm>
            <a:prstGeom prst="wedgeEllipseCallout">
              <a:avLst>
                <a:gd name="adj1" fmla="val -13814"/>
                <a:gd name="adj2" fmla="val 65114"/>
              </a:avLst>
            </a:prstGeom>
            <a:solidFill>
              <a:schemeClr val="tx1">
                <a:lumMod val="60000"/>
                <a:lumOff val="40000"/>
              </a:schemeClr>
            </a:solidFill>
            <a:ln w="190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001">
              <a:schemeClr val="dk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4858EFCE-0BDC-40B4-9587-9EA9CF824A7B}"/>
                </a:ext>
              </a:extLst>
            </p:cNvPr>
            <p:cNvSpPr txBox="1"/>
            <p:nvPr/>
          </p:nvSpPr>
          <p:spPr>
            <a:xfrm>
              <a:off x="5152379" y="5423176"/>
              <a:ext cx="3743045" cy="977144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144000" tIns="108000" rIns="144000" bIns="108000" rtlCol="0">
              <a:spAutoFit/>
            </a:bodyPr>
            <a:lstStyle>
              <a:defPPr>
                <a:defRPr lang="en-US"/>
              </a:defPPr>
              <a:lvl1pPr eaLnBrk="0" hangingPunct="0">
                <a:lnSpc>
                  <a:spcPct val="110000"/>
                </a:lnSpc>
                <a:buClr>
                  <a:schemeClr val="accent5">
                    <a:lumMod val="40000"/>
                    <a:lumOff val="60000"/>
                  </a:schemeClr>
                </a:buClr>
                <a:buSzPct val="70000"/>
                <a:defRPr sz="3600" b="1">
                  <a:solidFill>
                    <a:schemeClr val="bg2"/>
                  </a:solidFill>
                </a:defRPr>
              </a:lvl1pPr>
            </a:lstStyle>
            <a:p>
              <a:pPr lvl="1"/>
              <a:r>
                <a:rPr lang="en-US" sz="3600" b="1" dirty="0">
                  <a:solidFill>
                    <a:schemeClr val="bg2"/>
                  </a:solidFill>
                </a:rPr>
                <a:t>Equal to 101</a:t>
              </a:r>
              <a:endParaRPr lang="en-US" sz="2800" b="1" dirty="0">
                <a:solidFill>
                  <a:schemeClr val="bg2"/>
                </a:solidFill>
              </a:endParaRP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AE6A1D6A-A1D4-4185-94E0-BD06FBFEA04C}"/>
              </a:ext>
            </a:extLst>
          </p:cNvPr>
          <p:cNvGrpSpPr/>
          <p:nvPr/>
        </p:nvGrpSpPr>
        <p:grpSpPr>
          <a:xfrm>
            <a:off x="6096000" y="2393072"/>
            <a:ext cx="3153550" cy="1246436"/>
            <a:chOff x="874338" y="1992405"/>
            <a:chExt cx="4114800" cy="1493675"/>
          </a:xfrm>
          <a:solidFill>
            <a:schemeClr val="tx1">
              <a:lumMod val="60000"/>
              <a:lumOff val="40000"/>
            </a:schemeClr>
          </a:solidFill>
        </p:grpSpPr>
        <p:sp>
          <p:nvSpPr>
            <p:cNvPr id="7" name="Speech Bubble: Rectangle with Corners Rounded 6">
              <a:extLst>
                <a:ext uri="{FF2B5EF4-FFF2-40B4-BE49-F238E27FC236}">
                  <a16:creationId xmlns:a16="http://schemas.microsoft.com/office/drawing/2014/main" id="{17181624-A5B5-4EAC-AF25-BF34A31DC0C9}"/>
                </a:ext>
              </a:extLst>
            </p:cNvPr>
            <p:cNvSpPr/>
            <p:nvPr/>
          </p:nvSpPr>
          <p:spPr bwMode="auto">
            <a:xfrm>
              <a:off x="874338" y="1992405"/>
              <a:ext cx="4114800" cy="1493675"/>
            </a:xfrm>
            <a:prstGeom prst="wedgeRoundRectCallout">
              <a:avLst>
                <a:gd name="adj1" fmla="val 31702"/>
                <a:gd name="adj2" fmla="val 86479"/>
                <a:gd name="adj3" fmla="val 16667"/>
              </a:avLst>
            </a:prstGeom>
            <a:grpFill/>
            <a:ln w="190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001">
              <a:schemeClr val="dk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491F519D-2770-4771-89D8-3A3F9FC93886}"/>
                </a:ext>
              </a:extLst>
            </p:cNvPr>
            <p:cNvSpPr txBox="1"/>
            <p:nvPr/>
          </p:nvSpPr>
          <p:spPr>
            <a:xfrm>
              <a:off x="918506" y="2269413"/>
              <a:ext cx="4070632" cy="95515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144000" tIns="108000" rIns="144000" bIns="108000" rtlCol="0">
              <a:spAutoFit/>
            </a:bodyPr>
            <a:lstStyle>
              <a:defPPr>
                <a:defRPr lang="en-US"/>
              </a:defPPr>
              <a:lvl1pPr eaLnBrk="0" hangingPunct="0">
                <a:lnSpc>
                  <a:spcPct val="110000"/>
                </a:lnSpc>
                <a:buClr>
                  <a:schemeClr val="accent5">
                    <a:lumMod val="40000"/>
                    <a:lumOff val="60000"/>
                  </a:schemeClr>
                </a:buClr>
                <a:buSzPct val="70000"/>
                <a:defRPr sz="3600" b="1">
                  <a:solidFill>
                    <a:schemeClr val="bg2"/>
                  </a:solidFill>
                </a:defRPr>
              </a:lvl1pPr>
            </a:lstStyle>
            <a:p>
              <a:pPr algn="ctr"/>
              <a:r>
                <a:rPr lang="en-US" dirty="0"/>
                <a:t>Larger than 1</a:t>
              </a:r>
              <a:endParaRPr lang="en-US" sz="4000" dirty="0"/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BF86B02D-4D4C-480C-AD46-CCEF1FA5684A}"/>
              </a:ext>
            </a:extLst>
          </p:cNvPr>
          <p:cNvGrpSpPr/>
          <p:nvPr/>
        </p:nvGrpSpPr>
        <p:grpSpPr>
          <a:xfrm>
            <a:off x="8979000" y="1863859"/>
            <a:ext cx="3073300" cy="1295309"/>
            <a:chOff x="8927299" y="2302916"/>
            <a:chExt cx="3037711" cy="1266985"/>
          </a:xfrm>
        </p:grpSpPr>
        <p:sp>
          <p:nvSpPr>
            <p:cNvPr id="2" name="Speech Bubble: Rectangle with Corners Rounded 1">
              <a:extLst>
                <a:ext uri="{FF2B5EF4-FFF2-40B4-BE49-F238E27FC236}">
                  <a16:creationId xmlns:a16="http://schemas.microsoft.com/office/drawing/2014/main" id="{5929BF1E-D41C-4AE9-BE7D-7543AFD50F3C}"/>
                </a:ext>
              </a:extLst>
            </p:cNvPr>
            <p:cNvSpPr/>
            <p:nvPr/>
          </p:nvSpPr>
          <p:spPr bwMode="auto">
            <a:xfrm>
              <a:off x="8967919" y="2302916"/>
              <a:ext cx="2993647" cy="1266985"/>
            </a:xfrm>
            <a:prstGeom prst="wedgeRoundRectCallout">
              <a:avLst>
                <a:gd name="adj1" fmla="val -34999"/>
                <a:gd name="adj2" fmla="val 73675"/>
                <a:gd name="adj3" fmla="val 16667"/>
              </a:avLst>
            </a:prstGeom>
            <a:solidFill>
              <a:schemeClr val="tx1"/>
            </a:solidFill>
            <a:ln w="190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001">
              <a:schemeClr val="dk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8A199862-28A4-4375-B144-E298EC356FA9}"/>
                </a:ext>
              </a:extLst>
            </p:cNvPr>
            <p:cNvSpPr txBox="1"/>
            <p:nvPr/>
          </p:nvSpPr>
          <p:spPr>
            <a:xfrm>
              <a:off x="8927299" y="2616448"/>
              <a:ext cx="3037711" cy="653746"/>
            </a:xfrm>
            <a:prstGeom prst="rect">
              <a:avLst/>
            </a:prstGeom>
            <a:noFill/>
            <a:ln w="190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001">
              <a:schemeClr val="dk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0000"/>
                </a:lnSpc>
                <a:buClr>
                  <a:schemeClr val="accent5">
                    <a:lumMod val="40000"/>
                    <a:lumOff val="60000"/>
                  </a:schemeClr>
                </a:buClr>
                <a:buSzPct val="70000"/>
              </a:pPr>
              <a:r>
                <a:rPr lang="en-US" sz="3200" b="1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Less than 101</a:t>
              </a:r>
            </a:p>
          </p:txBody>
        </p:sp>
      </p:grpSp>
      <p:sp>
        <p:nvSpPr>
          <p:cNvPr id="18" name="Slide Number">
            <a:extLst>
              <a:ext uri="{FF2B5EF4-FFF2-40B4-BE49-F238E27FC236}">
                <a16:creationId xmlns:a16="http://schemas.microsoft.com/office/drawing/2014/main" id="{D327C590-7E57-4714-B23F-B574F8264DD8}"/>
              </a:ext>
            </a:extLst>
          </p:cNvPr>
          <p:cNvSpPr txBox="1">
            <a:spLocks/>
          </p:cNvSpPr>
          <p:nvPr/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BF067CD-8E6B-4360-9AA8-C5DF2A48A6D1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17990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5383082-8613-4F76-B9D3-514B71488D8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6. </a:t>
            </a:r>
            <a:r>
              <a:rPr lang="bg-BG" dirty="0"/>
              <a:t>Какво ще се отпечата на конзолата, ако изпълним следната логическа проверка: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4AB5DC8B-CE9B-4DBD-9057-F289D15D94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Преговор</a:t>
            </a:r>
            <a:endParaRPr 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A309E37-E2B9-414A-B29A-6FBF8B960C4F}"/>
              </a:ext>
            </a:extLst>
          </p:cNvPr>
          <p:cNvGrpSpPr/>
          <p:nvPr/>
        </p:nvGrpSpPr>
        <p:grpSpPr>
          <a:xfrm>
            <a:off x="8720870" y="4038601"/>
            <a:ext cx="3151103" cy="1476635"/>
            <a:chOff x="1047227" y="4098001"/>
            <a:chExt cx="5767434" cy="2021280"/>
          </a:xfrm>
          <a:solidFill>
            <a:srgbClr val="60BFB7"/>
          </a:solidFill>
        </p:grpSpPr>
        <p:sp>
          <p:nvSpPr>
            <p:cNvPr id="13" name="Speech Bubble: Rectangle with Corners Rounded 12">
              <a:extLst>
                <a:ext uri="{FF2B5EF4-FFF2-40B4-BE49-F238E27FC236}">
                  <a16:creationId xmlns:a16="http://schemas.microsoft.com/office/drawing/2014/main" id="{2F3C1CB8-FE31-49D8-8150-0025FF81669C}"/>
                </a:ext>
              </a:extLst>
            </p:cNvPr>
            <p:cNvSpPr/>
            <p:nvPr/>
          </p:nvSpPr>
          <p:spPr bwMode="auto">
            <a:xfrm>
              <a:off x="1047227" y="4098001"/>
              <a:ext cx="5767434" cy="2021280"/>
            </a:xfrm>
            <a:prstGeom prst="wedgeRoundRectCallout">
              <a:avLst>
                <a:gd name="adj1" fmla="val -42026"/>
                <a:gd name="adj2" fmla="val 65843"/>
                <a:gd name="adj3" fmla="val 16667"/>
              </a:avLst>
            </a:prstGeom>
            <a:solidFill>
              <a:schemeClr val="tx1">
                <a:lumMod val="60000"/>
                <a:lumOff val="40000"/>
              </a:schemeClr>
            </a:solidFill>
            <a:ln w="190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001">
              <a:schemeClr val="dk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F6988221-874E-4FF7-8580-CD3636623647}"/>
                </a:ext>
              </a:extLst>
            </p:cNvPr>
            <p:cNvSpPr txBox="1"/>
            <p:nvPr/>
          </p:nvSpPr>
          <p:spPr>
            <a:xfrm>
              <a:off x="1321229" y="4297907"/>
              <a:ext cx="5204848" cy="1744485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144000" tIns="108000" rIns="144000" bIns="108000" rtlCol="0">
              <a:spAutoFit/>
            </a:bodyPr>
            <a:lstStyle>
              <a:defPPr>
                <a:defRPr lang="en-US"/>
              </a:defPPr>
              <a:lvl1pPr eaLnBrk="0" hangingPunct="0">
                <a:lnSpc>
                  <a:spcPct val="110000"/>
                </a:lnSpc>
                <a:buClr>
                  <a:schemeClr val="accent5">
                    <a:lumMod val="40000"/>
                    <a:lumOff val="60000"/>
                  </a:schemeClr>
                </a:buClr>
                <a:buSzPct val="70000"/>
                <a:defRPr sz="3600" b="1">
                  <a:solidFill>
                    <a:schemeClr val="bg2"/>
                  </a:solidFill>
                </a:defRPr>
              </a:lvl1pPr>
            </a:lstStyle>
            <a:p>
              <a:pPr algn="ctr"/>
              <a:r>
                <a:rPr lang="en-US" sz="3200" dirty="0"/>
                <a:t>Compile time error</a:t>
              </a:r>
              <a:endParaRPr lang="en-US" sz="4000" dirty="0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56C13EED-B490-48BB-B5E6-BD0EA6ACE9C4}"/>
              </a:ext>
            </a:extLst>
          </p:cNvPr>
          <p:cNvGrpSpPr/>
          <p:nvPr/>
        </p:nvGrpSpPr>
        <p:grpSpPr>
          <a:xfrm>
            <a:off x="6096000" y="4193641"/>
            <a:ext cx="2891652" cy="1901866"/>
            <a:chOff x="5213760" y="4570824"/>
            <a:chExt cx="3375809" cy="2438818"/>
          </a:xfrm>
        </p:grpSpPr>
        <p:sp>
          <p:nvSpPr>
            <p:cNvPr id="16" name="Speech Bubble: Oval 15">
              <a:extLst>
                <a:ext uri="{FF2B5EF4-FFF2-40B4-BE49-F238E27FC236}">
                  <a16:creationId xmlns:a16="http://schemas.microsoft.com/office/drawing/2014/main" id="{840CD16A-FA6A-4B07-B359-C42C1B083C6F}"/>
                </a:ext>
              </a:extLst>
            </p:cNvPr>
            <p:cNvSpPr/>
            <p:nvPr/>
          </p:nvSpPr>
          <p:spPr bwMode="auto">
            <a:xfrm>
              <a:off x="5541569" y="4570824"/>
              <a:ext cx="3048000" cy="2438818"/>
            </a:xfrm>
            <a:prstGeom prst="wedgeEllipseCallout">
              <a:avLst>
                <a:gd name="adj1" fmla="val 46396"/>
                <a:gd name="adj2" fmla="val 51383"/>
              </a:avLst>
            </a:prstGeom>
            <a:solidFill>
              <a:schemeClr val="tx1"/>
            </a:solidFill>
            <a:ln w="190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001">
              <a:schemeClr val="dk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4858EFCE-0BDC-40B4-9587-9EA9CF824A7B}"/>
                </a:ext>
              </a:extLst>
            </p:cNvPr>
            <p:cNvSpPr txBox="1"/>
            <p:nvPr/>
          </p:nvSpPr>
          <p:spPr>
            <a:xfrm>
              <a:off x="5213760" y="5295185"/>
              <a:ext cx="3375809" cy="990095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144000" tIns="108000" rIns="144000" bIns="108000" rtlCol="0">
              <a:spAutoFit/>
            </a:bodyPr>
            <a:lstStyle>
              <a:defPPr>
                <a:defRPr lang="en-US"/>
              </a:defPPr>
              <a:lvl1pPr eaLnBrk="0" hangingPunct="0">
                <a:lnSpc>
                  <a:spcPct val="110000"/>
                </a:lnSpc>
                <a:buClr>
                  <a:schemeClr val="accent5">
                    <a:lumMod val="40000"/>
                    <a:lumOff val="60000"/>
                  </a:schemeClr>
                </a:buClr>
                <a:buSzPct val="70000"/>
                <a:defRPr sz="3600" b="1">
                  <a:solidFill>
                    <a:schemeClr val="bg2"/>
                  </a:solidFill>
                </a:defRPr>
              </a:lvl1pPr>
            </a:lstStyle>
            <a:p>
              <a:pPr lvl="1"/>
              <a:r>
                <a:rPr lang="en-US" sz="3600" b="1" dirty="0">
                  <a:solidFill>
                    <a:schemeClr val="bg2"/>
                  </a:solidFill>
                </a:rPr>
                <a:t>No output</a:t>
              </a:r>
              <a:endParaRPr lang="en-US" sz="2800" b="1" dirty="0">
                <a:solidFill>
                  <a:schemeClr val="bg2"/>
                </a:solidFill>
              </a:endParaRP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AE6A1D6A-A1D4-4185-94E0-BD06FBFEA04C}"/>
              </a:ext>
            </a:extLst>
          </p:cNvPr>
          <p:cNvGrpSpPr/>
          <p:nvPr/>
        </p:nvGrpSpPr>
        <p:grpSpPr>
          <a:xfrm>
            <a:off x="6109233" y="2849725"/>
            <a:ext cx="2751086" cy="1266985"/>
            <a:chOff x="919445" y="3246971"/>
            <a:chExt cx="4467419" cy="1493675"/>
          </a:xfrm>
        </p:grpSpPr>
        <p:sp>
          <p:nvSpPr>
            <p:cNvPr id="7" name="Speech Bubble: Rectangle with Corners Rounded 6">
              <a:extLst>
                <a:ext uri="{FF2B5EF4-FFF2-40B4-BE49-F238E27FC236}">
                  <a16:creationId xmlns:a16="http://schemas.microsoft.com/office/drawing/2014/main" id="{17181624-A5B5-4EAC-AF25-BF34A31DC0C9}"/>
                </a:ext>
              </a:extLst>
            </p:cNvPr>
            <p:cNvSpPr/>
            <p:nvPr/>
          </p:nvSpPr>
          <p:spPr bwMode="auto">
            <a:xfrm>
              <a:off x="1063130" y="3246971"/>
              <a:ext cx="4114800" cy="1493675"/>
            </a:xfrm>
            <a:prstGeom prst="wedgeRoundRectCallout">
              <a:avLst>
                <a:gd name="adj1" fmla="val 35039"/>
                <a:gd name="adj2" fmla="val 62263"/>
                <a:gd name="adj3" fmla="val 16667"/>
              </a:avLst>
            </a:prstGeom>
            <a:solidFill>
              <a:schemeClr val="tx1">
                <a:lumMod val="60000"/>
                <a:lumOff val="40000"/>
              </a:schemeClr>
            </a:solidFill>
            <a:ln w="190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001">
              <a:schemeClr val="dk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491F519D-2770-4771-89D8-3A3F9FC93886}"/>
                </a:ext>
              </a:extLst>
            </p:cNvPr>
            <p:cNvSpPr txBox="1"/>
            <p:nvPr/>
          </p:nvSpPr>
          <p:spPr>
            <a:xfrm>
              <a:off x="919445" y="3505479"/>
              <a:ext cx="4467419" cy="939659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144000" tIns="108000" rIns="144000" bIns="108000" rtlCol="0">
              <a:spAutoFit/>
            </a:bodyPr>
            <a:lstStyle>
              <a:defPPr>
                <a:defRPr lang="en-US"/>
              </a:defPPr>
              <a:lvl1pPr eaLnBrk="0" hangingPunct="0">
                <a:lnSpc>
                  <a:spcPct val="110000"/>
                </a:lnSpc>
                <a:buClr>
                  <a:schemeClr val="accent5">
                    <a:lumMod val="40000"/>
                    <a:lumOff val="60000"/>
                  </a:schemeClr>
                </a:buClr>
                <a:buSzPct val="70000"/>
                <a:defRPr sz="3600" b="1">
                  <a:solidFill>
                    <a:schemeClr val="bg2"/>
                  </a:solidFill>
                </a:defRPr>
              </a:lvl1pPr>
            </a:lstStyle>
            <a:p>
              <a:pPr algn="ctr"/>
              <a:r>
                <a:rPr lang="en-US" dirty="0"/>
                <a:t>"Welcome!"</a:t>
              </a:r>
              <a:endParaRPr lang="en-US" sz="4000" dirty="0"/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BF86B02D-4D4C-480C-AD46-CCEF1FA5684A}"/>
              </a:ext>
            </a:extLst>
          </p:cNvPr>
          <p:cNvGrpSpPr/>
          <p:nvPr/>
        </p:nvGrpSpPr>
        <p:grpSpPr>
          <a:xfrm>
            <a:off x="8718550" y="2242604"/>
            <a:ext cx="3189108" cy="1266985"/>
            <a:chOff x="8913735" y="2302916"/>
            <a:chExt cx="3047831" cy="1266985"/>
          </a:xfrm>
        </p:grpSpPr>
        <p:sp>
          <p:nvSpPr>
            <p:cNvPr id="2" name="Speech Bubble: Rectangle with Corners Rounded 1">
              <a:extLst>
                <a:ext uri="{FF2B5EF4-FFF2-40B4-BE49-F238E27FC236}">
                  <a16:creationId xmlns:a16="http://schemas.microsoft.com/office/drawing/2014/main" id="{5929BF1E-D41C-4AE9-BE7D-7543AFD50F3C}"/>
                </a:ext>
              </a:extLst>
            </p:cNvPr>
            <p:cNvSpPr/>
            <p:nvPr/>
          </p:nvSpPr>
          <p:spPr bwMode="auto">
            <a:xfrm>
              <a:off x="8967919" y="2302916"/>
              <a:ext cx="2993647" cy="1266985"/>
            </a:xfrm>
            <a:prstGeom prst="wedgeRoundRectCallout">
              <a:avLst>
                <a:gd name="adj1" fmla="val -34999"/>
                <a:gd name="adj2" fmla="val 68070"/>
                <a:gd name="adj3" fmla="val 16667"/>
              </a:avLst>
            </a:prstGeom>
            <a:solidFill>
              <a:schemeClr val="tx1"/>
            </a:solidFill>
            <a:ln w="190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001">
              <a:schemeClr val="dk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8A199862-28A4-4375-B144-E298EC356FA9}"/>
                </a:ext>
              </a:extLst>
            </p:cNvPr>
            <p:cNvSpPr txBox="1"/>
            <p:nvPr/>
          </p:nvSpPr>
          <p:spPr>
            <a:xfrm>
              <a:off x="8913735" y="2555862"/>
              <a:ext cx="3037711" cy="668361"/>
            </a:xfrm>
            <a:prstGeom prst="rect">
              <a:avLst/>
            </a:prstGeom>
            <a:noFill/>
            <a:ln w="190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001">
              <a:schemeClr val="dk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0000"/>
                </a:lnSpc>
                <a:buClr>
                  <a:schemeClr val="accent5">
                    <a:lumMod val="40000"/>
                    <a:lumOff val="60000"/>
                  </a:schemeClr>
                </a:buClr>
                <a:buSzPct val="70000"/>
              </a:pPr>
              <a:r>
                <a:rPr lang="en-US" sz="3200" b="1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Runtime error</a:t>
              </a:r>
            </a:p>
          </p:txBody>
        </p:sp>
      </p:grpSp>
      <p:sp>
        <p:nvSpPr>
          <p:cNvPr id="18" name="Slide Number">
            <a:extLst>
              <a:ext uri="{FF2B5EF4-FFF2-40B4-BE49-F238E27FC236}">
                <a16:creationId xmlns:a16="http://schemas.microsoft.com/office/drawing/2014/main" id="{FE0AC17F-D83E-40BC-B275-DBD3B6D48B92}"/>
              </a:ext>
            </a:extLst>
          </p:cNvPr>
          <p:cNvSpPr txBox="1">
            <a:spLocks/>
          </p:cNvSpPr>
          <p:nvPr/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BF067CD-8E6B-4360-9AA8-C5DF2A48A6D1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23" name="Text Placeholder 9">
            <a:extLst>
              <a:ext uri="{FF2B5EF4-FFF2-40B4-BE49-F238E27FC236}">
                <a16:creationId xmlns:a16="http://schemas.microsoft.com/office/drawing/2014/main" id="{C0C63803-9C95-487B-B660-EDF01426E51D}"/>
              </a:ext>
            </a:extLst>
          </p:cNvPr>
          <p:cNvSpPr txBox="1">
            <a:spLocks/>
          </p:cNvSpPr>
          <p:nvPr/>
        </p:nvSpPr>
        <p:spPr>
          <a:xfrm>
            <a:off x="477698" y="2509468"/>
            <a:ext cx="5573852" cy="3726762"/>
          </a:xfrm>
          <a:prstGeom prst="rect">
            <a:avLst/>
          </a:prstGeom>
          <a:solidFill>
            <a:schemeClr val="accent5">
              <a:lumMod val="60000"/>
              <a:lumOff val="40000"/>
              <a:alpha val="15000"/>
            </a:schemeClr>
          </a:solidFill>
          <a:ln w="12700">
            <a:solidFill>
              <a:schemeClr val="accent6">
                <a:lumMod val="75000"/>
              </a:schemeClr>
            </a:solidFill>
          </a:ln>
        </p:spPr>
        <p:txBody>
          <a:bodyPr vert="horz" wrap="square" lIns="144000" tIns="108000" rIns="144000" bIns="108000" rtlCol="0">
            <a:spAutoFit/>
          </a:bodyPr>
          <a:lstStyle/>
          <a:p>
            <a:pPr defTabSz="1218438">
              <a:spcBef>
                <a:spcPts val="600"/>
              </a:spcBef>
              <a:spcAft>
                <a:spcPts val="600"/>
              </a:spcAft>
            </a:pPr>
            <a:r>
              <a:rPr lang="en-US" sz="2400" b="1" noProof="1">
                <a:latin typeface="Consolas" pitchFamily="49" charset="0"/>
                <a:cs typeface="Consolas" pitchFamily="49" charset="0"/>
              </a:rPr>
              <a:t>let role = "Administrator";</a:t>
            </a:r>
          </a:p>
          <a:p>
            <a:pPr defTabSz="1218438">
              <a:spcBef>
                <a:spcPts val="600"/>
              </a:spcBef>
              <a:spcAft>
                <a:spcPts val="600"/>
              </a:spcAft>
            </a:pPr>
            <a:r>
              <a:rPr lang="en-US" sz="2400" b="1" noProof="1">
                <a:latin typeface="Consolas" pitchFamily="49" charset="0"/>
                <a:cs typeface="Consolas" pitchFamily="49" charset="0"/>
              </a:rPr>
              <a:t>let password = "SoftUni";</a:t>
            </a:r>
          </a:p>
          <a:p>
            <a:pPr defTabSz="1218438">
              <a:spcBef>
                <a:spcPts val="600"/>
              </a:spcBef>
              <a:spcAft>
                <a:spcPts val="600"/>
              </a:spcAft>
            </a:pPr>
            <a:r>
              <a:rPr lang="en-US" sz="2400" b="1" noProof="1">
                <a:latin typeface="Consolas" pitchFamily="49" charset="0"/>
                <a:cs typeface="Consolas" pitchFamily="49" charset="0"/>
              </a:rPr>
              <a:t>if (role ==</a:t>
            </a:r>
            <a:r>
              <a:rPr lang="bg-BG" sz="2400" b="1" noProof="1">
                <a:latin typeface="Consolas" pitchFamily="49" charset="0"/>
                <a:cs typeface="Consolas" pitchFamily="49" charset="0"/>
              </a:rPr>
              <a:t>=</a:t>
            </a:r>
            <a:r>
              <a:rPr lang="en-US" sz="2400" b="1" noProof="1">
                <a:latin typeface="Consolas" pitchFamily="49" charset="0"/>
                <a:cs typeface="Consolas" pitchFamily="49" charset="0"/>
              </a:rPr>
              <a:t> "SoftUni") {</a:t>
            </a:r>
          </a:p>
          <a:p>
            <a:pPr defTabSz="1218438">
              <a:spcBef>
                <a:spcPts val="600"/>
              </a:spcBef>
              <a:spcAft>
                <a:spcPts val="600"/>
              </a:spcAft>
            </a:pPr>
            <a:r>
              <a:rPr lang="en-US" sz="2400" b="1" noProof="1">
                <a:latin typeface="Consolas" pitchFamily="49" charset="0"/>
                <a:cs typeface="Consolas" pitchFamily="49" charset="0"/>
              </a:rPr>
              <a:t>  if (password ==</a:t>
            </a:r>
            <a:r>
              <a:rPr lang="bg-BG" sz="2400" b="1" noProof="1">
                <a:latin typeface="Consolas" pitchFamily="49" charset="0"/>
                <a:cs typeface="Consolas" pitchFamily="49" charset="0"/>
              </a:rPr>
              <a:t>=</a:t>
            </a:r>
            <a:r>
              <a:rPr lang="en-US" sz="2400" b="1" noProof="1">
                <a:latin typeface="Consolas" pitchFamily="49" charset="0"/>
                <a:cs typeface="Consolas" pitchFamily="49" charset="0"/>
              </a:rPr>
              <a:t> "SoftUni") {</a:t>
            </a:r>
          </a:p>
          <a:p>
            <a:pPr defTabSz="1218438">
              <a:spcBef>
                <a:spcPts val="600"/>
              </a:spcBef>
              <a:spcAft>
                <a:spcPts val="600"/>
              </a:spcAft>
            </a:pPr>
            <a:r>
              <a:rPr lang="en-US" sz="2400" b="1" noProof="1">
                <a:latin typeface="Consolas" pitchFamily="49" charset="0"/>
                <a:cs typeface="Consolas" pitchFamily="49" charset="0"/>
              </a:rPr>
              <a:t>    console.log("Welcome!");</a:t>
            </a:r>
          </a:p>
          <a:p>
            <a:pPr defTabSz="1218438">
              <a:spcBef>
                <a:spcPts val="600"/>
              </a:spcBef>
              <a:spcAft>
                <a:spcPts val="600"/>
              </a:spcAft>
            </a:pPr>
            <a:r>
              <a:rPr lang="en-US" sz="2400" b="1" noProof="1">
                <a:latin typeface="Consolas" pitchFamily="49" charset="0"/>
                <a:cs typeface="Consolas" pitchFamily="49" charset="0"/>
              </a:rPr>
              <a:t>  }</a:t>
            </a:r>
          </a:p>
          <a:p>
            <a:pPr defTabSz="1218438">
              <a:spcBef>
                <a:spcPts val="600"/>
              </a:spcBef>
              <a:spcAft>
                <a:spcPts val="600"/>
              </a:spcAft>
            </a:pPr>
            <a:r>
              <a:rPr lang="en-US" sz="2400" b="1" noProof="1">
                <a:latin typeface="Consolas" pitchFamily="49" charset="0"/>
                <a:cs typeface="Consolas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4250926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DAFDBA25-671E-45C9-9CE0-F71A9CF15DF8}"/>
                  </a:ext>
                </a:extLst>
              </p14:cNvPr>
              <p14:cNvContentPartPr/>
              <p14:nvPr/>
            </p14:nvContentPartPr>
            <p14:xfrm>
              <a:off x="6269689" y="5141974"/>
              <a:ext cx="360" cy="3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p14="http://schemas.microsoft.com/office/powerpoint/2010/main" xmlns="" xmlns:a16="http://schemas.microsoft.com/office/drawing/2014/main" id="{DAFDBA25-671E-45C9-9CE0-F71A9CF15DF8}"/>
                  </a:ext>
                </a:extLst>
              </p:cNvPr>
              <p:cNvPicPr/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6260689" y="5132974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93A69E22-7FAF-41E1-8E20-09BD8AE616E3}"/>
                  </a:ext>
                </a:extLst>
              </p14:cNvPr>
              <p14:cNvContentPartPr/>
              <p14:nvPr/>
            </p14:nvContentPartPr>
            <p14:xfrm>
              <a:off x="7276969" y="5088694"/>
              <a:ext cx="360" cy="36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p14="http://schemas.microsoft.com/office/powerpoint/2010/main" xmlns="" xmlns:a16="http://schemas.microsoft.com/office/drawing/2014/main" id="{93A69E22-7FAF-41E1-8E20-09BD8AE616E3}"/>
                  </a:ext>
                </a:extLst>
              </p:cNvPr>
              <p:cNvPicPr/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7267969" y="5079694"/>
                <a:ext cx="18000" cy="18000"/>
              </a:xfrm>
              <a:prstGeom prst="rect">
                <a:avLst/>
              </a:prstGeom>
            </p:spPr>
          </p:pic>
        </mc:Fallback>
      </mc:AlternateContent>
      <p:pic>
        <p:nvPicPr>
          <p:cNvPr id="12" name="Picture 11">
            <a:extLst>
              <a:ext uri="{FF2B5EF4-FFF2-40B4-BE49-F238E27FC236}">
                <a16:creationId xmlns:a16="http://schemas.microsoft.com/office/drawing/2014/main" id="{0331FE1F-0AA9-4A65-AE96-C8FA63D879E0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4401" y="1219201"/>
            <a:ext cx="2683811" cy="2683811"/>
          </a:xfrm>
          <a:prstGeom prst="rect">
            <a:avLst/>
          </a:prstGeom>
        </p:spPr>
      </p:pic>
      <p:sp>
        <p:nvSpPr>
          <p:cNvPr id="8" name="Текстов контейнер 2">
            <a:extLst>
              <a:ext uri="{FF2B5EF4-FFF2-40B4-BE49-F238E27FC236}">
                <a16:creationId xmlns:a16="http://schemas.microsoft.com/office/drawing/2014/main" id="{4E7F1C1E-626C-43E4-ACBE-EED45968172B}"/>
              </a:ext>
            </a:extLst>
          </p:cNvPr>
          <p:cNvSpPr txBox="1">
            <a:spLocks/>
          </p:cNvSpPr>
          <p:nvPr/>
        </p:nvSpPr>
        <p:spPr>
          <a:xfrm>
            <a:off x="788637" y="5141974"/>
            <a:ext cx="10958928" cy="768084"/>
          </a:xfrm>
          <a:prstGeom prst="rect">
            <a:avLst/>
          </a:prstGeom>
        </p:spPr>
        <p:txBody>
          <a:bodyPr vert="horz" lIns="108000" tIns="36000" rIns="108000" bIns="36000" rtlCol="0" anchor="ctr" anchorCtr="0">
            <a:noAutofit/>
          </a:bodyPr>
          <a:lstStyle>
            <a:lvl1pPr marL="0" indent="0" algn="ctr" defTabSz="1218438" rtl="0" eaLnBrk="1" latinLnBrk="0" hangingPunct="1">
              <a:spcBef>
                <a:spcPct val="0"/>
              </a:spcBef>
              <a:buNone/>
              <a:defRPr sz="5396" b="1" kern="1200" baseline="0">
                <a:solidFill>
                  <a:schemeClr val="tx1"/>
                </a:solidFill>
                <a:latin typeface="+mj-lt"/>
                <a:ea typeface="+mj-ea"/>
                <a:cs typeface="Arial" pitchFamily="34" charset="0"/>
              </a:defRPr>
            </a:lvl1pPr>
          </a:lstStyle>
          <a:p>
            <a:r>
              <a:rPr lang="bg-BG" sz="4400" dirty="0">
                <a:latin typeface="Calibri" panose="020F0502020204030204" pitchFamily="34" charset="0"/>
                <a:cs typeface="Calibri" panose="020F0502020204030204" pitchFamily="34" charset="0"/>
              </a:rPr>
              <a:t>Увеличаване и намаляване на стойността </a:t>
            </a:r>
            <a:br>
              <a:rPr lang="en-US" sz="44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bg-BG" sz="4400" dirty="0">
                <a:latin typeface="Calibri" panose="020F0502020204030204" pitchFamily="34" charset="0"/>
                <a:cs typeface="Calibri" panose="020F0502020204030204" pitchFamily="34" charset="0"/>
              </a:rPr>
              <a:t>на променливи</a:t>
            </a:r>
          </a:p>
        </p:txBody>
      </p:sp>
      <p:pic>
        <p:nvPicPr>
          <p:cNvPr id="9" name="Picture 11">
            <a:extLst>
              <a:ext uri="{FF2B5EF4-FFF2-40B4-BE49-F238E27FC236}">
                <a16:creationId xmlns:a16="http://schemas.microsoft.com/office/drawing/2014/main" id="{9B626BEF-197F-4C05-A9C5-EF06668B573E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2812" y="1219200"/>
            <a:ext cx="2683811" cy="2683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44614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  <a:buClr>
                <a:schemeClr val="tx1"/>
              </a:buClr>
            </a:pPr>
            <a:r>
              <a:rPr lang="bg-BG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И</a:t>
            </a:r>
            <a:r>
              <a:rPr lang="ru-RU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нкрементиране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-</a:t>
            </a:r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 увеличаването на стойността на дадена</a:t>
            </a:r>
            <a:b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bg-BG" dirty="0">
                <a:latin typeface="Calibri" panose="020F0502020204030204" pitchFamily="34" charset="0"/>
                <a:cs typeface="Calibri" panose="020F0502020204030204" pitchFamily="34" charset="0"/>
              </a:rPr>
              <a:t>променлива</a:t>
            </a:r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lvl="1">
              <a:lnSpc>
                <a:spcPct val="100000"/>
              </a:lnSpc>
            </a:pPr>
            <a:r>
              <a:rPr lang="bg-BG" dirty="0">
                <a:latin typeface="Calibri" panose="020F0502020204030204" pitchFamily="34" charset="0"/>
                <a:cs typeface="Calibri" panose="020F0502020204030204" pitchFamily="34" charset="0"/>
              </a:rPr>
              <a:t>Извършва се чрез оператори за инкрементиране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  <a:r>
              <a:rPr lang="bg-BG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b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bg-BG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префиксни</a:t>
            </a:r>
            <a:r>
              <a:rPr lang="bg-BG" dirty="0">
                <a:latin typeface="Calibri" panose="020F0502020204030204" pitchFamily="34" charset="0"/>
                <a:cs typeface="Calibri" panose="020F0502020204030204" pitchFamily="34" charset="0"/>
              </a:rPr>
              <a:t> и </a:t>
            </a:r>
            <a:r>
              <a:rPr lang="bg-BG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постфиксни</a:t>
            </a:r>
            <a:r>
              <a:rPr lang="en-US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bg-BG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lnSpc>
                <a:spcPct val="100000"/>
              </a:lnSpc>
            </a:pPr>
            <a:r>
              <a:rPr lang="bg-BG" dirty="0">
                <a:latin typeface="Calibri" panose="020F0502020204030204" pitchFamily="34" charset="0"/>
                <a:cs typeface="Calibri" panose="020F0502020204030204" pitchFamily="34" charset="0"/>
              </a:rPr>
              <a:t>Извършва се само върху променливи, които имат числена </a:t>
            </a:r>
            <a:b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bg-BG" dirty="0">
                <a:latin typeface="Calibri" panose="020F0502020204030204" pitchFamily="34" charset="0"/>
                <a:cs typeface="Calibri" panose="020F0502020204030204" pitchFamily="34" charset="0"/>
              </a:rPr>
              <a:t>стойност 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Увеличаване</a:t>
            </a:r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FF0B8A45-8B56-4306-A8AD-1EE356A9E291}"/>
                  </a:ext>
                </a:extLst>
              </p14:cNvPr>
              <p14:cNvContentPartPr/>
              <p14:nvPr/>
            </p14:nvContentPartPr>
            <p14:xfrm>
              <a:off x="4335049" y="755374"/>
              <a:ext cx="360" cy="3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p14="http://schemas.microsoft.com/office/powerpoint/2010/main" xmlns="" xmlns:a16="http://schemas.microsoft.com/office/drawing/2014/main" id="{FF0B8A45-8B56-4306-A8AD-1EE356A9E291}"/>
                  </a:ext>
                </a:extLst>
              </p:cNvPr>
              <p:cNvPicPr/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4326049" y="746374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7134FC92-4BEB-42E7-8FC5-466CCC27DFC3}"/>
                  </a:ext>
                </a:extLst>
              </p14:cNvPr>
              <p14:cNvContentPartPr/>
              <p14:nvPr/>
            </p14:nvContentPartPr>
            <p14:xfrm>
              <a:off x="1737649" y="755374"/>
              <a:ext cx="360" cy="3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p14="http://schemas.microsoft.com/office/powerpoint/2010/main" xmlns="" xmlns:a16="http://schemas.microsoft.com/office/drawing/2014/main" id="{7134FC92-4BEB-42E7-8FC5-466CCC27DFC3}"/>
                  </a:ext>
                </a:extLst>
              </p:cNvPr>
              <p:cNvPicPr/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1728649" y="746374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C233B02A-FB51-4EF8-917E-F4C71FED30A7}"/>
                  </a:ext>
                </a:extLst>
              </p14:cNvPr>
              <p14:cNvContentPartPr/>
              <p14:nvPr/>
            </p14:nvContentPartPr>
            <p14:xfrm>
              <a:off x="1340209" y="569974"/>
              <a:ext cx="360" cy="3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p14="http://schemas.microsoft.com/office/powerpoint/2010/main" xmlns="" xmlns:a16="http://schemas.microsoft.com/office/drawing/2014/main" id="{C233B02A-FB51-4EF8-917E-F4C71FED30A7}"/>
                  </a:ext>
                </a:extLst>
              </p:cNvPr>
              <p:cNvPicPr/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1331209" y="560974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37602A40-E6C0-493D-9EC3-7DF9A4E46323}"/>
                  </a:ext>
                </a:extLst>
              </p14:cNvPr>
              <p14:cNvContentPartPr/>
              <p14:nvPr/>
            </p14:nvContentPartPr>
            <p14:xfrm>
              <a:off x="1591849" y="662494"/>
              <a:ext cx="360" cy="36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p14="http://schemas.microsoft.com/office/powerpoint/2010/main" xmlns="" xmlns:a16="http://schemas.microsoft.com/office/drawing/2014/main" id="{37602A40-E6C0-493D-9EC3-7DF9A4E46323}"/>
                  </a:ext>
                </a:extLst>
              </p:cNvPr>
              <p:cNvPicPr/>
              <p:nvPr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1582849" y="653494"/>
                <a:ext cx="18000" cy="18000"/>
              </a:xfrm>
              <a:prstGeom prst="rect">
                <a:avLst/>
              </a:prstGeom>
            </p:spPr>
          </p:pic>
        </mc:Fallback>
      </mc:AlternateContent>
      <p:sp>
        <p:nvSpPr>
          <p:cNvPr id="11" name="Slide Number">
            <a:extLst>
              <a:ext uri="{FF2B5EF4-FFF2-40B4-BE49-F238E27FC236}">
                <a16:creationId xmlns:a16="http://schemas.microsoft.com/office/drawing/2014/main" id="{617399FF-B27F-461B-A021-2A39B5EBDC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11</a:t>
            </a:fld>
            <a:endParaRPr lang="en-US" noProof="0" dirty="0"/>
          </a:p>
        </p:txBody>
      </p:sp>
      <p:graphicFrame>
        <p:nvGraphicFramePr>
          <p:cNvPr id="12" name="Table 9">
            <a:extLst>
              <a:ext uri="{FF2B5EF4-FFF2-40B4-BE49-F238E27FC236}">
                <a16:creationId xmlns:a16="http://schemas.microsoft.com/office/drawing/2014/main" id="{E4844FF4-3B77-44A9-8F9C-B0E866E507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879301"/>
              </p:ext>
            </p:extLst>
          </p:nvPr>
        </p:nvGraphicFramePr>
        <p:xfrm>
          <a:off x="609600" y="4779000"/>
          <a:ext cx="10972800" cy="15712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6790">
                  <a:extLst>
                    <a:ext uri="{9D8B030D-6E8A-4147-A177-3AD203B41FA5}">
                      <a16:colId xmlns:a16="http://schemas.microsoft.com/office/drawing/2014/main" val="3715383205"/>
                    </a:ext>
                  </a:extLst>
                </a:gridCol>
                <a:gridCol w="3128360">
                  <a:extLst>
                    <a:ext uri="{9D8B030D-6E8A-4147-A177-3AD203B41FA5}">
                      <a16:colId xmlns:a16="http://schemas.microsoft.com/office/drawing/2014/main" val="4207537303"/>
                    </a:ext>
                  </a:extLst>
                </a:gridCol>
                <a:gridCol w="6087650">
                  <a:extLst>
                    <a:ext uri="{9D8B030D-6E8A-4147-A177-3AD203B41FA5}">
                      <a16:colId xmlns:a16="http://schemas.microsoft.com/office/drawing/2014/main" val="33560206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bg-BG" sz="2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Пример</a:t>
                      </a:r>
                      <a:endParaRPr kumimoji="1" lang="en-US" sz="28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bg-BG" sz="2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Име</a:t>
                      </a:r>
                      <a:endParaRPr kumimoji="1" lang="en-US" sz="28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bg-BG" sz="2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Резултат</a:t>
                      </a:r>
                      <a:endParaRPr kumimoji="1" lang="en-US" sz="28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95441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2575" marR="0" lvl="0" indent="-282575" algn="ctr" defTabSz="914400" rtl="0" eaLnBrk="0" fontAlgn="base" latinLnBrk="0" hangingPunct="0">
                        <a:lnSpc>
                          <a:spcPts val="38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>
                          <a:srgbClr val="46A6BD">
                            <a:lumMod val="40000"/>
                            <a:lumOff val="60000"/>
                          </a:srgbClr>
                        </a:buClr>
                        <a:buSzPct val="70000"/>
                        <a:buFont typeface="Wingdings 2" pitchFamily="18" charset="2"/>
                        <a:buNone/>
                        <a:tabLst>
                          <a:tab pos="282575" algn="l"/>
                        </a:tabLst>
                        <a:defRPr/>
                      </a:pPr>
                      <a:r>
                        <a:rPr kumimoji="1" lang="bg-BG" sz="25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++</a:t>
                      </a:r>
                      <a:r>
                        <a:rPr kumimoji="1" lang="en-US" sz="25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2575" marR="0" lvl="0" indent="-282575" algn="l" defTabSz="914400" rtl="0" eaLnBrk="0" fontAlgn="base" latinLnBrk="0" hangingPunct="0">
                        <a:lnSpc>
                          <a:spcPts val="38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>
                          <a:srgbClr val="46A6BD">
                            <a:lumMod val="40000"/>
                            <a:lumOff val="60000"/>
                          </a:srgbClr>
                        </a:buClr>
                        <a:buSzPct val="70000"/>
                        <a:buFont typeface="Wingdings 2" pitchFamily="18" charset="2"/>
                        <a:buNone/>
                        <a:tabLst>
                          <a:tab pos="282575" algn="l"/>
                        </a:tabLst>
                        <a:defRPr/>
                      </a:pPr>
                      <a:r>
                        <a:rPr kumimoji="1" lang="bg-BG" sz="25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Пре</a:t>
                      </a:r>
                      <a:r>
                        <a:rPr kumimoji="1" lang="bg-BG" sz="25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-инкрементация</a:t>
                      </a:r>
                      <a:endParaRPr kumimoji="1" lang="en-US" sz="25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2575" marR="0" lvl="0" indent="-282575" algn="l" defTabSz="914400" rtl="0" eaLnBrk="0" fontAlgn="base" latinLnBrk="0" hangingPunct="0">
                        <a:lnSpc>
                          <a:spcPts val="38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>
                          <a:srgbClr val="46A6BD">
                            <a:lumMod val="40000"/>
                            <a:lumOff val="60000"/>
                          </a:srgbClr>
                        </a:buClr>
                        <a:buSzPct val="70000"/>
                        <a:buFont typeface="Wingdings 2" pitchFamily="18" charset="2"/>
                        <a:buNone/>
                        <a:tabLst>
                          <a:tab pos="282575" algn="l"/>
                        </a:tabLst>
                        <a:defRPr/>
                      </a:pPr>
                      <a:r>
                        <a:rPr kumimoji="1" lang="bg-BG" sz="25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Увеличава стойността с единица и връща </a:t>
                      </a:r>
                      <a:r>
                        <a:rPr kumimoji="1" lang="bg-BG" sz="25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alibri" panose="020F0502020204030204" pitchFamily="34" charset="0"/>
                        </a:rPr>
                        <a:t>а</a:t>
                      </a:r>
                      <a:endParaRPr kumimoji="1" lang="en-US" sz="25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45085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2575" marR="0" lvl="0" indent="-282575" algn="ctr" defTabSz="914400" rtl="0" eaLnBrk="0" fontAlgn="base" latinLnBrk="0" hangingPunct="0">
                        <a:lnSpc>
                          <a:spcPts val="38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>
                          <a:srgbClr val="46A6BD">
                            <a:lumMod val="40000"/>
                            <a:lumOff val="60000"/>
                          </a:srgbClr>
                        </a:buClr>
                        <a:buSzPct val="70000"/>
                        <a:buFont typeface="Wingdings 2" pitchFamily="18" charset="2"/>
                        <a:buNone/>
                        <a:tabLst>
                          <a:tab pos="282575" algn="l"/>
                        </a:tabLst>
                        <a:defRPr/>
                      </a:pPr>
                      <a:r>
                        <a:rPr kumimoji="1" lang="bg-BG" sz="25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а++</a:t>
                      </a:r>
                      <a:endParaRPr kumimoji="1" lang="en-US" sz="25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2575" marR="0" lvl="0" indent="-282575" algn="l" defTabSz="914400" rtl="0" eaLnBrk="0" fontAlgn="base" latinLnBrk="0" hangingPunct="0">
                        <a:lnSpc>
                          <a:spcPts val="38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>
                          <a:srgbClr val="46A6BD">
                            <a:lumMod val="40000"/>
                            <a:lumOff val="60000"/>
                          </a:srgbClr>
                        </a:buClr>
                        <a:buSzPct val="70000"/>
                        <a:buFont typeface="Wingdings 2" pitchFamily="18" charset="2"/>
                        <a:buNone/>
                        <a:tabLst>
                          <a:tab pos="282575" algn="l"/>
                        </a:tabLst>
                        <a:defRPr/>
                      </a:pPr>
                      <a:r>
                        <a:rPr kumimoji="1" lang="bg-BG" sz="25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Пост</a:t>
                      </a:r>
                      <a:r>
                        <a:rPr kumimoji="1" lang="bg-BG" sz="25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-инкрементация</a:t>
                      </a:r>
                      <a:endParaRPr kumimoji="1" lang="en-US" sz="25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2575" marR="0" lvl="0" indent="-282575" algn="l" defTabSz="914400" rtl="0" eaLnBrk="0" fontAlgn="base" latinLnBrk="0" hangingPunct="0">
                        <a:lnSpc>
                          <a:spcPts val="38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>
                          <a:srgbClr val="46A6BD">
                            <a:lumMod val="40000"/>
                            <a:lumOff val="60000"/>
                          </a:srgbClr>
                        </a:buClr>
                        <a:buSzPct val="70000"/>
                        <a:buFont typeface="Wingdings 2" pitchFamily="18" charset="2"/>
                        <a:buNone/>
                        <a:tabLst>
                          <a:tab pos="282575" algn="l"/>
                        </a:tabLst>
                        <a:defRPr/>
                      </a:pPr>
                      <a:r>
                        <a:rPr kumimoji="1" lang="bg-BG" sz="25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Връща </a:t>
                      </a:r>
                      <a:r>
                        <a:rPr kumimoji="1" lang="bg-BG" sz="25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alibri" panose="020F0502020204030204" pitchFamily="34" charset="0"/>
                        </a:rPr>
                        <a:t>а</a:t>
                      </a:r>
                      <a:r>
                        <a:rPr kumimoji="1" lang="bg-BG" sz="25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 и увеличава стойността с единица</a:t>
                      </a:r>
                      <a:endParaRPr kumimoji="1" lang="en-US" sz="25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37649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611397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  <a:buClr>
                <a:schemeClr val="tx1"/>
              </a:buClr>
            </a:pPr>
            <a:r>
              <a:rPr lang="bg-BG" sz="32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Пре</a:t>
            </a:r>
            <a:r>
              <a:rPr lang="bg-BG" sz="3200" dirty="0">
                <a:latin typeface="Calibri" panose="020F0502020204030204" pitchFamily="34" charset="0"/>
                <a:cs typeface="Calibri" panose="020F0502020204030204" pitchFamily="34" charset="0"/>
              </a:rPr>
              <a:t>-инкрементация</a:t>
            </a:r>
            <a:endParaRPr lang="en-US" sz="3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00000"/>
              </a:lnSpc>
            </a:pPr>
            <a:endParaRPr lang="en-US" sz="3200" dirty="0"/>
          </a:p>
          <a:p>
            <a:pPr>
              <a:lnSpc>
                <a:spcPct val="100000"/>
              </a:lnSpc>
            </a:pPr>
            <a:endParaRPr lang="en-US" sz="3200" dirty="0"/>
          </a:p>
          <a:p>
            <a:pPr>
              <a:lnSpc>
                <a:spcPct val="100000"/>
              </a:lnSpc>
            </a:pPr>
            <a:endParaRPr lang="en-US" sz="3200" dirty="0"/>
          </a:p>
          <a:p>
            <a:pPr>
              <a:lnSpc>
                <a:spcPct val="100000"/>
              </a:lnSpc>
              <a:buClr>
                <a:schemeClr val="tx1"/>
              </a:buClr>
            </a:pPr>
            <a:r>
              <a:rPr lang="bg-BG" sz="32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Пост</a:t>
            </a:r>
            <a:r>
              <a:rPr lang="bg-BG" sz="3200" dirty="0">
                <a:latin typeface="Calibri" panose="020F0502020204030204" pitchFamily="34" charset="0"/>
                <a:cs typeface="Calibri" panose="020F0502020204030204" pitchFamily="34" charset="0"/>
              </a:rPr>
              <a:t>-инкрементация</a:t>
            </a:r>
          </a:p>
          <a:p>
            <a:pPr marL="0" indent="0">
              <a:lnSpc>
                <a:spcPct val="100000"/>
              </a:lnSpc>
              <a:buNone/>
            </a:pPr>
            <a:endParaRPr lang="bg-BG" sz="3200" dirty="0"/>
          </a:p>
          <a:p>
            <a:pPr marL="377887" lvl="1" indent="0">
              <a:lnSpc>
                <a:spcPct val="100000"/>
              </a:lnSpc>
              <a:buNone/>
            </a:pPr>
            <a:endParaRPr lang="en-US" sz="2400" b="1" dirty="0">
              <a:solidFill>
                <a:schemeClr val="tx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Увеличаване</a:t>
            </a:r>
            <a:r>
              <a:rPr lang="en-US" dirty="0"/>
              <a:t> (2)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FF0B8A45-8B56-4306-A8AD-1EE356A9E291}"/>
                  </a:ext>
                </a:extLst>
              </p14:cNvPr>
              <p14:cNvContentPartPr/>
              <p14:nvPr/>
            </p14:nvContentPartPr>
            <p14:xfrm>
              <a:off x="4335049" y="755374"/>
              <a:ext cx="360" cy="3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p14="http://schemas.microsoft.com/office/powerpoint/2010/main" xmlns="" xmlns:a16="http://schemas.microsoft.com/office/drawing/2014/main" id="{FF0B8A45-8B56-4306-A8AD-1EE356A9E291}"/>
                  </a:ext>
                </a:extLst>
              </p:cNvPr>
              <p:cNvPicPr/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4326049" y="746374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7134FC92-4BEB-42E7-8FC5-466CCC27DFC3}"/>
                  </a:ext>
                </a:extLst>
              </p14:cNvPr>
              <p14:cNvContentPartPr/>
              <p14:nvPr/>
            </p14:nvContentPartPr>
            <p14:xfrm>
              <a:off x="1737649" y="755374"/>
              <a:ext cx="360" cy="3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p14="http://schemas.microsoft.com/office/powerpoint/2010/main" xmlns="" xmlns:a16="http://schemas.microsoft.com/office/drawing/2014/main" id="{7134FC92-4BEB-42E7-8FC5-466CCC27DFC3}"/>
                  </a:ext>
                </a:extLst>
              </p:cNvPr>
              <p:cNvPicPr/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1728649" y="746374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C233B02A-FB51-4EF8-917E-F4C71FED30A7}"/>
                  </a:ext>
                </a:extLst>
              </p14:cNvPr>
              <p14:cNvContentPartPr/>
              <p14:nvPr/>
            </p14:nvContentPartPr>
            <p14:xfrm>
              <a:off x="1340209" y="569974"/>
              <a:ext cx="360" cy="3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p14="http://schemas.microsoft.com/office/powerpoint/2010/main" xmlns="" xmlns:a16="http://schemas.microsoft.com/office/drawing/2014/main" id="{C233B02A-FB51-4EF8-917E-F4C71FED30A7}"/>
                  </a:ext>
                </a:extLst>
              </p:cNvPr>
              <p:cNvPicPr/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1331209" y="560974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37602A40-E6C0-493D-9EC3-7DF9A4E46323}"/>
                  </a:ext>
                </a:extLst>
              </p14:cNvPr>
              <p14:cNvContentPartPr/>
              <p14:nvPr/>
            </p14:nvContentPartPr>
            <p14:xfrm>
              <a:off x="1591849" y="662494"/>
              <a:ext cx="360" cy="36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p14="http://schemas.microsoft.com/office/powerpoint/2010/main" xmlns="" xmlns:a16="http://schemas.microsoft.com/office/drawing/2014/main" id="{37602A40-E6C0-493D-9EC3-7DF9A4E46323}"/>
                  </a:ext>
                </a:extLst>
              </p:cNvPr>
              <p:cNvPicPr/>
              <p:nvPr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1582849" y="653494"/>
                <a:ext cx="18000" cy="18000"/>
              </a:xfrm>
              <a:prstGeom prst="rect">
                <a:avLst/>
              </a:prstGeom>
            </p:spPr>
          </p:pic>
        </mc:Fallback>
      </mc:AlternateContent>
      <p:sp>
        <p:nvSpPr>
          <p:cNvPr id="10" name="Rectangle 5">
            <a:extLst>
              <a:ext uri="{FF2B5EF4-FFF2-40B4-BE49-F238E27FC236}">
                <a16:creationId xmlns:a16="http://schemas.microsoft.com/office/drawing/2014/main" id="{FDD0617A-1CAF-4870-9E08-F98ADAFB10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1" y="1891576"/>
            <a:ext cx="4835399" cy="1643527"/>
          </a:xfrm>
          <a:prstGeom prst="rect">
            <a:avLst/>
          </a:prstGeom>
          <a:solidFill>
            <a:schemeClr val="accent5">
              <a:lumMod val="60000"/>
              <a:lumOff val="4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lnSpc>
                <a:spcPct val="12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latin typeface="Consolas" pitchFamily="49" charset="0"/>
                <a:cs typeface="Consolas" pitchFamily="49" charset="0"/>
              </a:rPr>
              <a:t>let a = 1; </a:t>
            </a:r>
          </a:p>
          <a:p>
            <a:pPr eaLnBrk="0" hangingPunct="0">
              <a:lnSpc>
                <a:spcPct val="12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latin typeface="Consolas" pitchFamily="49" charset="0"/>
                <a:cs typeface="Consolas" pitchFamily="49" charset="0"/>
              </a:rPr>
              <a:t>console.log(</a:t>
            </a:r>
            <a:r>
              <a:rPr lang="bg-BG" sz="2800" b="1" noProof="1">
                <a:latin typeface="Consolas" pitchFamily="49" charset="0"/>
                <a:cs typeface="Consolas" pitchFamily="49" charset="0"/>
              </a:rPr>
              <a:t>++</a:t>
            </a:r>
            <a:r>
              <a:rPr lang="en-US" sz="2800" b="1" noProof="1">
                <a:latin typeface="Consolas" pitchFamily="49" charset="0"/>
                <a:cs typeface="Consolas" pitchFamily="49" charset="0"/>
              </a:rPr>
              <a:t>a);</a:t>
            </a:r>
          </a:p>
          <a:p>
            <a:pPr eaLnBrk="0" hangingPunct="0">
              <a:lnSpc>
                <a:spcPct val="12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latin typeface="Consolas" pitchFamily="49" charset="0"/>
                <a:cs typeface="Consolas" pitchFamily="49" charset="0"/>
              </a:rPr>
              <a:t>console.log(a);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B477E5A-D516-44CC-AE83-BEE99AEAF368}"/>
              </a:ext>
            </a:extLst>
          </p:cNvPr>
          <p:cNvSpPr txBox="1"/>
          <p:nvPr/>
        </p:nvSpPr>
        <p:spPr>
          <a:xfrm>
            <a:off x="4746000" y="2410950"/>
            <a:ext cx="973343" cy="5724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0" hangingPunct="0">
              <a:lnSpc>
                <a:spcPct val="12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dirty="0">
                <a:solidFill>
                  <a:schemeClr val="accent2"/>
                </a:solidFill>
                <a:latin typeface="Consolas" pitchFamily="49" charset="0"/>
                <a:cs typeface="Consolas" pitchFamily="49" charset="0"/>
              </a:rPr>
              <a:t>// 2</a:t>
            </a:r>
          </a:p>
        </p:txBody>
      </p:sp>
      <p:sp>
        <p:nvSpPr>
          <p:cNvPr id="12" name="Rectangle 5">
            <a:extLst>
              <a:ext uri="{FF2B5EF4-FFF2-40B4-BE49-F238E27FC236}">
                <a16:creationId xmlns:a16="http://schemas.microsoft.com/office/drawing/2014/main" id="{1E99A78C-12BB-46F7-9A53-078DEA1886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1" y="4478506"/>
            <a:ext cx="4835399" cy="1643527"/>
          </a:xfrm>
          <a:prstGeom prst="rect">
            <a:avLst/>
          </a:prstGeom>
          <a:solidFill>
            <a:schemeClr val="accent5">
              <a:lumMod val="60000"/>
              <a:lumOff val="4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lnSpc>
                <a:spcPct val="12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latin typeface="Consolas" pitchFamily="49" charset="0"/>
                <a:cs typeface="Consolas" pitchFamily="49" charset="0"/>
              </a:rPr>
              <a:t>let a = 1;</a:t>
            </a:r>
          </a:p>
          <a:p>
            <a:pPr eaLnBrk="0" hangingPunct="0">
              <a:lnSpc>
                <a:spcPct val="12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latin typeface="Consolas" pitchFamily="49" charset="0"/>
                <a:cs typeface="Consolas" pitchFamily="49" charset="0"/>
              </a:rPr>
              <a:t>console.log(a++);</a:t>
            </a:r>
          </a:p>
          <a:p>
            <a:pPr eaLnBrk="0" hangingPunct="0">
              <a:lnSpc>
                <a:spcPct val="12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latin typeface="Consolas" pitchFamily="49" charset="0"/>
                <a:cs typeface="Consolas" pitchFamily="49" charset="0"/>
              </a:rPr>
              <a:t>console.log(a);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F259D28-45A1-45CA-BF5A-5D4A85AC4848}"/>
              </a:ext>
            </a:extLst>
          </p:cNvPr>
          <p:cNvSpPr txBox="1"/>
          <p:nvPr/>
        </p:nvSpPr>
        <p:spPr>
          <a:xfrm>
            <a:off x="4746000" y="5012098"/>
            <a:ext cx="973343" cy="5724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0" hangingPunct="0">
              <a:lnSpc>
                <a:spcPct val="12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dirty="0">
                <a:solidFill>
                  <a:schemeClr val="accent2"/>
                </a:solidFill>
                <a:latin typeface="Consolas" pitchFamily="49" charset="0"/>
                <a:cs typeface="Consolas" pitchFamily="49" charset="0"/>
              </a:rPr>
              <a:t>// 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23CB07D-C0AB-4AFB-AE20-FD527A17360E}"/>
              </a:ext>
            </a:extLst>
          </p:cNvPr>
          <p:cNvSpPr txBox="1"/>
          <p:nvPr/>
        </p:nvSpPr>
        <p:spPr>
          <a:xfrm>
            <a:off x="4746000" y="2899684"/>
            <a:ext cx="973343" cy="5724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0" hangingPunct="0">
              <a:lnSpc>
                <a:spcPct val="12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dirty="0">
                <a:solidFill>
                  <a:schemeClr val="accent2"/>
                </a:solidFill>
                <a:latin typeface="Consolas" pitchFamily="49" charset="0"/>
                <a:cs typeface="Consolas" pitchFamily="49" charset="0"/>
              </a:rPr>
              <a:t>// 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76703DB-F577-42B0-BD39-20EECA7CB517}"/>
              </a:ext>
            </a:extLst>
          </p:cNvPr>
          <p:cNvSpPr txBox="1"/>
          <p:nvPr/>
        </p:nvSpPr>
        <p:spPr>
          <a:xfrm>
            <a:off x="4746000" y="5549568"/>
            <a:ext cx="973343" cy="5724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0" hangingPunct="0">
              <a:lnSpc>
                <a:spcPct val="12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dirty="0">
                <a:solidFill>
                  <a:schemeClr val="accent2"/>
                </a:solidFill>
                <a:latin typeface="Consolas" pitchFamily="49" charset="0"/>
                <a:cs typeface="Consolas" pitchFamily="49" charset="0"/>
              </a:rPr>
              <a:t>// 2</a:t>
            </a:r>
          </a:p>
        </p:txBody>
      </p:sp>
      <p:sp>
        <p:nvSpPr>
          <p:cNvPr id="18" name="AutoShape 7">
            <a:extLst>
              <a:ext uri="{FF2B5EF4-FFF2-40B4-BE49-F238E27FC236}">
                <a16:creationId xmlns:a16="http://schemas.microsoft.com/office/drawing/2014/main" id="{7514CB40-AD68-4ACF-9BA8-D25A1D5EA3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56001" y="3833418"/>
            <a:ext cx="6383387" cy="1170582"/>
          </a:xfrm>
          <a:prstGeom prst="wedgeRoundRectCallout">
            <a:avLst>
              <a:gd name="adj1" fmla="val -55498"/>
              <a:gd name="adj2" fmla="val 46031"/>
              <a:gd name="adj3" fmla="val 16667"/>
            </a:avLst>
          </a:prstGeom>
          <a:solidFill>
            <a:schemeClr val="tx1">
              <a:alpha val="80000"/>
            </a:schemeClr>
          </a:solidFill>
          <a:ln w="19050">
            <a:solidFill>
              <a:schemeClr val="tx1">
                <a:alpha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bg-BG" sz="2800" b="1" dirty="0">
                <a:solidFill>
                  <a:schemeClr val="bg2"/>
                </a:solidFill>
              </a:rPr>
              <a:t>Първо се принтира променливата </a:t>
            </a:r>
            <a:r>
              <a:rPr lang="en-US" sz="2800" b="1" dirty="0">
                <a:solidFill>
                  <a:schemeClr val="bg2"/>
                </a:solidFill>
              </a:rPr>
              <a:t>a </a:t>
            </a:r>
            <a:r>
              <a:rPr lang="bg-BG" sz="2800" b="1" dirty="0">
                <a:solidFill>
                  <a:schemeClr val="bg2"/>
                </a:solidFill>
              </a:rPr>
              <a:t>и след това се увеличава с 1</a:t>
            </a:r>
          </a:p>
        </p:txBody>
      </p:sp>
      <p:sp>
        <p:nvSpPr>
          <p:cNvPr id="19" name="AutoShape 7">
            <a:extLst>
              <a:ext uri="{FF2B5EF4-FFF2-40B4-BE49-F238E27FC236}">
                <a16:creationId xmlns:a16="http://schemas.microsoft.com/office/drawing/2014/main" id="{A23AD7A1-7032-4158-9AF7-ED7F7647A8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56000" y="1247048"/>
            <a:ext cx="6383388" cy="1127503"/>
          </a:xfrm>
          <a:prstGeom prst="wedgeRoundRectCallout">
            <a:avLst>
              <a:gd name="adj1" fmla="val -55299"/>
              <a:gd name="adj2" fmla="val 51637"/>
              <a:gd name="adj3" fmla="val 16667"/>
            </a:avLst>
          </a:prstGeom>
          <a:solidFill>
            <a:schemeClr val="tx1">
              <a:alpha val="80000"/>
            </a:schemeClr>
          </a:solidFill>
          <a:ln w="19050">
            <a:solidFill>
              <a:schemeClr val="tx1">
                <a:alpha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bg-BG" sz="2800" b="1" dirty="0">
                <a:solidFill>
                  <a:schemeClr val="bg2"/>
                </a:solidFill>
              </a:rPr>
              <a:t>Стойността на променливата </a:t>
            </a:r>
            <a:r>
              <a:rPr lang="en-US" sz="2800" b="1" dirty="0">
                <a:solidFill>
                  <a:schemeClr val="bg2"/>
                </a:solidFill>
                <a:latin typeface="Consolas"/>
              </a:rPr>
              <a:t>a</a:t>
            </a:r>
            <a:r>
              <a:rPr lang="en-US" sz="2800" b="1" dirty="0">
                <a:solidFill>
                  <a:schemeClr val="bg2"/>
                </a:solidFill>
              </a:rPr>
              <a:t> </a:t>
            </a:r>
            <a:r>
              <a:rPr lang="bg-BG" sz="2800" b="1" dirty="0">
                <a:solidFill>
                  <a:schemeClr val="bg2"/>
                </a:solidFill>
              </a:rPr>
              <a:t>се увеличава с 1</a:t>
            </a:r>
            <a:r>
              <a:rPr lang="en-US" sz="2800" b="1" dirty="0">
                <a:solidFill>
                  <a:schemeClr val="bg2"/>
                </a:solidFill>
              </a:rPr>
              <a:t> </a:t>
            </a:r>
            <a:r>
              <a:rPr lang="bg-BG" sz="2800" b="1" dirty="0">
                <a:solidFill>
                  <a:schemeClr val="bg2"/>
                </a:solidFill>
              </a:rPr>
              <a:t>и след това се принтира</a:t>
            </a:r>
          </a:p>
        </p:txBody>
      </p:sp>
      <p:sp>
        <p:nvSpPr>
          <p:cNvPr id="20" name="Slide Number">
            <a:extLst>
              <a:ext uri="{FF2B5EF4-FFF2-40B4-BE49-F238E27FC236}">
                <a16:creationId xmlns:a16="http://schemas.microsoft.com/office/drawing/2014/main" id="{40D26114-3169-4DCB-BE7C-20874181B5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12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8341552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5" grpId="0"/>
      <p:bldP spid="12" grpId="0" animBg="1"/>
      <p:bldP spid="15" grpId="0"/>
      <p:bldP spid="17" grpId="0"/>
      <p:bldP spid="18" grpId="0" animBg="1"/>
      <p:bldP spid="19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">
            <a:extLst>
              <a:ext uri="{FF2B5EF4-FFF2-40B4-BE49-F238E27FC236}">
                <a16:creationId xmlns:a16="http://schemas.microsoft.com/office/drawing/2014/main" id="{BA2A2851-8BFE-4A32-89D6-71F88E8B16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13</a:t>
            </a:fld>
            <a:endParaRPr lang="en-US" noProof="0" dirty="0"/>
          </a:p>
        </p:txBody>
      </p:sp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>
              <a:lnSpc>
                <a:spcPct val="110000"/>
              </a:lnSpc>
              <a:buClr>
                <a:schemeClr val="tx1"/>
              </a:buClr>
            </a:pPr>
            <a:r>
              <a:rPr lang="bg-BG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Декрементиране</a:t>
            </a:r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 – намаляването на стойността на дадена </a:t>
            </a:r>
            <a:b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променлива </a:t>
            </a:r>
          </a:p>
          <a:p>
            <a:pPr lvl="1">
              <a:lnSpc>
                <a:spcPct val="100000"/>
              </a:lnSpc>
            </a:pPr>
            <a:r>
              <a:rPr lang="bg-BG" dirty="0">
                <a:latin typeface="Calibri" panose="020F0502020204030204" pitchFamily="34" charset="0"/>
                <a:cs typeface="Calibri" panose="020F0502020204030204" pitchFamily="34" charset="0"/>
              </a:rPr>
              <a:t>Извършва се чрез оператори за декрементиране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  <a:b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bg-BG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префиксни</a:t>
            </a:r>
            <a:r>
              <a:rPr lang="bg-BG" dirty="0">
                <a:latin typeface="Calibri" panose="020F0502020204030204" pitchFamily="34" charset="0"/>
                <a:cs typeface="Calibri" panose="020F0502020204030204" pitchFamily="34" charset="0"/>
              </a:rPr>
              <a:t> и </a:t>
            </a:r>
            <a:r>
              <a:rPr lang="bg-BG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постфиксни</a:t>
            </a:r>
            <a:r>
              <a:rPr lang="en-US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bg-BG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lnSpc>
                <a:spcPct val="100000"/>
              </a:lnSpc>
            </a:pPr>
            <a:r>
              <a:rPr lang="bg-BG" dirty="0">
                <a:latin typeface="Calibri" panose="020F0502020204030204" pitchFamily="34" charset="0"/>
                <a:cs typeface="Calibri" panose="020F0502020204030204" pitchFamily="34" charset="0"/>
              </a:rPr>
              <a:t>Извършва се само върху променливи, които имат числена </a:t>
            </a:r>
            <a:b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bg-BG" dirty="0">
                <a:latin typeface="Calibri" panose="020F0502020204030204" pitchFamily="34" charset="0"/>
                <a:cs typeface="Calibri" panose="020F0502020204030204" pitchFamily="34" charset="0"/>
              </a:rPr>
              <a:t>стойност </a:t>
            </a:r>
          </a:p>
          <a:p>
            <a:pPr lvl="1">
              <a:lnSpc>
                <a:spcPct val="100000"/>
              </a:lnSpc>
            </a:pPr>
            <a:endParaRPr lang="bg-BG" sz="3000" dirty="0"/>
          </a:p>
          <a:p>
            <a:pPr marL="0" indent="0">
              <a:lnSpc>
                <a:spcPct val="100000"/>
              </a:lnSpc>
              <a:buNone/>
            </a:pPr>
            <a:endParaRPr lang="en-US" sz="320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Намаляване</a:t>
            </a:r>
            <a:r>
              <a:rPr lang="en-US" dirty="0"/>
              <a:t> 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FF0B8A45-8B56-4306-A8AD-1EE356A9E291}"/>
                  </a:ext>
                </a:extLst>
              </p14:cNvPr>
              <p14:cNvContentPartPr/>
              <p14:nvPr/>
            </p14:nvContentPartPr>
            <p14:xfrm>
              <a:off x="4335049" y="755374"/>
              <a:ext cx="360" cy="3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p14="http://schemas.microsoft.com/office/powerpoint/2010/main" xmlns="" xmlns:a16="http://schemas.microsoft.com/office/drawing/2014/main" id="{FF0B8A45-8B56-4306-A8AD-1EE356A9E291}"/>
                  </a:ext>
                </a:extLst>
              </p:cNvPr>
              <p:cNvPicPr/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4326049" y="746374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7134FC92-4BEB-42E7-8FC5-466CCC27DFC3}"/>
                  </a:ext>
                </a:extLst>
              </p14:cNvPr>
              <p14:cNvContentPartPr/>
              <p14:nvPr/>
            </p14:nvContentPartPr>
            <p14:xfrm>
              <a:off x="1737649" y="755374"/>
              <a:ext cx="360" cy="3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p14="http://schemas.microsoft.com/office/powerpoint/2010/main" xmlns="" xmlns:a16="http://schemas.microsoft.com/office/drawing/2014/main" id="{7134FC92-4BEB-42E7-8FC5-466CCC27DFC3}"/>
                  </a:ext>
                </a:extLst>
              </p:cNvPr>
              <p:cNvPicPr/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1728649" y="746374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C233B02A-FB51-4EF8-917E-F4C71FED30A7}"/>
                  </a:ext>
                </a:extLst>
              </p14:cNvPr>
              <p14:cNvContentPartPr/>
              <p14:nvPr/>
            </p14:nvContentPartPr>
            <p14:xfrm>
              <a:off x="1340209" y="569974"/>
              <a:ext cx="360" cy="3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p14="http://schemas.microsoft.com/office/powerpoint/2010/main" xmlns="" xmlns:a16="http://schemas.microsoft.com/office/drawing/2014/main" id="{C233B02A-FB51-4EF8-917E-F4C71FED30A7}"/>
                  </a:ext>
                </a:extLst>
              </p:cNvPr>
              <p:cNvPicPr/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1331209" y="560974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37602A40-E6C0-493D-9EC3-7DF9A4E46323}"/>
                  </a:ext>
                </a:extLst>
              </p14:cNvPr>
              <p14:cNvContentPartPr/>
              <p14:nvPr/>
            </p14:nvContentPartPr>
            <p14:xfrm>
              <a:off x="1591849" y="662494"/>
              <a:ext cx="360" cy="36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p14="http://schemas.microsoft.com/office/powerpoint/2010/main" xmlns="" xmlns:a16="http://schemas.microsoft.com/office/drawing/2014/main" id="{37602A40-E6C0-493D-9EC3-7DF9A4E46323}"/>
                  </a:ext>
                </a:extLst>
              </p:cNvPr>
              <p:cNvPicPr/>
              <p:nvPr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1582849" y="653494"/>
                <a:ext cx="18000" cy="18000"/>
              </a:xfrm>
              <a:prstGeom prst="rect">
                <a:avLst/>
              </a:prstGeom>
            </p:spPr>
          </p:pic>
        </mc:Fallback>
      </mc:AlternateContent>
      <p:graphicFrame>
        <p:nvGraphicFramePr>
          <p:cNvPr id="11" name="Table 16">
            <a:extLst>
              <a:ext uri="{FF2B5EF4-FFF2-40B4-BE49-F238E27FC236}">
                <a16:creationId xmlns:a16="http://schemas.microsoft.com/office/drawing/2014/main" id="{D6056DAD-992B-4D9B-A669-AF3F998BA6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44912"/>
              </p:ext>
            </p:extLst>
          </p:nvPr>
        </p:nvGraphicFramePr>
        <p:xfrm>
          <a:off x="609600" y="4779000"/>
          <a:ext cx="10972800" cy="15712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0520">
                  <a:extLst>
                    <a:ext uri="{9D8B030D-6E8A-4147-A177-3AD203B41FA5}">
                      <a16:colId xmlns:a16="http://schemas.microsoft.com/office/drawing/2014/main" val="3715383205"/>
                    </a:ext>
                  </a:extLst>
                </a:gridCol>
                <a:gridCol w="3086280">
                  <a:extLst>
                    <a:ext uri="{9D8B030D-6E8A-4147-A177-3AD203B41FA5}">
                      <a16:colId xmlns:a16="http://schemas.microsoft.com/office/drawing/2014/main" val="4207537303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3356020614"/>
                    </a:ext>
                  </a:extLst>
                </a:gridCol>
              </a:tblGrid>
              <a:tr h="47024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bg-BG" sz="2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Пример</a:t>
                      </a:r>
                      <a:endParaRPr kumimoji="1" lang="en-US" sz="28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bg-BG" sz="2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Име</a:t>
                      </a:r>
                      <a:endParaRPr kumimoji="1" lang="en-US" sz="28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bg-BG" sz="2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Резултат</a:t>
                      </a:r>
                      <a:endParaRPr kumimoji="1" lang="en-US" sz="28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9544178"/>
                  </a:ext>
                </a:extLst>
              </a:tr>
              <a:tr h="508465">
                <a:tc>
                  <a:txBody>
                    <a:bodyPr/>
                    <a:lstStyle/>
                    <a:p>
                      <a:pPr marL="282575" marR="0" lvl="0" indent="-282575" algn="ctr" defTabSz="914400" rtl="0" eaLnBrk="0" fontAlgn="base" latinLnBrk="0" hangingPunct="0">
                        <a:lnSpc>
                          <a:spcPts val="38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>
                          <a:srgbClr val="46A6BD">
                            <a:lumMod val="40000"/>
                            <a:lumOff val="60000"/>
                          </a:srgbClr>
                        </a:buClr>
                        <a:buSzPct val="70000"/>
                        <a:buFont typeface="Wingdings 2" pitchFamily="18" charset="2"/>
                        <a:buNone/>
                        <a:tabLst>
                          <a:tab pos="282575" algn="l"/>
                        </a:tabLst>
                        <a:defRPr/>
                      </a:pPr>
                      <a:r>
                        <a:rPr kumimoji="1" lang="en-US" sz="25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--a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2575" marR="0" lvl="0" indent="-282575" algn="l" defTabSz="914400" rtl="0" eaLnBrk="0" fontAlgn="base" latinLnBrk="0" hangingPunct="0">
                        <a:lnSpc>
                          <a:spcPts val="38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>
                          <a:srgbClr val="46A6BD">
                            <a:lumMod val="40000"/>
                            <a:lumOff val="60000"/>
                          </a:srgbClr>
                        </a:buClr>
                        <a:buSzPct val="70000"/>
                        <a:buFont typeface="Wingdings 2" pitchFamily="18" charset="2"/>
                        <a:buNone/>
                        <a:tabLst>
                          <a:tab pos="282575" algn="l"/>
                        </a:tabLst>
                        <a:defRPr/>
                      </a:pPr>
                      <a:r>
                        <a:rPr kumimoji="1" lang="bg-BG" sz="25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Пре</a:t>
                      </a:r>
                      <a:r>
                        <a:rPr kumimoji="1" lang="bg-BG" sz="25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-декрементация</a:t>
                      </a:r>
                      <a:endParaRPr kumimoji="1" lang="en-US" sz="25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2575" marR="0" lvl="0" indent="-282575" algn="l" defTabSz="914400" rtl="0" eaLnBrk="0" fontAlgn="base" latinLnBrk="0" hangingPunct="0">
                        <a:lnSpc>
                          <a:spcPts val="38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>
                          <a:srgbClr val="46A6BD">
                            <a:lumMod val="40000"/>
                            <a:lumOff val="60000"/>
                          </a:srgbClr>
                        </a:buClr>
                        <a:buSzPct val="70000"/>
                        <a:buFont typeface="Wingdings 2" pitchFamily="18" charset="2"/>
                        <a:buNone/>
                        <a:tabLst>
                          <a:tab pos="282575" algn="l"/>
                        </a:tabLst>
                        <a:defRPr/>
                      </a:pPr>
                      <a:r>
                        <a:rPr kumimoji="1" lang="bg-BG" sz="25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Намалява стойността с единица и връща </a:t>
                      </a:r>
                      <a:r>
                        <a:rPr kumimoji="1" lang="bg-BG" sz="25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а</a:t>
                      </a:r>
                      <a:endParaRPr kumimoji="1" lang="en-US" sz="25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4508526"/>
                  </a:ext>
                </a:extLst>
              </a:tr>
              <a:tr h="508465">
                <a:tc>
                  <a:txBody>
                    <a:bodyPr/>
                    <a:lstStyle/>
                    <a:p>
                      <a:pPr marL="282575" marR="0" lvl="0" indent="-282575" algn="ctr" defTabSz="914400" rtl="0" eaLnBrk="0" fontAlgn="base" latinLnBrk="0" hangingPunct="0">
                        <a:lnSpc>
                          <a:spcPts val="38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>
                          <a:srgbClr val="46A6BD">
                            <a:lumMod val="40000"/>
                            <a:lumOff val="60000"/>
                          </a:srgbClr>
                        </a:buClr>
                        <a:buSzPct val="70000"/>
                        <a:buFont typeface="Wingdings 2" pitchFamily="18" charset="2"/>
                        <a:buNone/>
                        <a:tabLst>
                          <a:tab pos="282575" algn="l"/>
                        </a:tabLst>
                        <a:defRPr/>
                      </a:pPr>
                      <a:r>
                        <a:rPr kumimoji="1" lang="en-US" sz="25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a--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2575" marR="0" lvl="0" indent="-282575" algn="l" defTabSz="914400" rtl="0" eaLnBrk="0" fontAlgn="base" latinLnBrk="0" hangingPunct="0">
                        <a:lnSpc>
                          <a:spcPts val="38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>
                          <a:srgbClr val="46A6BD">
                            <a:lumMod val="40000"/>
                            <a:lumOff val="60000"/>
                          </a:srgbClr>
                        </a:buClr>
                        <a:buSzPct val="70000"/>
                        <a:buFont typeface="Wingdings 2" pitchFamily="18" charset="2"/>
                        <a:buNone/>
                        <a:tabLst>
                          <a:tab pos="282575" algn="l"/>
                        </a:tabLst>
                        <a:defRPr/>
                      </a:pPr>
                      <a:r>
                        <a:rPr kumimoji="1" lang="bg-BG" sz="25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Пост</a:t>
                      </a:r>
                      <a:r>
                        <a:rPr kumimoji="1" lang="bg-BG" sz="25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-декрементация</a:t>
                      </a:r>
                      <a:endParaRPr kumimoji="1" lang="en-US" sz="25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2575" marR="0" lvl="0" indent="-282575" algn="l" defTabSz="914400" rtl="0" eaLnBrk="0" fontAlgn="base" latinLnBrk="0" hangingPunct="0">
                        <a:lnSpc>
                          <a:spcPts val="38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>
                          <a:srgbClr val="46A6BD">
                            <a:lumMod val="40000"/>
                            <a:lumOff val="60000"/>
                          </a:srgbClr>
                        </a:buClr>
                        <a:buSzPct val="70000"/>
                        <a:buFont typeface="Wingdings 2" pitchFamily="18" charset="2"/>
                        <a:buNone/>
                        <a:tabLst>
                          <a:tab pos="282575" algn="l"/>
                        </a:tabLst>
                        <a:defRPr/>
                      </a:pPr>
                      <a:r>
                        <a:rPr kumimoji="1" lang="bg-BG" sz="25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Връща </a:t>
                      </a:r>
                      <a:r>
                        <a:rPr kumimoji="1" lang="bg-BG" sz="25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а</a:t>
                      </a:r>
                      <a:r>
                        <a:rPr kumimoji="1" lang="en-US" sz="25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bg-BG" sz="25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и намалява стойността с единица</a:t>
                      </a:r>
                      <a:endParaRPr kumimoji="1" lang="en-US" sz="25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37649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394344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  <a:buClr>
                <a:schemeClr val="tx1"/>
              </a:buClr>
            </a:pPr>
            <a:r>
              <a:rPr lang="bg-BG" sz="3198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Пре</a:t>
            </a:r>
            <a:r>
              <a:rPr lang="bg-BG" sz="3198" dirty="0">
                <a:latin typeface="Calibri" panose="020F0502020204030204" pitchFamily="34" charset="0"/>
                <a:cs typeface="Calibri" panose="020F0502020204030204" pitchFamily="34" charset="0"/>
              </a:rPr>
              <a:t>-декрементация</a:t>
            </a:r>
            <a:endParaRPr lang="en-US" sz="3198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00000"/>
              </a:lnSpc>
            </a:pPr>
            <a:endParaRPr lang="en-US" sz="3200" dirty="0"/>
          </a:p>
          <a:p>
            <a:pPr>
              <a:lnSpc>
                <a:spcPct val="100000"/>
              </a:lnSpc>
            </a:pPr>
            <a:endParaRPr lang="en-US" sz="3200" dirty="0"/>
          </a:p>
          <a:p>
            <a:pPr>
              <a:lnSpc>
                <a:spcPct val="100000"/>
              </a:lnSpc>
            </a:pPr>
            <a:endParaRPr lang="en-US" sz="3200" dirty="0"/>
          </a:p>
          <a:p>
            <a:pPr>
              <a:lnSpc>
                <a:spcPct val="100000"/>
              </a:lnSpc>
              <a:buClr>
                <a:schemeClr val="tx1"/>
              </a:buClr>
            </a:pPr>
            <a:r>
              <a:rPr lang="bg-BG" sz="3198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Пост</a:t>
            </a:r>
            <a:r>
              <a:rPr lang="bg-BG" sz="3198" dirty="0">
                <a:latin typeface="Calibri" panose="020F0502020204030204" pitchFamily="34" charset="0"/>
                <a:cs typeface="Calibri" panose="020F0502020204030204" pitchFamily="34" charset="0"/>
              </a:rPr>
              <a:t>-декрементация</a:t>
            </a:r>
            <a:endParaRPr lang="en-US" sz="3198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00000"/>
              </a:lnSpc>
            </a:pPr>
            <a:endParaRPr lang="bg-BG" sz="3200" dirty="0"/>
          </a:p>
          <a:p>
            <a:pPr marL="0" indent="0">
              <a:lnSpc>
                <a:spcPct val="100000"/>
              </a:lnSpc>
              <a:buNone/>
            </a:pPr>
            <a:endParaRPr lang="bg-BG" sz="3200" dirty="0"/>
          </a:p>
          <a:p>
            <a:pPr marL="377887" lvl="1" indent="0">
              <a:lnSpc>
                <a:spcPct val="100000"/>
              </a:lnSpc>
              <a:buNone/>
            </a:pPr>
            <a:endParaRPr lang="en-US" sz="2800" b="1" dirty="0">
              <a:solidFill>
                <a:schemeClr val="accent4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Намаляване</a:t>
            </a:r>
            <a:r>
              <a:rPr lang="en-US" dirty="0"/>
              <a:t> (2)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FF0B8A45-8B56-4306-A8AD-1EE356A9E291}"/>
                  </a:ext>
                </a:extLst>
              </p14:cNvPr>
              <p14:cNvContentPartPr/>
              <p14:nvPr/>
            </p14:nvContentPartPr>
            <p14:xfrm>
              <a:off x="4335049" y="755374"/>
              <a:ext cx="360" cy="3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p14="http://schemas.microsoft.com/office/powerpoint/2010/main" xmlns="" xmlns:a16="http://schemas.microsoft.com/office/drawing/2014/main" id="{FF0B8A45-8B56-4306-A8AD-1EE356A9E291}"/>
                  </a:ext>
                </a:extLst>
              </p:cNvPr>
              <p:cNvPicPr/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4326049" y="746374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7134FC92-4BEB-42E7-8FC5-466CCC27DFC3}"/>
                  </a:ext>
                </a:extLst>
              </p14:cNvPr>
              <p14:cNvContentPartPr/>
              <p14:nvPr/>
            </p14:nvContentPartPr>
            <p14:xfrm>
              <a:off x="1737649" y="755374"/>
              <a:ext cx="360" cy="3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p14="http://schemas.microsoft.com/office/powerpoint/2010/main" xmlns="" xmlns:a16="http://schemas.microsoft.com/office/drawing/2014/main" id="{7134FC92-4BEB-42E7-8FC5-466CCC27DFC3}"/>
                  </a:ext>
                </a:extLst>
              </p:cNvPr>
              <p:cNvPicPr/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1728649" y="746374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C233B02A-FB51-4EF8-917E-F4C71FED30A7}"/>
                  </a:ext>
                </a:extLst>
              </p14:cNvPr>
              <p14:cNvContentPartPr/>
              <p14:nvPr/>
            </p14:nvContentPartPr>
            <p14:xfrm>
              <a:off x="1340209" y="569974"/>
              <a:ext cx="360" cy="3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p14="http://schemas.microsoft.com/office/powerpoint/2010/main" xmlns="" xmlns:a16="http://schemas.microsoft.com/office/drawing/2014/main" id="{C233B02A-FB51-4EF8-917E-F4C71FED30A7}"/>
                  </a:ext>
                </a:extLst>
              </p:cNvPr>
              <p:cNvPicPr/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1331209" y="560974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37602A40-E6C0-493D-9EC3-7DF9A4E46323}"/>
                  </a:ext>
                </a:extLst>
              </p14:cNvPr>
              <p14:cNvContentPartPr/>
              <p14:nvPr/>
            </p14:nvContentPartPr>
            <p14:xfrm>
              <a:off x="1591849" y="662494"/>
              <a:ext cx="360" cy="36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p14="http://schemas.microsoft.com/office/powerpoint/2010/main" xmlns="" xmlns:a16="http://schemas.microsoft.com/office/drawing/2014/main" id="{37602A40-E6C0-493D-9EC3-7DF9A4E46323}"/>
                  </a:ext>
                </a:extLst>
              </p:cNvPr>
              <p:cNvPicPr/>
              <p:nvPr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1582849" y="653494"/>
                <a:ext cx="18000" cy="18000"/>
              </a:xfrm>
              <a:prstGeom prst="rect">
                <a:avLst/>
              </a:prstGeom>
            </p:spPr>
          </p:pic>
        </mc:Fallback>
      </mc:AlternateContent>
      <p:sp>
        <p:nvSpPr>
          <p:cNvPr id="10" name="Rectangle 5">
            <a:extLst>
              <a:ext uri="{FF2B5EF4-FFF2-40B4-BE49-F238E27FC236}">
                <a16:creationId xmlns:a16="http://schemas.microsoft.com/office/drawing/2014/main" id="{FDD0617A-1CAF-4870-9E08-F98ADAFB10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0690" y="1902417"/>
            <a:ext cx="4814580" cy="1643527"/>
          </a:xfrm>
          <a:prstGeom prst="rect">
            <a:avLst/>
          </a:prstGeom>
          <a:solidFill>
            <a:schemeClr val="accent5">
              <a:lumMod val="60000"/>
              <a:lumOff val="4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lnSpc>
                <a:spcPct val="12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latin typeface="Consolas" pitchFamily="49" charset="0"/>
                <a:cs typeface="Consolas" pitchFamily="49" charset="0"/>
              </a:rPr>
              <a:t>let a = 1; </a:t>
            </a:r>
            <a:endParaRPr lang="bg-BG" sz="2800" b="1" noProof="1">
              <a:latin typeface="Consolas" pitchFamily="49" charset="0"/>
              <a:cs typeface="Consolas" pitchFamily="49" charset="0"/>
            </a:endParaRPr>
          </a:p>
          <a:p>
            <a:pPr eaLnBrk="0" hangingPunct="0">
              <a:lnSpc>
                <a:spcPct val="12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latin typeface="Consolas" pitchFamily="49" charset="0"/>
                <a:cs typeface="Consolas" pitchFamily="49" charset="0"/>
              </a:rPr>
              <a:t>console.log(</a:t>
            </a:r>
            <a:r>
              <a:rPr lang="bg-BG" sz="2800" b="1" noProof="1">
                <a:latin typeface="Consolas" pitchFamily="49" charset="0"/>
                <a:cs typeface="Consolas" pitchFamily="49" charset="0"/>
              </a:rPr>
              <a:t>--</a:t>
            </a:r>
            <a:r>
              <a:rPr lang="en-US" sz="2800" b="1" noProof="1">
                <a:latin typeface="Consolas" pitchFamily="49" charset="0"/>
                <a:cs typeface="Consolas" pitchFamily="49" charset="0"/>
              </a:rPr>
              <a:t>a);</a:t>
            </a:r>
          </a:p>
          <a:p>
            <a:pPr eaLnBrk="0" hangingPunct="0">
              <a:lnSpc>
                <a:spcPct val="12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latin typeface="Consolas" pitchFamily="49" charset="0"/>
                <a:cs typeface="Consolas" pitchFamily="49" charset="0"/>
              </a:rPr>
              <a:t>console.log(a);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B477E5A-D516-44CC-AE83-BEE99AEAF368}"/>
              </a:ext>
            </a:extLst>
          </p:cNvPr>
          <p:cNvSpPr txBox="1"/>
          <p:nvPr/>
        </p:nvSpPr>
        <p:spPr>
          <a:xfrm>
            <a:off x="4746000" y="2437947"/>
            <a:ext cx="973343" cy="5724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0" hangingPunct="0">
              <a:lnSpc>
                <a:spcPct val="12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dirty="0">
                <a:solidFill>
                  <a:schemeClr val="accent2"/>
                </a:solidFill>
                <a:latin typeface="Consolas" pitchFamily="49" charset="0"/>
                <a:cs typeface="Consolas" pitchFamily="49" charset="0"/>
              </a:rPr>
              <a:t>// </a:t>
            </a:r>
            <a:r>
              <a:rPr lang="bg-BG" sz="2800" b="1" dirty="0">
                <a:solidFill>
                  <a:schemeClr val="accent2"/>
                </a:solidFill>
                <a:latin typeface="Consolas" pitchFamily="49" charset="0"/>
                <a:cs typeface="Consolas" pitchFamily="49" charset="0"/>
              </a:rPr>
              <a:t>0</a:t>
            </a:r>
            <a:endParaRPr lang="en-US" sz="2800" b="1" dirty="0">
              <a:solidFill>
                <a:schemeClr val="accent2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2" name="Rectangle 5">
            <a:extLst>
              <a:ext uri="{FF2B5EF4-FFF2-40B4-BE49-F238E27FC236}">
                <a16:creationId xmlns:a16="http://schemas.microsoft.com/office/drawing/2014/main" id="{1E99A78C-12BB-46F7-9A53-078DEA1886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9575" y="4534582"/>
            <a:ext cx="4814580" cy="1643527"/>
          </a:xfrm>
          <a:prstGeom prst="rect">
            <a:avLst/>
          </a:prstGeom>
          <a:solidFill>
            <a:schemeClr val="accent5">
              <a:lumMod val="60000"/>
              <a:lumOff val="4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lnSpc>
                <a:spcPct val="12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latin typeface="Consolas" pitchFamily="49" charset="0"/>
                <a:cs typeface="Consolas" pitchFamily="49" charset="0"/>
              </a:rPr>
              <a:t>let a = 1;</a:t>
            </a:r>
          </a:p>
          <a:p>
            <a:pPr eaLnBrk="0" hangingPunct="0">
              <a:lnSpc>
                <a:spcPct val="12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latin typeface="Consolas" pitchFamily="49" charset="0"/>
                <a:cs typeface="Consolas" pitchFamily="49" charset="0"/>
              </a:rPr>
              <a:t>console.log(a</a:t>
            </a:r>
            <a:r>
              <a:rPr lang="bg-BG" sz="2800" b="1" noProof="1">
                <a:latin typeface="Consolas" pitchFamily="49" charset="0"/>
                <a:cs typeface="Consolas" pitchFamily="49" charset="0"/>
              </a:rPr>
              <a:t>--</a:t>
            </a:r>
            <a:r>
              <a:rPr lang="en-US" sz="2800" b="1" noProof="1">
                <a:latin typeface="Consolas" pitchFamily="49" charset="0"/>
                <a:cs typeface="Consolas" pitchFamily="49" charset="0"/>
              </a:rPr>
              <a:t>);</a:t>
            </a:r>
          </a:p>
          <a:p>
            <a:pPr eaLnBrk="0" hangingPunct="0">
              <a:lnSpc>
                <a:spcPct val="12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latin typeface="Consolas" pitchFamily="49" charset="0"/>
                <a:cs typeface="Consolas" pitchFamily="49" charset="0"/>
              </a:rPr>
              <a:t>console.log(a);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F259D28-45A1-45CA-BF5A-5D4A85AC4848}"/>
              </a:ext>
            </a:extLst>
          </p:cNvPr>
          <p:cNvSpPr txBox="1"/>
          <p:nvPr/>
        </p:nvSpPr>
        <p:spPr>
          <a:xfrm>
            <a:off x="4746000" y="5063750"/>
            <a:ext cx="973343" cy="5724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0" hangingPunct="0">
              <a:lnSpc>
                <a:spcPct val="12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dirty="0">
                <a:solidFill>
                  <a:schemeClr val="accent2"/>
                </a:solidFill>
                <a:latin typeface="Consolas" pitchFamily="49" charset="0"/>
                <a:cs typeface="Consolas" pitchFamily="49" charset="0"/>
              </a:rPr>
              <a:t>// </a:t>
            </a:r>
            <a:r>
              <a:rPr lang="bg-BG" sz="2800" b="1" dirty="0">
                <a:solidFill>
                  <a:schemeClr val="accent2"/>
                </a:solidFill>
                <a:latin typeface="Consolas" pitchFamily="49" charset="0"/>
                <a:cs typeface="Consolas" pitchFamily="49" charset="0"/>
              </a:rPr>
              <a:t>1</a:t>
            </a:r>
            <a:endParaRPr lang="en-US" sz="2800" b="1" dirty="0">
              <a:solidFill>
                <a:schemeClr val="accent2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C2B4BFA-C160-4776-B83F-E0CE02BC3977}"/>
              </a:ext>
            </a:extLst>
          </p:cNvPr>
          <p:cNvSpPr txBox="1"/>
          <p:nvPr/>
        </p:nvSpPr>
        <p:spPr>
          <a:xfrm>
            <a:off x="4746000" y="2955013"/>
            <a:ext cx="1170513" cy="5724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0" hangingPunct="0">
              <a:lnSpc>
                <a:spcPct val="12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dirty="0">
                <a:solidFill>
                  <a:schemeClr val="accent2"/>
                </a:solidFill>
                <a:latin typeface="Consolas" pitchFamily="49" charset="0"/>
                <a:cs typeface="Consolas" pitchFamily="49" charset="0"/>
              </a:rPr>
              <a:t>// 0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6B73870-457C-4B59-A2FF-E7FA53336949}"/>
              </a:ext>
            </a:extLst>
          </p:cNvPr>
          <p:cNvSpPr txBox="1"/>
          <p:nvPr/>
        </p:nvSpPr>
        <p:spPr>
          <a:xfrm>
            <a:off x="4746000" y="5587531"/>
            <a:ext cx="973343" cy="5724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0" hangingPunct="0">
              <a:lnSpc>
                <a:spcPct val="12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dirty="0">
                <a:solidFill>
                  <a:schemeClr val="accent2"/>
                </a:solidFill>
                <a:latin typeface="Consolas" pitchFamily="49" charset="0"/>
                <a:cs typeface="Consolas" pitchFamily="49" charset="0"/>
              </a:rPr>
              <a:t>// 0</a:t>
            </a:r>
          </a:p>
        </p:txBody>
      </p:sp>
      <p:sp>
        <p:nvSpPr>
          <p:cNvPr id="17" name="AutoShape 7">
            <a:extLst>
              <a:ext uri="{FF2B5EF4-FFF2-40B4-BE49-F238E27FC236}">
                <a16:creationId xmlns:a16="http://schemas.microsoft.com/office/drawing/2014/main" id="{E2CE95C1-A197-4534-AA1A-5B307B55D3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46000" y="1224000"/>
            <a:ext cx="6248400" cy="1116110"/>
          </a:xfrm>
          <a:prstGeom prst="wedgeRoundRectCallout">
            <a:avLst>
              <a:gd name="adj1" fmla="val -55157"/>
              <a:gd name="adj2" fmla="val 50379"/>
              <a:gd name="adj3" fmla="val 16667"/>
            </a:avLst>
          </a:prstGeom>
          <a:solidFill>
            <a:schemeClr val="tx1">
              <a:alpha val="80000"/>
            </a:schemeClr>
          </a:solidFill>
          <a:ln w="19050">
            <a:solidFill>
              <a:schemeClr val="tx1">
                <a:alpha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bg-BG" sz="2800" b="1" dirty="0">
                <a:solidFill>
                  <a:schemeClr val="bg2"/>
                </a:solidFill>
              </a:rPr>
              <a:t>Стойността на променливата </a:t>
            </a:r>
            <a:r>
              <a:rPr lang="en-US" sz="2800" b="1" dirty="0">
                <a:solidFill>
                  <a:schemeClr val="bg2"/>
                </a:solidFill>
                <a:latin typeface="Consolas"/>
              </a:rPr>
              <a:t>a</a:t>
            </a:r>
            <a:r>
              <a:rPr lang="en-US" sz="2800" b="1" dirty="0">
                <a:solidFill>
                  <a:schemeClr val="bg2"/>
                </a:solidFill>
              </a:rPr>
              <a:t> </a:t>
            </a:r>
            <a:r>
              <a:rPr lang="bg-BG" sz="2800" b="1" dirty="0">
                <a:solidFill>
                  <a:schemeClr val="bg2"/>
                </a:solidFill>
              </a:rPr>
              <a:t>се намалява с 1</a:t>
            </a:r>
            <a:r>
              <a:rPr lang="en-US" sz="2800" b="1" dirty="0">
                <a:solidFill>
                  <a:schemeClr val="bg2"/>
                </a:solidFill>
              </a:rPr>
              <a:t> </a:t>
            </a:r>
            <a:r>
              <a:rPr lang="bg-BG" sz="2800" b="1" dirty="0">
                <a:solidFill>
                  <a:schemeClr val="bg2"/>
                </a:solidFill>
              </a:rPr>
              <a:t>и след това се принтира</a:t>
            </a:r>
          </a:p>
        </p:txBody>
      </p:sp>
      <p:sp>
        <p:nvSpPr>
          <p:cNvPr id="18" name="AutoShape 7">
            <a:extLst>
              <a:ext uri="{FF2B5EF4-FFF2-40B4-BE49-F238E27FC236}">
                <a16:creationId xmlns:a16="http://schemas.microsoft.com/office/drawing/2014/main" id="{6F129D96-EC66-4416-B3B2-B61F155665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46000" y="3923935"/>
            <a:ext cx="6248400" cy="1116110"/>
          </a:xfrm>
          <a:prstGeom prst="wedgeRoundRectCallout">
            <a:avLst>
              <a:gd name="adj1" fmla="val -55498"/>
              <a:gd name="adj2" fmla="val 48417"/>
              <a:gd name="adj3" fmla="val 16667"/>
            </a:avLst>
          </a:prstGeom>
          <a:solidFill>
            <a:schemeClr val="tx1">
              <a:alpha val="80000"/>
            </a:schemeClr>
          </a:solidFill>
          <a:ln w="19050">
            <a:solidFill>
              <a:schemeClr val="tx1">
                <a:alpha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bg-BG" sz="2800" b="1" dirty="0">
                <a:solidFill>
                  <a:schemeClr val="bg2"/>
                </a:solidFill>
              </a:rPr>
              <a:t>Първо се принтира променливата </a:t>
            </a:r>
            <a:r>
              <a:rPr lang="en-US" sz="2800" b="1" dirty="0">
                <a:solidFill>
                  <a:schemeClr val="bg2"/>
                </a:solidFill>
              </a:rPr>
              <a:t>a </a:t>
            </a:r>
            <a:r>
              <a:rPr lang="bg-BG" sz="2800" b="1" dirty="0">
                <a:solidFill>
                  <a:schemeClr val="bg2"/>
                </a:solidFill>
              </a:rPr>
              <a:t>и след това се намалява с 1</a:t>
            </a:r>
          </a:p>
        </p:txBody>
      </p:sp>
      <p:sp>
        <p:nvSpPr>
          <p:cNvPr id="19" name="Slide Number">
            <a:extLst>
              <a:ext uri="{FF2B5EF4-FFF2-40B4-BE49-F238E27FC236}">
                <a16:creationId xmlns:a16="http://schemas.microsoft.com/office/drawing/2014/main" id="{4BD9717F-B559-42FC-B847-1FC08D5F36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14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523340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5" grpId="0"/>
      <p:bldP spid="12" grpId="0" animBg="1"/>
      <p:bldP spid="14" grpId="0"/>
      <p:bldP spid="15" grpId="0"/>
      <p:bldP spid="17" grpId="0" animBg="1"/>
      <p:bldP spid="18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D1D713-4956-4FC0-AB9F-FE828A5B8ABA}"/>
              </a:ext>
            </a:extLst>
          </p:cNvPr>
          <p:cNvSpPr>
            <a:spLocks noGrp="1"/>
          </p:cNvSpPr>
          <p:nvPr>
            <p:ph type="title" sz="quarter" idx="10"/>
          </p:nvPr>
        </p:nvSpPr>
        <p:spPr/>
        <p:txBody>
          <a:bodyPr/>
          <a:lstStyle/>
          <a:p>
            <a:r>
              <a:rPr lang="bg-BG" dirty="0"/>
              <a:t>Повторения на блокове код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94D2624-E2FA-4C5C-9D78-49388F45B3F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4505" y="1524001"/>
            <a:ext cx="2762991" cy="2295423"/>
          </a:xfrm>
          <a:prstGeom prst="rect">
            <a:avLst/>
          </a:prstGeom>
        </p:spPr>
      </p:pic>
      <p:sp>
        <p:nvSpPr>
          <p:cNvPr id="5" name="Subtitle 4">
            <a:extLst>
              <a:ext uri="{FF2B5EF4-FFF2-40B4-BE49-F238E27FC236}">
                <a16:creationId xmlns:a16="http://schemas.microsoft.com/office/drawing/2014/main" id="{BDF68CD0-AADF-49CF-94C5-D166062671DF}"/>
              </a:ext>
            </a:extLst>
          </p:cNvPr>
          <p:cNvSpPr>
            <a:spLocks noGrp="1"/>
          </p:cNvSpPr>
          <p:nvPr>
            <p:ph type="subTitle" sz="quarter" idx="11"/>
          </p:nvPr>
        </p:nvSpPr>
        <p:spPr/>
        <p:txBody>
          <a:bodyPr/>
          <a:lstStyle/>
          <a:p>
            <a:r>
              <a:rPr lang="bg-BG" dirty="0"/>
              <a:t>Конструкция за </a:t>
            </a:r>
            <a:r>
              <a:rPr lang="en-US" dirty="0"/>
              <a:t>For-</a:t>
            </a:r>
            <a:r>
              <a:rPr lang="bg-BG" dirty="0"/>
              <a:t>цикъл</a:t>
            </a:r>
          </a:p>
        </p:txBody>
      </p:sp>
    </p:spTree>
    <p:extLst>
      <p:ext uri="{BB962C8B-B14F-4D97-AF65-F5344CB8AC3E}">
        <p14:creationId xmlns:p14="http://schemas.microsoft.com/office/powerpoint/2010/main" val="24268610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ов контейнер 1">
            <a:extLst>
              <a:ext uri="{FF2B5EF4-FFF2-40B4-BE49-F238E27FC236}">
                <a16:creationId xmlns:a16="http://schemas.microsoft.com/office/drawing/2014/main" id="{CC2AE19F-5DF1-49AD-8906-CA7D78A8D00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bg-BG" sz="3600" dirty="0"/>
              <a:t>Често ни се налага да </a:t>
            </a:r>
            <a:r>
              <a:rPr lang="bg-BG" sz="3600" b="1" dirty="0">
                <a:solidFill>
                  <a:schemeClr val="bg1"/>
                </a:solidFill>
              </a:rPr>
              <a:t>повтаряме</a:t>
            </a:r>
            <a:r>
              <a:rPr lang="bg-BG" sz="3600" dirty="0"/>
              <a:t> едно и също действие </a:t>
            </a:r>
            <a:r>
              <a:rPr lang="bg-BG" sz="3600" b="1" dirty="0">
                <a:solidFill>
                  <a:schemeClr val="bg1"/>
                </a:solidFill>
              </a:rPr>
              <a:t>многократно</a:t>
            </a:r>
          </a:p>
          <a:p>
            <a:r>
              <a:rPr lang="bg-BG" dirty="0"/>
              <a:t>Когато </a:t>
            </a:r>
            <a:r>
              <a:rPr lang="bg-BG"/>
              <a:t>сме абитуриенти </a:t>
            </a:r>
            <a:r>
              <a:rPr lang="bg-BG" dirty="0"/>
              <a:t>броим до 12</a:t>
            </a: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C0DC080-6327-4781-804B-87B693B39F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Какво е цикъл?  </a:t>
            </a:r>
          </a:p>
        </p:txBody>
      </p:sp>
      <p:sp>
        <p:nvSpPr>
          <p:cNvPr id="22" name="Slide Number">
            <a:extLst>
              <a:ext uri="{FF2B5EF4-FFF2-40B4-BE49-F238E27FC236}">
                <a16:creationId xmlns:a16="http://schemas.microsoft.com/office/drawing/2014/main" id="{9452302F-1CAA-49B2-A264-F2B423355E78}"/>
              </a:ext>
            </a:extLst>
          </p:cNvPr>
          <p:cNvSpPr txBox="1">
            <a:spLocks/>
          </p:cNvSpPr>
          <p:nvPr/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BF067CD-8E6B-4360-9AA8-C5DF2A48A6D1}" type="slidenum">
              <a:rPr lang="en-US" smtClean="0"/>
              <a:pPr/>
              <a:t>16</a:t>
            </a:fld>
            <a:endParaRPr lang="en-US" dirty="0"/>
          </a:p>
        </p:txBody>
      </p:sp>
      <p:pic>
        <p:nvPicPr>
          <p:cNvPr id="6" name="Картина 5">
            <a:extLst>
              <a:ext uri="{FF2B5EF4-FFF2-40B4-BE49-F238E27FC236}">
                <a16:creationId xmlns:a16="http://schemas.microsoft.com/office/drawing/2014/main" id="{1F2DD9C8-BA4F-491F-BD89-D3504A58514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74200" y="3073400"/>
            <a:ext cx="2530794" cy="2530794"/>
          </a:xfrm>
          <a:prstGeom prst="rect">
            <a:avLst/>
          </a:prstGeom>
        </p:spPr>
      </p:pic>
      <p:grpSp>
        <p:nvGrpSpPr>
          <p:cNvPr id="10" name="Group 14">
            <a:extLst>
              <a:ext uri="{FF2B5EF4-FFF2-40B4-BE49-F238E27FC236}">
                <a16:creationId xmlns:a16="http://schemas.microsoft.com/office/drawing/2014/main" id="{71099608-3DEF-4E97-9692-FBE2285CB61C}"/>
              </a:ext>
            </a:extLst>
          </p:cNvPr>
          <p:cNvGrpSpPr/>
          <p:nvPr/>
        </p:nvGrpSpPr>
        <p:grpSpPr>
          <a:xfrm>
            <a:off x="7874000" y="4629150"/>
            <a:ext cx="1257216" cy="778597"/>
            <a:chOff x="5213760" y="4570824"/>
            <a:chExt cx="3375809" cy="2438818"/>
          </a:xfrm>
        </p:grpSpPr>
        <p:sp>
          <p:nvSpPr>
            <p:cNvPr id="11" name="Speech Bubble: Oval 15">
              <a:extLst>
                <a:ext uri="{FF2B5EF4-FFF2-40B4-BE49-F238E27FC236}">
                  <a16:creationId xmlns:a16="http://schemas.microsoft.com/office/drawing/2014/main" id="{452D3230-B259-4B4E-9707-731CEE1F7CA5}"/>
                </a:ext>
              </a:extLst>
            </p:cNvPr>
            <p:cNvSpPr/>
            <p:nvPr/>
          </p:nvSpPr>
          <p:spPr bwMode="auto">
            <a:xfrm>
              <a:off x="5541569" y="4570824"/>
              <a:ext cx="3048000" cy="2438818"/>
            </a:xfrm>
            <a:prstGeom prst="wedgeEllipseCallout">
              <a:avLst>
                <a:gd name="adj1" fmla="val 46396"/>
                <a:gd name="adj2" fmla="val 51383"/>
              </a:avLst>
            </a:prstGeom>
            <a:solidFill>
              <a:schemeClr val="tx1"/>
            </a:solidFill>
            <a:ln w="190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001">
              <a:schemeClr val="dk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2" name="TextBox 16">
              <a:extLst>
                <a:ext uri="{FF2B5EF4-FFF2-40B4-BE49-F238E27FC236}">
                  <a16:creationId xmlns:a16="http://schemas.microsoft.com/office/drawing/2014/main" id="{61A47765-70CD-4B10-A639-A13636AB4C2F}"/>
                </a:ext>
              </a:extLst>
            </p:cNvPr>
            <p:cNvSpPr txBox="1"/>
            <p:nvPr/>
          </p:nvSpPr>
          <p:spPr>
            <a:xfrm>
              <a:off x="5213760" y="4591153"/>
              <a:ext cx="3375809" cy="2418489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144000" tIns="108000" rIns="144000" bIns="108000" rtlCol="0">
              <a:spAutoFit/>
            </a:bodyPr>
            <a:lstStyle>
              <a:defPPr>
                <a:defRPr lang="en-US"/>
              </a:defPPr>
              <a:lvl1pPr eaLnBrk="0" hangingPunct="0">
                <a:lnSpc>
                  <a:spcPct val="110000"/>
                </a:lnSpc>
                <a:buClr>
                  <a:schemeClr val="accent5">
                    <a:lumMod val="40000"/>
                    <a:lumOff val="60000"/>
                  </a:schemeClr>
                </a:buClr>
                <a:buSzPct val="70000"/>
                <a:defRPr sz="3600" b="1">
                  <a:solidFill>
                    <a:schemeClr val="bg2"/>
                  </a:solidFill>
                </a:defRPr>
              </a:lvl1pPr>
            </a:lstStyle>
            <a:p>
              <a:pPr lvl="1"/>
              <a:r>
                <a:rPr lang="en-US" sz="3600" b="1" dirty="0">
                  <a:solidFill>
                    <a:schemeClr val="bg2"/>
                  </a:solidFill>
                </a:rPr>
                <a:t>1</a:t>
              </a:r>
              <a:endParaRPr lang="en-US" sz="2800" b="1" dirty="0">
                <a:solidFill>
                  <a:schemeClr val="bg2"/>
                </a:solidFill>
              </a:endParaRPr>
            </a:p>
          </p:txBody>
        </p:sp>
      </p:grpSp>
      <p:grpSp>
        <p:nvGrpSpPr>
          <p:cNvPr id="13" name="Group 14">
            <a:extLst>
              <a:ext uri="{FF2B5EF4-FFF2-40B4-BE49-F238E27FC236}">
                <a16:creationId xmlns:a16="http://schemas.microsoft.com/office/drawing/2014/main" id="{71099608-3DEF-4E97-9692-FBE2285CB61C}"/>
              </a:ext>
            </a:extLst>
          </p:cNvPr>
          <p:cNvGrpSpPr/>
          <p:nvPr/>
        </p:nvGrpSpPr>
        <p:grpSpPr>
          <a:xfrm>
            <a:off x="7118350" y="3651250"/>
            <a:ext cx="1257216" cy="778597"/>
            <a:chOff x="5213760" y="4570824"/>
            <a:chExt cx="3375809" cy="2438818"/>
          </a:xfrm>
        </p:grpSpPr>
        <p:sp>
          <p:nvSpPr>
            <p:cNvPr id="14" name="Speech Bubble: Oval 15">
              <a:extLst>
                <a:ext uri="{FF2B5EF4-FFF2-40B4-BE49-F238E27FC236}">
                  <a16:creationId xmlns:a16="http://schemas.microsoft.com/office/drawing/2014/main" id="{452D3230-B259-4B4E-9707-731CEE1F7CA5}"/>
                </a:ext>
              </a:extLst>
            </p:cNvPr>
            <p:cNvSpPr/>
            <p:nvPr/>
          </p:nvSpPr>
          <p:spPr bwMode="auto">
            <a:xfrm>
              <a:off x="5541569" y="4570824"/>
              <a:ext cx="3048000" cy="2438818"/>
            </a:xfrm>
            <a:prstGeom prst="wedgeEllipseCallout">
              <a:avLst>
                <a:gd name="adj1" fmla="val 46396"/>
                <a:gd name="adj2" fmla="val 51383"/>
              </a:avLst>
            </a:prstGeom>
            <a:solidFill>
              <a:schemeClr val="tx1"/>
            </a:solidFill>
            <a:ln w="190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001">
              <a:schemeClr val="dk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5" name="TextBox 16">
              <a:extLst>
                <a:ext uri="{FF2B5EF4-FFF2-40B4-BE49-F238E27FC236}">
                  <a16:creationId xmlns:a16="http://schemas.microsoft.com/office/drawing/2014/main" id="{61A47765-70CD-4B10-A639-A13636AB4C2F}"/>
                </a:ext>
              </a:extLst>
            </p:cNvPr>
            <p:cNvSpPr txBox="1"/>
            <p:nvPr/>
          </p:nvSpPr>
          <p:spPr>
            <a:xfrm>
              <a:off x="5213760" y="4591153"/>
              <a:ext cx="3375809" cy="2225679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144000" tIns="108000" rIns="144000" bIns="108000" rtlCol="0">
              <a:spAutoFit/>
            </a:bodyPr>
            <a:lstStyle>
              <a:defPPr>
                <a:defRPr lang="en-US"/>
              </a:defPPr>
              <a:lvl1pPr eaLnBrk="0" hangingPunct="0">
                <a:lnSpc>
                  <a:spcPct val="110000"/>
                </a:lnSpc>
                <a:buClr>
                  <a:schemeClr val="accent5">
                    <a:lumMod val="40000"/>
                    <a:lumOff val="60000"/>
                  </a:schemeClr>
                </a:buClr>
                <a:buSzPct val="70000"/>
                <a:defRPr sz="3600" b="1">
                  <a:solidFill>
                    <a:schemeClr val="bg2"/>
                  </a:solidFill>
                </a:defRPr>
              </a:lvl1pPr>
            </a:lstStyle>
            <a:p>
              <a:pPr lvl="1"/>
              <a:r>
                <a:rPr lang="bg-BG" sz="3200" b="1" dirty="0">
                  <a:solidFill>
                    <a:schemeClr val="bg2"/>
                  </a:solidFill>
                </a:rPr>
                <a:t>2</a:t>
              </a:r>
              <a:endParaRPr lang="en-US" sz="3600" b="1" dirty="0">
                <a:solidFill>
                  <a:schemeClr val="bg2"/>
                </a:solidFill>
              </a:endParaRPr>
            </a:p>
          </p:txBody>
        </p:sp>
      </p:grpSp>
      <p:grpSp>
        <p:nvGrpSpPr>
          <p:cNvPr id="20" name="Group 14">
            <a:extLst>
              <a:ext uri="{FF2B5EF4-FFF2-40B4-BE49-F238E27FC236}">
                <a16:creationId xmlns:a16="http://schemas.microsoft.com/office/drawing/2014/main" id="{71099608-3DEF-4E97-9692-FBE2285CB61C}"/>
              </a:ext>
            </a:extLst>
          </p:cNvPr>
          <p:cNvGrpSpPr/>
          <p:nvPr/>
        </p:nvGrpSpPr>
        <p:grpSpPr>
          <a:xfrm>
            <a:off x="8229600" y="3251200"/>
            <a:ext cx="1257216" cy="778597"/>
            <a:chOff x="5213760" y="4570824"/>
            <a:chExt cx="3375809" cy="2438818"/>
          </a:xfrm>
        </p:grpSpPr>
        <p:sp>
          <p:nvSpPr>
            <p:cNvPr id="21" name="Speech Bubble: Oval 15">
              <a:extLst>
                <a:ext uri="{FF2B5EF4-FFF2-40B4-BE49-F238E27FC236}">
                  <a16:creationId xmlns:a16="http://schemas.microsoft.com/office/drawing/2014/main" id="{452D3230-B259-4B4E-9707-731CEE1F7CA5}"/>
                </a:ext>
              </a:extLst>
            </p:cNvPr>
            <p:cNvSpPr/>
            <p:nvPr/>
          </p:nvSpPr>
          <p:spPr bwMode="auto">
            <a:xfrm>
              <a:off x="5541569" y="4570824"/>
              <a:ext cx="3048000" cy="2438818"/>
            </a:xfrm>
            <a:prstGeom prst="wedgeEllipseCallout">
              <a:avLst>
                <a:gd name="adj1" fmla="val 46396"/>
                <a:gd name="adj2" fmla="val 51383"/>
              </a:avLst>
            </a:prstGeom>
            <a:solidFill>
              <a:schemeClr val="tx1"/>
            </a:solidFill>
            <a:ln w="190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001">
              <a:schemeClr val="dk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3" name="TextBox 16">
              <a:extLst>
                <a:ext uri="{FF2B5EF4-FFF2-40B4-BE49-F238E27FC236}">
                  <a16:creationId xmlns:a16="http://schemas.microsoft.com/office/drawing/2014/main" id="{61A47765-70CD-4B10-A639-A13636AB4C2F}"/>
                </a:ext>
              </a:extLst>
            </p:cNvPr>
            <p:cNvSpPr txBox="1"/>
            <p:nvPr/>
          </p:nvSpPr>
          <p:spPr>
            <a:xfrm>
              <a:off x="5213760" y="4591153"/>
              <a:ext cx="3375809" cy="2225679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144000" tIns="108000" rIns="144000" bIns="108000" rtlCol="0">
              <a:spAutoFit/>
            </a:bodyPr>
            <a:lstStyle>
              <a:defPPr>
                <a:defRPr lang="en-US"/>
              </a:defPPr>
              <a:lvl1pPr eaLnBrk="0" hangingPunct="0">
                <a:lnSpc>
                  <a:spcPct val="110000"/>
                </a:lnSpc>
                <a:buClr>
                  <a:schemeClr val="accent5">
                    <a:lumMod val="40000"/>
                    <a:lumOff val="60000"/>
                  </a:schemeClr>
                </a:buClr>
                <a:buSzPct val="70000"/>
                <a:defRPr sz="3600" b="1">
                  <a:solidFill>
                    <a:schemeClr val="bg2"/>
                  </a:solidFill>
                </a:defRPr>
              </a:lvl1pPr>
            </a:lstStyle>
            <a:p>
              <a:pPr lvl="1"/>
              <a:r>
                <a:rPr lang="bg-BG" sz="3200" b="1" dirty="0">
                  <a:solidFill>
                    <a:schemeClr val="bg2"/>
                  </a:solidFill>
                </a:rPr>
                <a:t>3</a:t>
              </a:r>
              <a:endParaRPr lang="en-US" sz="3200" b="1" dirty="0">
                <a:solidFill>
                  <a:schemeClr val="bg2"/>
                </a:solidFill>
              </a:endParaRPr>
            </a:p>
          </p:txBody>
        </p:sp>
      </p:grpSp>
      <p:grpSp>
        <p:nvGrpSpPr>
          <p:cNvPr id="27" name="Group 14">
            <a:extLst>
              <a:ext uri="{FF2B5EF4-FFF2-40B4-BE49-F238E27FC236}">
                <a16:creationId xmlns:a16="http://schemas.microsoft.com/office/drawing/2014/main" id="{71099608-3DEF-4E97-9692-FBE2285CB61C}"/>
              </a:ext>
            </a:extLst>
          </p:cNvPr>
          <p:cNvGrpSpPr/>
          <p:nvPr/>
        </p:nvGrpSpPr>
        <p:grpSpPr>
          <a:xfrm>
            <a:off x="7162800" y="2495550"/>
            <a:ext cx="1257216" cy="778597"/>
            <a:chOff x="5213760" y="4570824"/>
            <a:chExt cx="3375809" cy="2438818"/>
          </a:xfrm>
        </p:grpSpPr>
        <p:sp>
          <p:nvSpPr>
            <p:cNvPr id="28" name="Speech Bubble: Oval 15">
              <a:extLst>
                <a:ext uri="{FF2B5EF4-FFF2-40B4-BE49-F238E27FC236}">
                  <a16:creationId xmlns:a16="http://schemas.microsoft.com/office/drawing/2014/main" id="{452D3230-B259-4B4E-9707-731CEE1F7CA5}"/>
                </a:ext>
              </a:extLst>
            </p:cNvPr>
            <p:cNvSpPr/>
            <p:nvPr/>
          </p:nvSpPr>
          <p:spPr bwMode="auto">
            <a:xfrm>
              <a:off x="5541569" y="4570824"/>
              <a:ext cx="3048000" cy="2438818"/>
            </a:xfrm>
            <a:prstGeom prst="wedgeEllipseCallout">
              <a:avLst>
                <a:gd name="adj1" fmla="val 46396"/>
                <a:gd name="adj2" fmla="val 51383"/>
              </a:avLst>
            </a:prstGeom>
            <a:solidFill>
              <a:schemeClr val="tx1"/>
            </a:solidFill>
            <a:ln w="190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001">
              <a:schemeClr val="dk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9" name="TextBox 16">
              <a:extLst>
                <a:ext uri="{FF2B5EF4-FFF2-40B4-BE49-F238E27FC236}">
                  <a16:creationId xmlns:a16="http://schemas.microsoft.com/office/drawing/2014/main" id="{61A47765-70CD-4B10-A639-A13636AB4C2F}"/>
                </a:ext>
              </a:extLst>
            </p:cNvPr>
            <p:cNvSpPr txBox="1"/>
            <p:nvPr/>
          </p:nvSpPr>
          <p:spPr>
            <a:xfrm>
              <a:off x="5213760" y="4591153"/>
              <a:ext cx="3375809" cy="2225679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144000" tIns="108000" rIns="144000" bIns="108000" rtlCol="0">
              <a:spAutoFit/>
            </a:bodyPr>
            <a:lstStyle>
              <a:defPPr>
                <a:defRPr lang="en-US"/>
              </a:defPPr>
              <a:lvl1pPr eaLnBrk="0" hangingPunct="0">
                <a:lnSpc>
                  <a:spcPct val="110000"/>
                </a:lnSpc>
                <a:buClr>
                  <a:schemeClr val="accent5">
                    <a:lumMod val="40000"/>
                    <a:lumOff val="60000"/>
                  </a:schemeClr>
                </a:buClr>
                <a:buSzPct val="70000"/>
                <a:defRPr sz="3600" b="1">
                  <a:solidFill>
                    <a:schemeClr val="bg2"/>
                  </a:solidFill>
                </a:defRPr>
              </a:lvl1pPr>
            </a:lstStyle>
            <a:p>
              <a:pPr lvl="1"/>
              <a:r>
                <a:rPr lang="bg-BG" sz="3200" b="1" dirty="0">
                  <a:solidFill>
                    <a:schemeClr val="bg2"/>
                  </a:solidFill>
                </a:rPr>
                <a:t>4</a:t>
              </a:r>
              <a:endParaRPr lang="en-US" sz="3200" b="1" dirty="0">
                <a:solidFill>
                  <a:schemeClr val="bg2"/>
                </a:solidFill>
              </a:endParaRPr>
            </a:p>
          </p:txBody>
        </p:sp>
      </p:grpSp>
      <p:grpSp>
        <p:nvGrpSpPr>
          <p:cNvPr id="30" name="Group 14">
            <a:extLst>
              <a:ext uri="{FF2B5EF4-FFF2-40B4-BE49-F238E27FC236}">
                <a16:creationId xmlns:a16="http://schemas.microsoft.com/office/drawing/2014/main" id="{71099608-3DEF-4E97-9692-FBE2285CB61C}"/>
              </a:ext>
            </a:extLst>
          </p:cNvPr>
          <p:cNvGrpSpPr/>
          <p:nvPr/>
        </p:nvGrpSpPr>
        <p:grpSpPr>
          <a:xfrm>
            <a:off x="8496300" y="2317750"/>
            <a:ext cx="1257216" cy="778597"/>
            <a:chOff x="5213760" y="4570824"/>
            <a:chExt cx="3375809" cy="2438818"/>
          </a:xfrm>
        </p:grpSpPr>
        <p:sp>
          <p:nvSpPr>
            <p:cNvPr id="31" name="Speech Bubble: Oval 15">
              <a:extLst>
                <a:ext uri="{FF2B5EF4-FFF2-40B4-BE49-F238E27FC236}">
                  <a16:creationId xmlns:a16="http://schemas.microsoft.com/office/drawing/2014/main" id="{452D3230-B259-4B4E-9707-731CEE1F7CA5}"/>
                </a:ext>
              </a:extLst>
            </p:cNvPr>
            <p:cNvSpPr/>
            <p:nvPr/>
          </p:nvSpPr>
          <p:spPr bwMode="auto">
            <a:xfrm>
              <a:off x="5541569" y="4570824"/>
              <a:ext cx="3048000" cy="2438818"/>
            </a:xfrm>
            <a:prstGeom prst="wedgeEllipseCallout">
              <a:avLst>
                <a:gd name="adj1" fmla="val 46396"/>
                <a:gd name="adj2" fmla="val 51383"/>
              </a:avLst>
            </a:prstGeom>
            <a:solidFill>
              <a:schemeClr val="tx1"/>
            </a:solidFill>
            <a:ln w="190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001">
              <a:schemeClr val="dk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2" name="TextBox 16">
              <a:extLst>
                <a:ext uri="{FF2B5EF4-FFF2-40B4-BE49-F238E27FC236}">
                  <a16:creationId xmlns:a16="http://schemas.microsoft.com/office/drawing/2014/main" id="{61A47765-70CD-4B10-A639-A13636AB4C2F}"/>
                </a:ext>
              </a:extLst>
            </p:cNvPr>
            <p:cNvSpPr txBox="1"/>
            <p:nvPr/>
          </p:nvSpPr>
          <p:spPr>
            <a:xfrm>
              <a:off x="5213760" y="4591153"/>
              <a:ext cx="3375809" cy="2225679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144000" tIns="108000" rIns="144000" bIns="108000" rtlCol="0">
              <a:spAutoFit/>
            </a:bodyPr>
            <a:lstStyle>
              <a:defPPr>
                <a:defRPr lang="en-US"/>
              </a:defPPr>
              <a:lvl1pPr eaLnBrk="0" hangingPunct="0">
                <a:lnSpc>
                  <a:spcPct val="110000"/>
                </a:lnSpc>
                <a:buClr>
                  <a:schemeClr val="accent5">
                    <a:lumMod val="40000"/>
                    <a:lumOff val="60000"/>
                  </a:schemeClr>
                </a:buClr>
                <a:buSzPct val="70000"/>
                <a:defRPr sz="3600" b="1">
                  <a:solidFill>
                    <a:schemeClr val="bg2"/>
                  </a:solidFill>
                </a:defRPr>
              </a:lvl1pPr>
            </a:lstStyle>
            <a:p>
              <a:pPr lvl="1"/>
              <a:r>
                <a:rPr lang="bg-BG" sz="3200" b="1" dirty="0">
                  <a:solidFill>
                    <a:schemeClr val="bg2"/>
                  </a:solidFill>
                </a:rPr>
                <a:t>5</a:t>
              </a:r>
              <a:endParaRPr lang="en-US" sz="3200" b="1" dirty="0">
                <a:solidFill>
                  <a:schemeClr val="bg2"/>
                </a:solidFill>
              </a:endParaRPr>
            </a:p>
          </p:txBody>
        </p:sp>
      </p:grpSp>
      <p:grpSp>
        <p:nvGrpSpPr>
          <p:cNvPr id="33" name="Group 14">
            <a:extLst>
              <a:ext uri="{FF2B5EF4-FFF2-40B4-BE49-F238E27FC236}">
                <a16:creationId xmlns:a16="http://schemas.microsoft.com/office/drawing/2014/main" id="{71099608-3DEF-4E97-9692-FBE2285CB61C}"/>
              </a:ext>
            </a:extLst>
          </p:cNvPr>
          <p:cNvGrpSpPr/>
          <p:nvPr/>
        </p:nvGrpSpPr>
        <p:grpSpPr>
          <a:xfrm>
            <a:off x="7518400" y="1473200"/>
            <a:ext cx="1257216" cy="778597"/>
            <a:chOff x="5213760" y="4570824"/>
            <a:chExt cx="3375809" cy="2438818"/>
          </a:xfrm>
        </p:grpSpPr>
        <p:sp>
          <p:nvSpPr>
            <p:cNvPr id="34" name="Speech Bubble: Oval 15">
              <a:extLst>
                <a:ext uri="{FF2B5EF4-FFF2-40B4-BE49-F238E27FC236}">
                  <a16:creationId xmlns:a16="http://schemas.microsoft.com/office/drawing/2014/main" id="{452D3230-B259-4B4E-9707-731CEE1F7CA5}"/>
                </a:ext>
              </a:extLst>
            </p:cNvPr>
            <p:cNvSpPr/>
            <p:nvPr/>
          </p:nvSpPr>
          <p:spPr bwMode="auto">
            <a:xfrm>
              <a:off x="5541569" y="4570824"/>
              <a:ext cx="3048000" cy="2438818"/>
            </a:xfrm>
            <a:prstGeom prst="wedgeEllipseCallout">
              <a:avLst>
                <a:gd name="adj1" fmla="val 46396"/>
                <a:gd name="adj2" fmla="val 51383"/>
              </a:avLst>
            </a:prstGeom>
            <a:solidFill>
              <a:schemeClr val="tx1"/>
            </a:solidFill>
            <a:ln w="190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001">
              <a:schemeClr val="dk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5" name="TextBox 16">
              <a:extLst>
                <a:ext uri="{FF2B5EF4-FFF2-40B4-BE49-F238E27FC236}">
                  <a16:creationId xmlns:a16="http://schemas.microsoft.com/office/drawing/2014/main" id="{61A47765-70CD-4B10-A639-A13636AB4C2F}"/>
                </a:ext>
              </a:extLst>
            </p:cNvPr>
            <p:cNvSpPr txBox="1"/>
            <p:nvPr/>
          </p:nvSpPr>
          <p:spPr>
            <a:xfrm>
              <a:off x="5213760" y="4591153"/>
              <a:ext cx="3375809" cy="2225679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144000" tIns="108000" rIns="144000" bIns="108000" rtlCol="0">
              <a:spAutoFit/>
            </a:bodyPr>
            <a:lstStyle>
              <a:defPPr>
                <a:defRPr lang="en-US"/>
              </a:defPPr>
              <a:lvl1pPr eaLnBrk="0" hangingPunct="0">
                <a:lnSpc>
                  <a:spcPct val="110000"/>
                </a:lnSpc>
                <a:buClr>
                  <a:schemeClr val="accent5">
                    <a:lumMod val="40000"/>
                    <a:lumOff val="60000"/>
                  </a:schemeClr>
                </a:buClr>
                <a:buSzPct val="70000"/>
                <a:defRPr sz="3600" b="1">
                  <a:solidFill>
                    <a:schemeClr val="bg2"/>
                  </a:solidFill>
                </a:defRPr>
              </a:lvl1pPr>
            </a:lstStyle>
            <a:p>
              <a:pPr lvl="1"/>
              <a:r>
                <a:rPr lang="bg-BG" sz="3200" b="1" dirty="0">
                  <a:solidFill>
                    <a:schemeClr val="bg2"/>
                  </a:solidFill>
                </a:rPr>
                <a:t>6</a:t>
              </a:r>
              <a:endParaRPr lang="en-US" sz="3200" b="1" dirty="0">
                <a:solidFill>
                  <a:schemeClr val="bg2"/>
                </a:solidFill>
              </a:endParaRPr>
            </a:p>
          </p:txBody>
        </p:sp>
      </p:grpSp>
      <p:grpSp>
        <p:nvGrpSpPr>
          <p:cNvPr id="36" name="Group 14">
            <a:extLst>
              <a:ext uri="{FF2B5EF4-FFF2-40B4-BE49-F238E27FC236}">
                <a16:creationId xmlns:a16="http://schemas.microsoft.com/office/drawing/2014/main" id="{71099608-3DEF-4E97-9692-FBE2285CB61C}"/>
              </a:ext>
            </a:extLst>
          </p:cNvPr>
          <p:cNvGrpSpPr/>
          <p:nvPr/>
        </p:nvGrpSpPr>
        <p:grpSpPr>
          <a:xfrm>
            <a:off x="8540750" y="1162050"/>
            <a:ext cx="1346116" cy="778597"/>
            <a:chOff x="4975050" y="4570824"/>
            <a:chExt cx="3614519" cy="2438818"/>
          </a:xfrm>
        </p:grpSpPr>
        <p:sp>
          <p:nvSpPr>
            <p:cNvPr id="37" name="Speech Bubble: Oval 15">
              <a:extLst>
                <a:ext uri="{FF2B5EF4-FFF2-40B4-BE49-F238E27FC236}">
                  <a16:creationId xmlns:a16="http://schemas.microsoft.com/office/drawing/2014/main" id="{452D3230-B259-4B4E-9707-731CEE1F7CA5}"/>
                </a:ext>
              </a:extLst>
            </p:cNvPr>
            <p:cNvSpPr/>
            <p:nvPr/>
          </p:nvSpPr>
          <p:spPr bwMode="auto">
            <a:xfrm>
              <a:off x="5541569" y="4570824"/>
              <a:ext cx="3048000" cy="2438818"/>
            </a:xfrm>
            <a:prstGeom prst="wedgeEllipseCallout">
              <a:avLst>
                <a:gd name="adj1" fmla="val 46396"/>
                <a:gd name="adj2" fmla="val 51383"/>
              </a:avLst>
            </a:prstGeom>
            <a:solidFill>
              <a:schemeClr val="tx1"/>
            </a:solidFill>
            <a:ln w="190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001">
              <a:schemeClr val="dk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8" name="TextBox 16">
              <a:extLst>
                <a:ext uri="{FF2B5EF4-FFF2-40B4-BE49-F238E27FC236}">
                  <a16:creationId xmlns:a16="http://schemas.microsoft.com/office/drawing/2014/main" id="{61A47765-70CD-4B10-A639-A13636AB4C2F}"/>
                </a:ext>
              </a:extLst>
            </p:cNvPr>
            <p:cNvSpPr txBox="1"/>
            <p:nvPr/>
          </p:nvSpPr>
          <p:spPr>
            <a:xfrm>
              <a:off x="4975050" y="4591153"/>
              <a:ext cx="3375809" cy="2225679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144000" tIns="108000" rIns="144000" bIns="108000" rtlCol="0">
              <a:spAutoFit/>
            </a:bodyPr>
            <a:lstStyle>
              <a:defPPr>
                <a:defRPr lang="en-US"/>
              </a:defPPr>
              <a:lvl1pPr eaLnBrk="0" hangingPunct="0">
                <a:lnSpc>
                  <a:spcPct val="110000"/>
                </a:lnSpc>
                <a:buClr>
                  <a:schemeClr val="accent5">
                    <a:lumMod val="40000"/>
                    <a:lumOff val="60000"/>
                  </a:schemeClr>
                </a:buClr>
                <a:buSzPct val="70000"/>
                <a:defRPr sz="3600" b="1">
                  <a:solidFill>
                    <a:schemeClr val="bg2"/>
                  </a:solidFill>
                </a:defRPr>
              </a:lvl1pPr>
            </a:lstStyle>
            <a:p>
              <a:pPr lvl="1"/>
              <a:r>
                <a:rPr lang="bg-BG" sz="3200" b="1" dirty="0">
                  <a:solidFill>
                    <a:schemeClr val="bg2"/>
                  </a:solidFill>
                </a:rPr>
                <a:t>…</a:t>
              </a:r>
              <a:endParaRPr lang="en-US" sz="3200" b="1" dirty="0">
                <a:solidFill>
                  <a:schemeClr val="bg2"/>
                </a:solidFill>
              </a:endParaRPr>
            </a:p>
          </p:txBody>
        </p:sp>
      </p:grpSp>
      <p:grpSp>
        <p:nvGrpSpPr>
          <p:cNvPr id="39" name="Group 14">
            <a:extLst>
              <a:ext uri="{FF2B5EF4-FFF2-40B4-BE49-F238E27FC236}">
                <a16:creationId xmlns:a16="http://schemas.microsoft.com/office/drawing/2014/main" id="{71099608-3DEF-4E97-9692-FBE2285CB61C}"/>
              </a:ext>
            </a:extLst>
          </p:cNvPr>
          <p:cNvGrpSpPr/>
          <p:nvPr/>
        </p:nvGrpSpPr>
        <p:grpSpPr>
          <a:xfrm>
            <a:off x="9918700" y="1581150"/>
            <a:ext cx="1365166" cy="778597"/>
            <a:chOff x="4923898" y="4570824"/>
            <a:chExt cx="3665671" cy="2438818"/>
          </a:xfrm>
        </p:grpSpPr>
        <p:sp>
          <p:nvSpPr>
            <p:cNvPr id="40" name="Speech Bubble: Oval 15">
              <a:extLst>
                <a:ext uri="{FF2B5EF4-FFF2-40B4-BE49-F238E27FC236}">
                  <a16:creationId xmlns:a16="http://schemas.microsoft.com/office/drawing/2014/main" id="{452D3230-B259-4B4E-9707-731CEE1F7CA5}"/>
                </a:ext>
              </a:extLst>
            </p:cNvPr>
            <p:cNvSpPr/>
            <p:nvPr/>
          </p:nvSpPr>
          <p:spPr bwMode="auto">
            <a:xfrm>
              <a:off x="5541569" y="4570824"/>
              <a:ext cx="3048000" cy="2438818"/>
            </a:xfrm>
            <a:prstGeom prst="wedgeEllipseCallout">
              <a:avLst>
                <a:gd name="adj1" fmla="val 46396"/>
                <a:gd name="adj2" fmla="val 51383"/>
              </a:avLst>
            </a:prstGeom>
            <a:solidFill>
              <a:schemeClr val="tx1"/>
            </a:solidFill>
            <a:ln w="190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001">
              <a:schemeClr val="dk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1" name="TextBox 16">
              <a:extLst>
                <a:ext uri="{FF2B5EF4-FFF2-40B4-BE49-F238E27FC236}">
                  <a16:creationId xmlns:a16="http://schemas.microsoft.com/office/drawing/2014/main" id="{61A47765-70CD-4B10-A639-A13636AB4C2F}"/>
                </a:ext>
              </a:extLst>
            </p:cNvPr>
            <p:cNvSpPr txBox="1"/>
            <p:nvPr/>
          </p:nvSpPr>
          <p:spPr>
            <a:xfrm>
              <a:off x="4923898" y="4591153"/>
              <a:ext cx="3375809" cy="2225679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144000" tIns="108000" rIns="144000" bIns="108000" rtlCol="0">
              <a:spAutoFit/>
            </a:bodyPr>
            <a:lstStyle>
              <a:defPPr>
                <a:defRPr lang="en-US"/>
              </a:defPPr>
              <a:lvl1pPr eaLnBrk="0" hangingPunct="0">
                <a:lnSpc>
                  <a:spcPct val="110000"/>
                </a:lnSpc>
                <a:buClr>
                  <a:schemeClr val="accent5">
                    <a:lumMod val="40000"/>
                    <a:lumOff val="60000"/>
                  </a:schemeClr>
                </a:buClr>
                <a:buSzPct val="70000"/>
                <a:defRPr sz="3600" b="1">
                  <a:solidFill>
                    <a:schemeClr val="bg2"/>
                  </a:solidFill>
                </a:defRPr>
              </a:lvl1pPr>
            </a:lstStyle>
            <a:p>
              <a:pPr lvl="1"/>
              <a:r>
                <a:rPr lang="bg-BG" sz="3200" b="1" dirty="0">
                  <a:solidFill>
                    <a:schemeClr val="bg2"/>
                  </a:solidFill>
                </a:rPr>
                <a:t>12</a:t>
              </a:r>
              <a:endParaRPr lang="en-US" sz="3200" b="1" dirty="0">
                <a:solidFill>
                  <a:schemeClr val="bg2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69216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5DC53F2-A90C-4631-855D-B535CBB2D35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501" y="1196126"/>
            <a:ext cx="6234460" cy="3132874"/>
          </a:xfrm>
        </p:spPr>
        <p:txBody>
          <a:bodyPr vert="horz" lIns="108000" tIns="36000" rIns="108000" bIns="36000" rtlCol="0">
            <a:noAutofit/>
          </a:bodyPr>
          <a:lstStyle/>
          <a:p>
            <a:pPr marL="456915" indent="-456915" eaLnBrk="0" hangingPunct="0">
              <a:buChar char="§"/>
            </a:pPr>
            <a:r>
              <a:rPr lang="bg-BG" sz="3600" dirty="0"/>
              <a:t>Циклите в програмирането ни позволяват да повтаряме </a:t>
            </a:r>
            <a:r>
              <a:rPr lang="bg-BG" sz="3600" b="1" dirty="0">
                <a:solidFill>
                  <a:schemeClr val="bg1"/>
                </a:solidFill>
              </a:rPr>
              <a:t>едни и същи действия </a:t>
            </a:r>
            <a:r>
              <a:rPr lang="bg-BG" sz="3600" dirty="0"/>
              <a:t>определен брой пъти: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C0DC080-6327-4781-804B-87B693B39F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Какво е цикъл? (2)</a:t>
            </a:r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FC255275-5184-4AF1-800B-63BCBDDC73B8}"/>
              </a:ext>
            </a:extLst>
          </p:cNvPr>
          <p:cNvSpPr txBox="1">
            <a:spLocks/>
          </p:cNvSpPr>
          <p:nvPr/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BF067CD-8E6B-4360-9AA8-C5DF2A48A6D1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19727A56-6902-4407-9D83-B5704B770F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5339" y="4783535"/>
            <a:ext cx="6897524" cy="1606594"/>
          </a:xfrm>
          <a:prstGeom prst="rect">
            <a:avLst/>
          </a:prstGeom>
          <a:solidFill>
            <a:schemeClr val="accent5">
              <a:lumMod val="60000"/>
              <a:lumOff val="4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lnSpc>
                <a:spcPct val="12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for</a:t>
            </a:r>
            <a:r>
              <a:rPr lang="en-US" sz="2800" b="1" noProof="1">
                <a:latin typeface="Consolas" pitchFamily="49" charset="0"/>
                <a:cs typeface="Consolas" pitchFamily="49" charset="0"/>
              </a:rPr>
              <a:t> (let i = 1; i &lt;= 12; i</a:t>
            </a:r>
            <a:r>
              <a:rPr lang="bg-BG" sz="2800" b="1" noProof="1">
                <a:latin typeface="Consolas" pitchFamily="49" charset="0"/>
                <a:cs typeface="Consolas" pitchFamily="49" charset="0"/>
              </a:rPr>
              <a:t> </a:t>
            </a:r>
            <a:r>
              <a:rPr lang="en-US" sz="2800" b="1" noProof="1">
                <a:latin typeface="Consolas" pitchFamily="49" charset="0"/>
                <a:cs typeface="Consolas" pitchFamily="49" charset="0"/>
              </a:rPr>
              <a:t>+</a:t>
            </a:r>
            <a:r>
              <a:rPr lang="bg-BG" sz="2800" b="1" noProof="1">
                <a:latin typeface="Consolas" pitchFamily="49" charset="0"/>
                <a:cs typeface="Consolas" pitchFamily="49" charset="0"/>
              </a:rPr>
              <a:t>= 1</a:t>
            </a:r>
            <a:r>
              <a:rPr lang="en-US" sz="2800" b="1" noProof="1">
                <a:latin typeface="Consolas" pitchFamily="49" charset="0"/>
                <a:cs typeface="Consolas" pitchFamily="49" charset="0"/>
              </a:rPr>
              <a:t>) {</a:t>
            </a:r>
            <a:endParaRPr lang="bg-BG" sz="2800" b="1" noProof="1">
              <a:latin typeface="Consolas" pitchFamily="49" charset="0"/>
              <a:cs typeface="Consolas" pitchFamily="49" charset="0"/>
            </a:endParaRPr>
          </a:p>
          <a:p>
            <a:pPr eaLnBrk="0" hangingPunct="0">
              <a:lnSpc>
                <a:spcPct val="12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bg-BG" sz="2800" b="1" noProof="1">
                <a:latin typeface="Consolas" pitchFamily="49" charset="0"/>
                <a:cs typeface="Consolas" pitchFamily="49" charset="0"/>
              </a:rPr>
              <a:t> </a:t>
            </a:r>
            <a:r>
              <a:rPr lang="en-US" sz="2800" b="1" noProof="1">
                <a:latin typeface="Consolas" pitchFamily="49" charset="0"/>
                <a:cs typeface="Consolas" pitchFamily="49" charset="0"/>
              </a:rPr>
              <a:t> console.log(</a:t>
            </a: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i</a:t>
            </a:r>
            <a:r>
              <a:rPr lang="en-US" sz="2800" b="1" noProof="1">
                <a:latin typeface="Consolas" pitchFamily="49" charset="0"/>
                <a:cs typeface="Consolas" pitchFamily="49" charset="0"/>
              </a:rPr>
              <a:t>);</a:t>
            </a:r>
          </a:p>
          <a:p>
            <a:pPr eaLnBrk="0" hangingPunct="0">
              <a:lnSpc>
                <a:spcPct val="12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latin typeface="Consolas" pitchFamily="49" charset="0"/>
                <a:cs typeface="Consolas" pitchFamily="49" charset="0"/>
              </a:rPr>
              <a:t>}</a:t>
            </a:r>
          </a:p>
        </p:txBody>
      </p:sp>
      <p:grpSp>
        <p:nvGrpSpPr>
          <p:cNvPr id="9" name="Групиране 8">
            <a:extLst>
              <a:ext uri="{FF2B5EF4-FFF2-40B4-BE49-F238E27FC236}">
                <a16:creationId xmlns:a16="http://schemas.microsoft.com/office/drawing/2014/main" id="{C05940CC-C6DB-42F4-8ECD-95D6D8C5E859}"/>
              </a:ext>
            </a:extLst>
          </p:cNvPr>
          <p:cNvGrpSpPr/>
          <p:nvPr/>
        </p:nvGrpSpPr>
        <p:grpSpPr>
          <a:xfrm>
            <a:off x="7118350" y="1359000"/>
            <a:ext cx="4534424" cy="3132875"/>
            <a:chOff x="1562100" y="2659188"/>
            <a:chExt cx="5645150" cy="3376849"/>
          </a:xfrm>
        </p:grpSpPr>
        <p:sp>
          <p:nvSpPr>
            <p:cNvPr id="10" name="TextBox 28">
              <a:extLst>
                <a:ext uri="{FF2B5EF4-FFF2-40B4-BE49-F238E27FC236}">
                  <a16:creationId xmlns:a16="http://schemas.microsoft.com/office/drawing/2014/main" id="{B0CD90E1-B1FF-425C-B479-C93834B3D891}"/>
                </a:ext>
              </a:extLst>
            </p:cNvPr>
            <p:cNvSpPr txBox="1"/>
            <p:nvPr/>
          </p:nvSpPr>
          <p:spPr>
            <a:xfrm>
              <a:off x="4881868" y="4074609"/>
              <a:ext cx="2301151" cy="590918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144000" tIns="108000" rIns="144000" bIns="108000" rtlCol="0">
              <a:spAutoFit/>
            </a:bodyPr>
            <a:lstStyle/>
            <a:p>
              <a:pPr algn="l" eaLnBrk="0" hangingPunct="0">
                <a:lnSpc>
                  <a:spcPct val="110000"/>
                </a:lnSpc>
                <a:buClr>
                  <a:schemeClr val="accent5">
                    <a:lumMod val="40000"/>
                    <a:lumOff val="60000"/>
                  </a:schemeClr>
                </a:buClr>
                <a:buSzPct val="70000"/>
              </a:pPr>
              <a:r>
                <a:rPr lang="bg-BG" sz="2000" dirty="0">
                  <a:solidFill>
                    <a:srgbClr val="FDFFFF"/>
                  </a:solidFill>
                </a:rPr>
                <a:t>Принтиране</a:t>
              </a:r>
            </a:p>
          </p:txBody>
        </p:sp>
        <p:sp>
          <p:nvSpPr>
            <p:cNvPr id="11" name="TextBox 29">
              <a:extLst>
                <a:ext uri="{FF2B5EF4-FFF2-40B4-BE49-F238E27FC236}">
                  <a16:creationId xmlns:a16="http://schemas.microsoft.com/office/drawing/2014/main" id="{D856292C-764E-4006-AA7A-9896076EBDBC}"/>
                </a:ext>
              </a:extLst>
            </p:cNvPr>
            <p:cNvSpPr txBox="1"/>
            <p:nvPr/>
          </p:nvSpPr>
          <p:spPr>
            <a:xfrm>
              <a:off x="3557369" y="3765762"/>
              <a:ext cx="1049503" cy="555678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vert="horz" wrap="square" lIns="144000" tIns="108000" rIns="144000" bIns="108000" rtlCol="0">
              <a:spAutoFit/>
            </a:bodyPr>
            <a:lstStyle/>
            <a:p>
              <a:pPr algn="l" eaLnBrk="0" hangingPunct="0">
                <a:lnSpc>
                  <a:spcPct val="110000"/>
                </a:lnSpc>
                <a:buClr>
                  <a:schemeClr val="accent5">
                    <a:lumMod val="40000"/>
                    <a:lumOff val="60000"/>
                  </a:schemeClr>
                </a:buClr>
                <a:buSzPct val="70000"/>
              </a:pPr>
              <a:r>
                <a:rPr lang="en-GB" dirty="0"/>
                <a:t>false</a:t>
              </a:r>
              <a:endParaRPr lang="en-US" sz="2400" dirty="0"/>
            </a:p>
          </p:txBody>
        </p:sp>
        <p:cxnSp>
          <p:nvCxnSpPr>
            <p:cNvPr id="12" name="Straight Arrow Connector 30">
              <a:extLst>
                <a:ext uri="{FF2B5EF4-FFF2-40B4-BE49-F238E27FC236}">
                  <a16:creationId xmlns:a16="http://schemas.microsoft.com/office/drawing/2014/main" id="{CAAA75DC-A2B8-44FC-A51F-8F637F5B953D}"/>
                </a:ext>
              </a:extLst>
            </p:cNvPr>
            <p:cNvCxnSpPr>
              <a:cxnSpLocks/>
            </p:cNvCxnSpPr>
            <p:nvPr/>
          </p:nvCxnSpPr>
          <p:spPr>
            <a:xfrm>
              <a:off x="3696600" y="4319500"/>
              <a:ext cx="651063" cy="15326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Rectangle 32">
              <a:extLst>
                <a:ext uri="{FF2B5EF4-FFF2-40B4-BE49-F238E27FC236}">
                  <a16:creationId xmlns:a16="http://schemas.microsoft.com/office/drawing/2014/main" id="{D32010D8-1060-4692-A438-50B938022991}"/>
                </a:ext>
              </a:extLst>
            </p:cNvPr>
            <p:cNvSpPr/>
            <p:nvPr/>
          </p:nvSpPr>
          <p:spPr bwMode="auto">
            <a:xfrm>
              <a:off x="1579625" y="5435371"/>
              <a:ext cx="2102332" cy="600666"/>
            </a:xfrm>
            <a:prstGeom prst="rect">
              <a:avLst/>
            </a:prstGeom>
            <a:solidFill>
              <a:schemeClr val="dk2">
                <a:alpha val="80000"/>
              </a:schemeClr>
            </a:solidFill>
            <a:ln w="19050">
              <a:solidFill>
                <a:schemeClr val="tx1">
                  <a:lumMod val="75000"/>
                  <a:alpha val="8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001">
              <a:schemeClr val="dk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bg-BG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4" name="TextBox 33">
              <a:extLst>
                <a:ext uri="{FF2B5EF4-FFF2-40B4-BE49-F238E27FC236}">
                  <a16:creationId xmlns:a16="http://schemas.microsoft.com/office/drawing/2014/main" id="{BF690F1C-9F81-406D-A4E3-BAFCEF27E02B}"/>
                </a:ext>
              </a:extLst>
            </p:cNvPr>
            <p:cNvSpPr txBox="1"/>
            <p:nvPr/>
          </p:nvSpPr>
          <p:spPr>
            <a:xfrm>
              <a:off x="1579625" y="5435371"/>
              <a:ext cx="2102332" cy="600666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144000" tIns="108000" rIns="144000" bIns="108000" rtlCol="0">
              <a:spAutoFit/>
            </a:bodyPr>
            <a:lstStyle/>
            <a:p>
              <a:pPr algn="ctr" eaLnBrk="0" hangingPunct="0">
                <a:buClr>
                  <a:schemeClr val="accent5">
                    <a:lumMod val="40000"/>
                    <a:lumOff val="60000"/>
                  </a:schemeClr>
                </a:buClr>
                <a:buSzPct val="70000"/>
              </a:pPr>
              <a:r>
                <a:rPr lang="en-US" sz="2000" dirty="0">
                  <a:solidFill>
                    <a:schemeClr val="bg2"/>
                  </a:solidFill>
                  <a:latin typeface="+mj-lt"/>
                </a:rPr>
                <a:t>Print</a:t>
              </a:r>
              <a:r>
                <a:rPr lang="en-US" sz="2400" dirty="0">
                  <a:solidFill>
                    <a:schemeClr val="bg2"/>
                  </a:solidFill>
                  <a:latin typeface="+mj-lt"/>
                </a:rPr>
                <a:t> </a:t>
              </a:r>
              <a:r>
                <a:rPr lang="en-US" sz="2400" dirty="0" err="1">
                  <a:solidFill>
                    <a:schemeClr val="bg2"/>
                  </a:solidFill>
                  <a:latin typeface="+mj-lt"/>
                </a:rPr>
                <a:t>i</a:t>
              </a:r>
              <a:endParaRPr lang="en-US" sz="2400" dirty="0">
                <a:solidFill>
                  <a:schemeClr val="bg2"/>
                </a:solidFill>
                <a:latin typeface="+mj-lt"/>
              </a:endParaRPr>
            </a:p>
          </p:txBody>
        </p:sp>
        <p:cxnSp>
          <p:nvCxnSpPr>
            <p:cNvPr id="15" name="Elbow Connector 37">
              <a:extLst>
                <a:ext uri="{FF2B5EF4-FFF2-40B4-BE49-F238E27FC236}">
                  <a16:creationId xmlns:a16="http://schemas.microsoft.com/office/drawing/2014/main" id="{B8142F72-B791-4148-9AAC-32D08EF34284}"/>
                </a:ext>
              </a:extLst>
            </p:cNvPr>
            <p:cNvCxnSpPr>
              <a:cxnSpLocks/>
            </p:cNvCxnSpPr>
            <p:nvPr/>
          </p:nvCxnSpPr>
          <p:spPr>
            <a:xfrm rot="10800000" flipH="1">
              <a:off x="1562100" y="4324888"/>
              <a:ext cx="42148" cy="1478734"/>
            </a:xfrm>
            <a:prstGeom prst="bentConnector4">
              <a:avLst>
                <a:gd name="adj1" fmla="val -1723297"/>
                <a:gd name="adj2" fmla="val 101181"/>
              </a:avLst>
            </a:prstGeom>
            <a:ln w="571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36">
              <a:extLst>
                <a:ext uri="{FF2B5EF4-FFF2-40B4-BE49-F238E27FC236}">
                  <a16:creationId xmlns:a16="http://schemas.microsoft.com/office/drawing/2014/main" id="{951D766D-A451-4072-A48C-3FE65D7D0FE7}"/>
                </a:ext>
              </a:extLst>
            </p:cNvPr>
            <p:cNvSpPr txBox="1"/>
            <p:nvPr/>
          </p:nvSpPr>
          <p:spPr>
            <a:xfrm>
              <a:off x="2695035" y="4836394"/>
              <a:ext cx="840893" cy="516128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vert="horz" wrap="none" lIns="144000" tIns="108000" rIns="144000" bIns="108000" rtlCol="0">
              <a:spAutoFit/>
            </a:bodyPr>
            <a:lstStyle/>
            <a:p>
              <a:pPr algn="l" eaLnBrk="0" hangingPunct="0">
                <a:lnSpc>
                  <a:spcPct val="110000"/>
                </a:lnSpc>
                <a:buClr>
                  <a:schemeClr val="accent5">
                    <a:lumMod val="40000"/>
                    <a:lumOff val="60000"/>
                  </a:schemeClr>
                </a:buClr>
                <a:buSzPct val="70000"/>
              </a:pPr>
              <a:r>
                <a:rPr lang="en-GB" sz="2000" dirty="0"/>
                <a:t>true</a:t>
              </a:r>
              <a:endParaRPr lang="en-US" sz="2400" dirty="0"/>
            </a:p>
          </p:txBody>
        </p:sp>
        <p:sp>
          <p:nvSpPr>
            <p:cNvPr id="17" name="Flowchart: Terminator 37">
              <a:extLst>
                <a:ext uri="{FF2B5EF4-FFF2-40B4-BE49-F238E27FC236}">
                  <a16:creationId xmlns:a16="http://schemas.microsoft.com/office/drawing/2014/main" id="{A9EF680E-9948-4FE3-854F-9DEF77CFBBA1}"/>
                </a:ext>
              </a:extLst>
            </p:cNvPr>
            <p:cNvSpPr/>
            <p:nvPr/>
          </p:nvSpPr>
          <p:spPr bwMode="auto">
            <a:xfrm>
              <a:off x="4402229" y="4049443"/>
              <a:ext cx="2805021" cy="555439"/>
            </a:xfrm>
            <a:prstGeom prst="flowChartTerminator">
              <a:avLst/>
            </a:prstGeom>
            <a:solidFill>
              <a:schemeClr val="dk2">
                <a:alpha val="80000"/>
              </a:schemeClr>
            </a:solidFill>
            <a:ln w="19050">
              <a:solidFill>
                <a:schemeClr val="tx1">
                  <a:lumMod val="75000"/>
                  <a:alpha val="8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001">
              <a:schemeClr val="dk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2000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End loop</a:t>
              </a:r>
              <a:endParaRPr lang="en-US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8" name="Rectangle 19">
              <a:extLst>
                <a:ext uri="{FF2B5EF4-FFF2-40B4-BE49-F238E27FC236}">
                  <a16:creationId xmlns:a16="http://schemas.microsoft.com/office/drawing/2014/main" id="{D2E604F1-154B-4CF2-80CA-54F0EB2874CE}"/>
                </a:ext>
              </a:extLst>
            </p:cNvPr>
            <p:cNvSpPr/>
            <p:nvPr/>
          </p:nvSpPr>
          <p:spPr bwMode="auto">
            <a:xfrm>
              <a:off x="1579625" y="2659188"/>
              <a:ext cx="2102332" cy="600666"/>
            </a:xfrm>
            <a:prstGeom prst="rect">
              <a:avLst/>
            </a:prstGeom>
            <a:solidFill>
              <a:schemeClr val="dk2">
                <a:alpha val="80000"/>
              </a:schemeClr>
            </a:solidFill>
            <a:ln w="19050">
              <a:solidFill>
                <a:schemeClr val="tx1">
                  <a:lumMod val="75000"/>
                  <a:alpha val="8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001">
              <a:schemeClr val="dk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bg-BG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9" name="TextBox 20">
              <a:extLst>
                <a:ext uri="{FF2B5EF4-FFF2-40B4-BE49-F238E27FC236}">
                  <a16:creationId xmlns:a16="http://schemas.microsoft.com/office/drawing/2014/main" id="{DBBF4751-629A-4C32-8E8B-058F5C6EC611}"/>
                </a:ext>
              </a:extLst>
            </p:cNvPr>
            <p:cNvSpPr txBox="1"/>
            <p:nvPr/>
          </p:nvSpPr>
          <p:spPr>
            <a:xfrm>
              <a:off x="1579625" y="2671644"/>
              <a:ext cx="2102332" cy="575754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144000" tIns="108000" rIns="144000" bIns="108000" rtlCol="0">
              <a:spAutoFit/>
            </a:bodyPr>
            <a:lstStyle/>
            <a:p>
              <a:pPr algn="ctr" eaLnBrk="0" hangingPunct="0">
                <a:buClr>
                  <a:schemeClr val="accent5">
                    <a:lumMod val="40000"/>
                    <a:lumOff val="60000"/>
                  </a:schemeClr>
                </a:buClr>
                <a:buSzPct val="70000"/>
              </a:pPr>
              <a:r>
                <a:rPr lang="en-US" sz="2000" dirty="0" err="1">
                  <a:solidFill>
                    <a:schemeClr val="bg2"/>
                  </a:solidFill>
                  <a:latin typeface="Consolas" pitchFamily="49" charset="0"/>
                </a:rPr>
                <a:t>i</a:t>
              </a:r>
              <a:r>
                <a:rPr lang="en-US" sz="2000" dirty="0">
                  <a:solidFill>
                    <a:schemeClr val="bg2"/>
                  </a:solidFill>
                  <a:latin typeface="Consolas" pitchFamily="49" charset="0"/>
                </a:rPr>
                <a:t> = </a:t>
              </a:r>
              <a:r>
                <a:rPr lang="en-US" sz="2000" noProof="1">
                  <a:solidFill>
                    <a:schemeClr val="bg2"/>
                  </a:solidFill>
                  <a:latin typeface="Consolas" pitchFamily="49" charset="0"/>
                </a:rPr>
                <a:t>1</a:t>
              </a:r>
              <a:endParaRPr lang="bg-BG" sz="2000" noProof="1">
                <a:solidFill>
                  <a:schemeClr val="bg2"/>
                </a:solidFill>
                <a:latin typeface="Consolas" pitchFamily="49" charset="0"/>
              </a:endParaRPr>
            </a:p>
          </p:txBody>
        </p:sp>
        <p:grpSp>
          <p:nvGrpSpPr>
            <p:cNvPr id="20" name="Групиране 19">
              <a:extLst>
                <a:ext uri="{FF2B5EF4-FFF2-40B4-BE49-F238E27FC236}">
                  <a16:creationId xmlns:a16="http://schemas.microsoft.com/office/drawing/2014/main" id="{8AEC38A1-D6C5-4A74-9A8B-898BFC67440A}"/>
                </a:ext>
              </a:extLst>
            </p:cNvPr>
            <p:cNvGrpSpPr/>
            <p:nvPr/>
          </p:nvGrpSpPr>
          <p:grpSpPr>
            <a:xfrm>
              <a:off x="1663788" y="3765742"/>
              <a:ext cx="1978159" cy="1122841"/>
              <a:chOff x="2010580" y="3962382"/>
              <a:chExt cx="1806822" cy="1025587"/>
            </a:xfrm>
          </p:grpSpPr>
          <p:sp>
            <p:nvSpPr>
              <p:cNvPr id="23" name="Flowchart: Decision 22">
                <a:extLst>
                  <a:ext uri="{FF2B5EF4-FFF2-40B4-BE49-F238E27FC236}">
                    <a16:creationId xmlns:a16="http://schemas.microsoft.com/office/drawing/2014/main" id="{346C756F-FFAD-40AC-9353-E6B881B9E394}"/>
                  </a:ext>
                </a:extLst>
              </p:cNvPr>
              <p:cNvSpPr/>
              <p:nvPr/>
            </p:nvSpPr>
            <p:spPr bwMode="auto">
              <a:xfrm>
                <a:off x="2010580" y="3962382"/>
                <a:ext cx="1806822" cy="1025587"/>
              </a:xfrm>
              <a:prstGeom prst="flowChartDecision">
                <a:avLst/>
              </a:prstGeom>
              <a:solidFill>
                <a:schemeClr val="dk2">
                  <a:alpha val="80000"/>
                </a:schemeClr>
              </a:solidFill>
              <a:ln w="19050">
                <a:solidFill>
                  <a:schemeClr val="tx1">
                    <a:lumMod val="75000"/>
                    <a:alpha val="80000"/>
                  </a:schemeClr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001">
                <a:schemeClr val="dk2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dirty="0">
                  <a:solidFill>
                    <a:schemeClr val="bg2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25C1882C-3B72-4189-9327-D11081D6E9A1}"/>
                  </a:ext>
                </a:extLst>
              </p:cNvPr>
              <p:cNvSpPr/>
              <p:nvPr/>
            </p:nvSpPr>
            <p:spPr>
              <a:xfrm>
                <a:off x="2055450" y="4244343"/>
                <a:ext cx="1717081" cy="36545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000" noProof="1">
                    <a:solidFill>
                      <a:schemeClr val="bg2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Consolas" pitchFamily="49" charset="0"/>
                  </a:rPr>
                  <a:t>i &lt;=</a:t>
                </a:r>
                <a:r>
                  <a:rPr lang="bg-BG" sz="2000" noProof="1">
                    <a:solidFill>
                      <a:schemeClr val="bg2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Consolas" pitchFamily="49" charset="0"/>
                  </a:rPr>
                  <a:t> 12</a:t>
                </a:r>
                <a:endParaRPr lang="en-US" sz="2400" dirty="0">
                  <a:solidFill>
                    <a:schemeClr val="bg2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p:grpSp>
        <p:cxnSp>
          <p:nvCxnSpPr>
            <p:cNvPr id="21" name="Straight Arrow Connector 27">
              <a:extLst>
                <a:ext uri="{FF2B5EF4-FFF2-40B4-BE49-F238E27FC236}">
                  <a16:creationId xmlns:a16="http://schemas.microsoft.com/office/drawing/2014/main" id="{9D55D745-31FB-48E9-84FE-56787BEC19A8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2444250" y="3518536"/>
              <a:ext cx="417235" cy="3041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7">
              <a:extLst>
                <a:ext uri="{FF2B5EF4-FFF2-40B4-BE49-F238E27FC236}">
                  <a16:creationId xmlns:a16="http://schemas.microsoft.com/office/drawing/2014/main" id="{81F86AD4-125A-4CA5-9BCA-0891B7F60E9B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2444250" y="5126074"/>
              <a:ext cx="417235" cy="3041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1988260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bg-BG" sz="3000" dirty="0"/>
              <a:t>Можем да повтаряме действия до определен момент чрез </a:t>
            </a:r>
            <a:br>
              <a:rPr lang="en-US" sz="3000" dirty="0"/>
            </a:br>
            <a:r>
              <a:rPr lang="en-US" sz="3000" b="1" dirty="0">
                <a:solidFill>
                  <a:schemeClr val="bg1"/>
                </a:solidFill>
                <a:latin typeface="Consolas" panose="020B0609020204030204" pitchFamily="49" charset="0"/>
              </a:rPr>
              <a:t>for</a:t>
            </a:r>
            <a:r>
              <a:rPr lang="en-US" sz="3000" b="1" dirty="0">
                <a:solidFill>
                  <a:schemeClr val="bg1"/>
                </a:solidFill>
              </a:rPr>
              <a:t>-</a:t>
            </a:r>
            <a:r>
              <a:rPr lang="bg-BG" sz="3000" dirty="0"/>
              <a:t>цикли</a:t>
            </a:r>
            <a:r>
              <a:rPr lang="en-US" sz="3000" dirty="0"/>
              <a:t>	</a:t>
            </a:r>
            <a:endParaRPr lang="bg-BG" sz="3000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Consolas" panose="020B0609020204030204" pitchFamily="49" charset="0"/>
              </a:rPr>
              <a:t>For-</a:t>
            </a:r>
            <a:r>
              <a:rPr lang="bg-BG">
                <a:latin typeface="Consolas" panose="020B0609020204030204" pitchFamily="49" charset="0"/>
              </a:rPr>
              <a:t>цикъл – конструкция</a:t>
            </a:r>
            <a:endParaRPr lang="en-US" dirty="0"/>
          </a:p>
        </p:txBody>
      </p:sp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1820508" y="3268032"/>
            <a:ext cx="6840491" cy="1606594"/>
          </a:xfrm>
          <a:prstGeom prst="rect">
            <a:avLst/>
          </a:prstGeom>
          <a:solidFill>
            <a:schemeClr val="accent5">
              <a:lumMod val="60000"/>
              <a:lumOff val="4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lnSpc>
                <a:spcPct val="12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for</a:t>
            </a:r>
            <a:r>
              <a:rPr lang="en-US" sz="2800" b="1" noProof="1">
                <a:latin typeface="Consolas" pitchFamily="49" charset="0"/>
                <a:cs typeface="Consolas" pitchFamily="49" charset="0"/>
              </a:rPr>
              <a:t> (let i = 1; i &lt;= 12; i</a:t>
            </a:r>
            <a:r>
              <a:rPr lang="bg-BG" sz="2800" b="1" noProof="1">
                <a:latin typeface="Consolas" pitchFamily="49" charset="0"/>
                <a:cs typeface="Consolas" pitchFamily="49" charset="0"/>
              </a:rPr>
              <a:t> </a:t>
            </a:r>
            <a:r>
              <a:rPr lang="en-US" sz="2800" b="1" noProof="1">
                <a:latin typeface="Consolas" pitchFamily="49" charset="0"/>
                <a:cs typeface="Consolas" pitchFamily="49" charset="0"/>
              </a:rPr>
              <a:t>+</a:t>
            </a:r>
            <a:r>
              <a:rPr lang="bg-BG" sz="2800" b="1" noProof="1">
                <a:latin typeface="Consolas" pitchFamily="49" charset="0"/>
                <a:cs typeface="Consolas" pitchFamily="49" charset="0"/>
              </a:rPr>
              <a:t>= 1</a:t>
            </a:r>
            <a:r>
              <a:rPr lang="en-US" sz="2800" b="1" noProof="1">
                <a:latin typeface="Consolas" pitchFamily="49" charset="0"/>
                <a:cs typeface="Consolas" pitchFamily="49" charset="0"/>
              </a:rPr>
              <a:t>) {</a:t>
            </a:r>
            <a:endParaRPr lang="bg-BG" sz="2800" b="1" noProof="1">
              <a:latin typeface="Consolas" pitchFamily="49" charset="0"/>
              <a:cs typeface="Consolas" pitchFamily="49" charset="0"/>
            </a:endParaRPr>
          </a:p>
          <a:p>
            <a:pPr eaLnBrk="0" hangingPunct="0">
              <a:lnSpc>
                <a:spcPct val="12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bg-BG" sz="2800" b="1" noProof="1">
                <a:latin typeface="Consolas" pitchFamily="49" charset="0"/>
                <a:cs typeface="Consolas" pitchFamily="49" charset="0"/>
              </a:rPr>
              <a:t> </a:t>
            </a:r>
            <a:r>
              <a:rPr lang="en-US" sz="2800" b="1" noProof="1">
                <a:latin typeface="Consolas" pitchFamily="49" charset="0"/>
                <a:cs typeface="Consolas" pitchFamily="49" charset="0"/>
              </a:rPr>
              <a:t> console.log(</a:t>
            </a: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i</a:t>
            </a:r>
            <a:r>
              <a:rPr lang="en-US" sz="2800" b="1" noProof="1">
                <a:latin typeface="Consolas" pitchFamily="49" charset="0"/>
                <a:cs typeface="Consolas" pitchFamily="49" charset="0"/>
              </a:rPr>
              <a:t>);</a:t>
            </a:r>
          </a:p>
          <a:p>
            <a:pPr eaLnBrk="0" hangingPunct="0">
              <a:lnSpc>
                <a:spcPct val="12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latin typeface="Consolas" pitchFamily="49" charset="0"/>
                <a:cs typeface="Consolas" pitchFamily="49" charset="0"/>
              </a:rPr>
              <a:t>}</a:t>
            </a:r>
          </a:p>
        </p:txBody>
      </p:sp>
      <p:sp>
        <p:nvSpPr>
          <p:cNvPr id="9" name="AutoShape 7"/>
          <p:cNvSpPr>
            <a:spLocks noChangeArrowheads="1"/>
          </p:cNvSpPr>
          <p:nvPr/>
        </p:nvSpPr>
        <p:spPr bwMode="auto">
          <a:xfrm>
            <a:off x="678903" y="2189310"/>
            <a:ext cx="2940695" cy="960120"/>
          </a:xfrm>
          <a:prstGeom prst="wedgeRoundRectCallout">
            <a:avLst>
              <a:gd name="adj1" fmla="val -1808"/>
              <a:gd name="adj2" fmla="val 73894"/>
              <a:gd name="adj3" fmla="val 16667"/>
            </a:avLst>
          </a:prstGeom>
          <a:solidFill>
            <a:schemeClr val="tx1">
              <a:alpha val="80000"/>
            </a:schemeClr>
          </a:solidFill>
          <a:ln w="19050">
            <a:solidFill>
              <a:schemeClr val="tx1">
                <a:alpha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800" b="1" dirty="0">
                <a:solidFill>
                  <a:schemeClr val="bg2"/>
                </a:solidFill>
              </a:rPr>
              <a:t>Ключова дума за конструкцията</a:t>
            </a:r>
          </a:p>
        </p:txBody>
      </p:sp>
      <p:sp>
        <p:nvSpPr>
          <p:cNvPr id="11" name="AutoShape 7"/>
          <p:cNvSpPr>
            <a:spLocks noChangeArrowheads="1"/>
          </p:cNvSpPr>
          <p:nvPr/>
        </p:nvSpPr>
        <p:spPr bwMode="auto">
          <a:xfrm>
            <a:off x="4113456" y="2189311"/>
            <a:ext cx="2191890" cy="960120"/>
          </a:xfrm>
          <a:prstGeom prst="wedgeRoundRectCallout">
            <a:avLst>
              <a:gd name="adj1" fmla="val -31763"/>
              <a:gd name="adj2" fmla="val 77218"/>
              <a:gd name="adj3" fmla="val 16667"/>
            </a:avLst>
          </a:prstGeom>
          <a:solidFill>
            <a:schemeClr val="tx1">
              <a:alpha val="80000"/>
            </a:schemeClr>
          </a:solidFill>
          <a:ln w="19050">
            <a:solidFill>
              <a:schemeClr val="tx1">
                <a:alpha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800" b="1" dirty="0">
                <a:solidFill>
                  <a:schemeClr val="bg2"/>
                </a:solidFill>
              </a:rPr>
              <a:t>Начална стойност</a:t>
            </a:r>
          </a:p>
        </p:txBody>
      </p:sp>
      <p:sp>
        <p:nvSpPr>
          <p:cNvPr id="13" name="AutoShape 7"/>
          <p:cNvSpPr>
            <a:spLocks noChangeArrowheads="1"/>
          </p:cNvSpPr>
          <p:nvPr/>
        </p:nvSpPr>
        <p:spPr bwMode="auto">
          <a:xfrm>
            <a:off x="6591205" y="2189311"/>
            <a:ext cx="1981200" cy="960120"/>
          </a:xfrm>
          <a:prstGeom prst="wedgeRoundRectCallout">
            <a:avLst>
              <a:gd name="adj1" fmla="val -62436"/>
              <a:gd name="adj2" fmla="val 60663"/>
              <a:gd name="adj3" fmla="val 16667"/>
            </a:avLst>
          </a:prstGeom>
          <a:solidFill>
            <a:schemeClr val="tx1">
              <a:alpha val="80000"/>
            </a:schemeClr>
          </a:solidFill>
          <a:ln w="19050">
            <a:solidFill>
              <a:schemeClr val="tx1">
                <a:alpha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800" b="1" dirty="0">
                <a:solidFill>
                  <a:schemeClr val="bg2"/>
                </a:solidFill>
              </a:rPr>
              <a:t>Крайна стойност</a:t>
            </a:r>
          </a:p>
        </p:txBody>
      </p:sp>
      <p:sp>
        <p:nvSpPr>
          <p:cNvPr id="12" name="AutoShape 7">
            <a:extLst>
              <a:ext uri="{FF2B5EF4-FFF2-40B4-BE49-F238E27FC236}">
                <a16:creationId xmlns:a16="http://schemas.microsoft.com/office/drawing/2014/main" id="{CFEE89DF-D9FC-4DE0-AE73-7A904A9283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74708" y="3856220"/>
            <a:ext cx="1404050" cy="703703"/>
          </a:xfrm>
          <a:custGeom>
            <a:avLst/>
            <a:gdLst>
              <a:gd name="connsiteX0" fmla="*/ 0 w 1404050"/>
              <a:gd name="connsiteY0" fmla="*/ 117286 h 703703"/>
              <a:gd name="connsiteX1" fmla="*/ 34352 w 1404050"/>
              <a:gd name="connsiteY1" fmla="*/ 34352 h 703703"/>
              <a:gd name="connsiteX2" fmla="*/ 117286 w 1404050"/>
              <a:gd name="connsiteY2" fmla="*/ 0 h 703703"/>
              <a:gd name="connsiteX3" fmla="*/ 234008 w 1404050"/>
              <a:gd name="connsiteY3" fmla="*/ 0 h 703703"/>
              <a:gd name="connsiteX4" fmla="*/ 234008 w 1404050"/>
              <a:gd name="connsiteY4" fmla="*/ 0 h 703703"/>
              <a:gd name="connsiteX5" fmla="*/ 585021 w 1404050"/>
              <a:gd name="connsiteY5" fmla="*/ 0 h 703703"/>
              <a:gd name="connsiteX6" fmla="*/ 1286764 w 1404050"/>
              <a:gd name="connsiteY6" fmla="*/ 0 h 703703"/>
              <a:gd name="connsiteX7" fmla="*/ 1369698 w 1404050"/>
              <a:gd name="connsiteY7" fmla="*/ 34352 h 703703"/>
              <a:gd name="connsiteX8" fmla="*/ 1404050 w 1404050"/>
              <a:gd name="connsiteY8" fmla="*/ 117286 h 703703"/>
              <a:gd name="connsiteX9" fmla="*/ 1404050 w 1404050"/>
              <a:gd name="connsiteY9" fmla="*/ 117284 h 703703"/>
              <a:gd name="connsiteX10" fmla="*/ 1404050 w 1404050"/>
              <a:gd name="connsiteY10" fmla="*/ 117284 h 703703"/>
              <a:gd name="connsiteX11" fmla="*/ 1404050 w 1404050"/>
              <a:gd name="connsiteY11" fmla="*/ 293210 h 703703"/>
              <a:gd name="connsiteX12" fmla="*/ 1404050 w 1404050"/>
              <a:gd name="connsiteY12" fmla="*/ 586417 h 703703"/>
              <a:gd name="connsiteX13" fmla="*/ 1369698 w 1404050"/>
              <a:gd name="connsiteY13" fmla="*/ 669351 h 703703"/>
              <a:gd name="connsiteX14" fmla="*/ 1286764 w 1404050"/>
              <a:gd name="connsiteY14" fmla="*/ 703703 h 703703"/>
              <a:gd name="connsiteX15" fmla="*/ 585021 w 1404050"/>
              <a:gd name="connsiteY15" fmla="*/ 703703 h 703703"/>
              <a:gd name="connsiteX16" fmla="*/ 234008 w 1404050"/>
              <a:gd name="connsiteY16" fmla="*/ 703703 h 703703"/>
              <a:gd name="connsiteX17" fmla="*/ 234008 w 1404050"/>
              <a:gd name="connsiteY17" fmla="*/ 703703 h 703703"/>
              <a:gd name="connsiteX18" fmla="*/ 117286 w 1404050"/>
              <a:gd name="connsiteY18" fmla="*/ 703703 h 703703"/>
              <a:gd name="connsiteX19" fmla="*/ 34352 w 1404050"/>
              <a:gd name="connsiteY19" fmla="*/ 669351 h 703703"/>
              <a:gd name="connsiteX20" fmla="*/ 0 w 1404050"/>
              <a:gd name="connsiteY20" fmla="*/ 586417 h 703703"/>
              <a:gd name="connsiteX21" fmla="*/ 0 w 1404050"/>
              <a:gd name="connsiteY21" fmla="*/ 293210 h 703703"/>
              <a:gd name="connsiteX22" fmla="*/ -184703 w 1404050"/>
              <a:gd name="connsiteY22" fmla="*/ 34481 h 703703"/>
              <a:gd name="connsiteX23" fmla="*/ 0 w 1404050"/>
              <a:gd name="connsiteY23" fmla="*/ 117284 h 703703"/>
              <a:gd name="connsiteX24" fmla="*/ 0 w 1404050"/>
              <a:gd name="connsiteY24" fmla="*/ 117286 h 703703"/>
              <a:gd name="connsiteX0" fmla="*/ 0 w 1404050"/>
              <a:gd name="connsiteY0" fmla="*/ 117286 h 703703"/>
              <a:gd name="connsiteX1" fmla="*/ 34352 w 1404050"/>
              <a:gd name="connsiteY1" fmla="*/ 34352 h 703703"/>
              <a:gd name="connsiteX2" fmla="*/ 117286 w 1404050"/>
              <a:gd name="connsiteY2" fmla="*/ 0 h 703703"/>
              <a:gd name="connsiteX3" fmla="*/ 234008 w 1404050"/>
              <a:gd name="connsiteY3" fmla="*/ 0 h 703703"/>
              <a:gd name="connsiteX4" fmla="*/ 234008 w 1404050"/>
              <a:gd name="connsiteY4" fmla="*/ 0 h 703703"/>
              <a:gd name="connsiteX5" fmla="*/ 585021 w 1404050"/>
              <a:gd name="connsiteY5" fmla="*/ 0 h 703703"/>
              <a:gd name="connsiteX6" fmla="*/ 1286764 w 1404050"/>
              <a:gd name="connsiteY6" fmla="*/ 0 h 703703"/>
              <a:gd name="connsiteX7" fmla="*/ 1369698 w 1404050"/>
              <a:gd name="connsiteY7" fmla="*/ 34352 h 703703"/>
              <a:gd name="connsiteX8" fmla="*/ 1404050 w 1404050"/>
              <a:gd name="connsiteY8" fmla="*/ 117286 h 703703"/>
              <a:gd name="connsiteX9" fmla="*/ 1404050 w 1404050"/>
              <a:gd name="connsiteY9" fmla="*/ 117284 h 703703"/>
              <a:gd name="connsiteX10" fmla="*/ 1404050 w 1404050"/>
              <a:gd name="connsiteY10" fmla="*/ 117284 h 703703"/>
              <a:gd name="connsiteX11" fmla="*/ 1404050 w 1404050"/>
              <a:gd name="connsiteY11" fmla="*/ 293210 h 703703"/>
              <a:gd name="connsiteX12" fmla="*/ 1404050 w 1404050"/>
              <a:gd name="connsiteY12" fmla="*/ 586417 h 703703"/>
              <a:gd name="connsiteX13" fmla="*/ 1369698 w 1404050"/>
              <a:gd name="connsiteY13" fmla="*/ 669351 h 703703"/>
              <a:gd name="connsiteX14" fmla="*/ 1286764 w 1404050"/>
              <a:gd name="connsiteY14" fmla="*/ 703703 h 703703"/>
              <a:gd name="connsiteX15" fmla="*/ 585021 w 1404050"/>
              <a:gd name="connsiteY15" fmla="*/ 703703 h 703703"/>
              <a:gd name="connsiteX16" fmla="*/ 234008 w 1404050"/>
              <a:gd name="connsiteY16" fmla="*/ 703703 h 703703"/>
              <a:gd name="connsiteX17" fmla="*/ 234008 w 1404050"/>
              <a:gd name="connsiteY17" fmla="*/ 703703 h 703703"/>
              <a:gd name="connsiteX18" fmla="*/ 117286 w 1404050"/>
              <a:gd name="connsiteY18" fmla="*/ 703703 h 703703"/>
              <a:gd name="connsiteX19" fmla="*/ 34352 w 1404050"/>
              <a:gd name="connsiteY19" fmla="*/ 669351 h 703703"/>
              <a:gd name="connsiteX20" fmla="*/ 0 w 1404050"/>
              <a:gd name="connsiteY20" fmla="*/ 586417 h 703703"/>
              <a:gd name="connsiteX21" fmla="*/ 0 w 1404050"/>
              <a:gd name="connsiteY21" fmla="*/ 293210 h 703703"/>
              <a:gd name="connsiteX22" fmla="*/ 0 w 1404050"/>
              <a:gd name="connsiteY22" fmla="*/ 117284 h 703703"/>
              <a:gd name="connsiteX23" fmla="*/ 0 w 1404050"/>
              <a:gd name="connsiteY23" fmla="*/ 117286 h 7037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1404050" h="703703">
                <a:moveTo>
                  <a:pt x="0" y="117286"/>
                </a:moveTo>
                <a:cubicBezTo>
                  <a:pt x="0" y="86180"/>
                  <a:pt x="12357" y="56348"/>
                  <a:pt x="34352" y="34352"/>
                </a:cubicBezTo>
                <a:cubicBezTo>
                  <a:pt x="56347" y="12357"/>
                  <a:pt x="86180" y="0"/>
                  <a:pt x="117286" y="0"/>
                </a:cubicBezTo>
                <a:lnTo>
                  <a:pt x="234008" y="0"/>
                </a:lnTo>
                <a:lnTo>
                  <a:pt x="234008" y="0"/>
                </a:lnTo>
                <a:lnTo>
                  <a:pt x="585021" y="0"/>
                </a:lnTo>
                <a:lnTo>
                  <a:pt x="1286764" y="0"/>
                </a:lnTo>
                <a:cubicBezTo>
                  <a:pt x="1317870" y="0"/>
                  <a:pt x="1347702" y="12357"/>
                  <a:pt x="1369698" y="34352"/>
                </a:cubicBezTo>
                <a:cubicBezTo>
                  <a:pt x="1391693" y="56347"/>
                  <a:pt x="1404050" y="86180"/>
                  <a:pt x="1404050" y="117286"/>
                </a:cubicBezTo>
                <a:lnTo>
                  <a:pt x="1404050" y="117284"/>
                </a:lnTo>
                <a:lnTo>
                  <a:pt x="1404050" y="117284"/>
                </a:lnTo>
                <a:lnTo>
                  <a:pt x="1404050" y="293210"/>
                </a:lnTo>
                <a:lnTo>
                  <a:pt x="1404050" y="586417"/>
                </a:lnTo>
                <a:cubicBezTo>
                  <a:pt x="1404050" y="617523"/>
                  <a:pt x="1391693" y="647355"/>
                  <a:pt x="1369698" y="669351"/>
                </a:cubicBezTo>
                <a:cubicBezTo>
                  <a:pt x="1347703" y="691346"/>
                  <a:pt x="1317870" y="703703"/>
                  <a:pt x="1286764" y="703703"/>
                </a:cubicBezTo>
                <a:lnTo>
                  <a:pt x="585021" y="703703"/>
                </a:lnTo>
                <a:lnTo>
                  <a:pt x="234008" y="703703"/>
                </a:lnTo>
                <a:lnTo>
                  <a:pt x="234008" y="703703"/>
                </a:lnTo>
                <a:lnTo>
                  <a:pt x="117286" y="703703"/>
                </a:lnTo>
                <a:cubicBezTo>
                  <a:pt x="86180" y="703703"/>
                  <a:pt x="56348" y="691346"/>
                  <a:pt x="34352" y="669351"/>
                </a:cubicBezTo>
                <a:cubicBezTo>
                  <a:pt x="12357" y="647356"/>
                  <a:pt x="0" y="617523"/>
                  <a:pt x="0" y="586417"/>
                </a:cubicBezTo>
                <a:lnTo>
                  <a:pt x="0" y="293210"/>
                </a:lnTo>
                <a:lnTo>
                  <a:pt x="0" y="117284"/>
                </a:lnTo>
                <a:lnTo>
                  <a:pt x="0" y="117286"/>
                </a:lnTo>
                <a:close/>
              </a:path>
            </a:pathLst>
          </a:custGeom>
          <a:solidFill>
            <a:schemeClr val="tx1">
              <a:alpha val="80000"/>
            </a:schemeClr>
          </a:solidFill>
          <a:ln w="19050">
            <a:solidFill>
              <a:schemeClr val="tx1">
                <a:alpha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800" b="1" dirty="0">
                <a:solidFill>
                  <a:schemeClr val="bg2"/>
                </a:solidFill>
              </a:rPr>
              <a:t>Стъпка</a:t>
            </a:r>
            <a:endParaRPr lang="bg-BG" sz="2800" b="1" dirty="0">
              <a:solidFill>
                <a:schemeClr val="bg2"/>
              </a:solidFill>
              <a:latin typeface="Consolas" panose="020B0609020204030204" pitchFamily="49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2CE1933-0A7A-48D9-BE72-024204F972C3}"/>
              </a:ext>
            </a:extLst>
          </p:cNvPr>
          <p:cNvSpPr/>
          <p:nvPr/>
        </p:nvSpPr>
        <p:spPr>
          <a:xfrm>
            <a:off x="2285826" y="3886200"/>
            <a:ext cx="2971975" cy="432876"/>
          </a:xfrm>
          <a:prstGeom prst="rect">
            <a:avLst/>
          </a:prstGeom>
          <a:noFill/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 sz="2800" dirty="0">
              <a:solidFill>
                <a:schemeClr val="bg1"/>
              </a:solidFill>
            </a:endParaRPr>
          </a:p>
        </p:txBody>
      </p:sp>
      <p:sp>
        <p:nvSpPr>
          <p:cNvPr id="14" name="Slide Number">
            <a:extLst>
              <a:ext uri="{FF2B5EF4-FFF2-40B4-BE49-F238E27FC236}">
                <a16:creationId xmlns:a16="http://schemas.microsoft.com/office/drawing/2014/main" id="{78C379AA-9EAE-43E0-8FB0-32672340AA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18</a:t>
            </a:fld>
            <a:endParaRPr lang="en-US" noProof="0" dirty="0"/>
          </a:p>
        </p:txBody>
      </p:sp>
      <p:sp>
        <p:nvSpPr>
          <p:cNvPr id="17" name="AutoShape 7">
            <a:extLst>
              <a:ext uri="{FF2B5EF4-FFF2-40B4-BE49-F238E27FC236}">
                <a16:creationId xmlns:a16="http://schemas.microsoft.com/office/drawing/2014/main" id="{CFEE89DF-D9FC-4DE0-AE73-7A904A9283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28850" y="4673600"/>
            <a:ext cx="4889500" cy="960120"/>
          </a:xfrm>
          <a:custGeom>
            <a:avLst/>
            <a:gdLst>
              <a:gd name="connsiteX0" fmla="*/ 0 w 4889500"/>
              <a:gd name="connsiteY0" fmla="*/ 160023 h 960120"/>
              <a:gd name="connsiteX1" fmla="*/ 46870 w 4889500"/>
              <a:gd name="connsiteY1" fmla="*/ 46870 h 960120"/>
              <a:gd name="connsiteX2" fmla="*/ 160023 w 4889500"/>
              <a:gd name="connsiteY2" fmla="*/ 1 h 960120"/>
              <a:gd name="connsiteX3" fmla="*/ 814917 w 4889500"/>
              <a:gd name="connsiteY3" fmla="*/ 0 h 960120"/>
              <a:gd name="connsiteX4" fmla="*/ 918884 w 4889500"/>
              <a:gd name="connsiteY4" fmla="*/ -278492 h 960120"/>
              <a:gd name="connsiteX5" fmla="*/ 2037292 w 4889500"/>
              <a:gd name="connsiteY5" fmla="*/ 0 h 960120"/>
              <a:gd name="connsiteX6" fmla="*/ 4729477 w 4889500"/>
              <a:gd name="connsiteY6" fmla="*/ 0 h 960120"/>
              <a:gd name="connsiteX7" fmla="*/ 4842630 w 4889500"/>
              <a:gd name="connsiteY7" fmla="*/ 46870 h 960120"/>
              <a:gd name="connsiteX8" fmla="*/ 4889499 w 4889500"/>
              <a:gd name="connsiteY8" fmla="*/ 160023 h 960120"/>
              <a:gd name="connsiteX9" fmla="*/ 4889500 w 4889500"/>
              <a:gd name="connsiteY9" fmla="*/ 160020 h 960120"/>
              <a:gd name="connsiteX10" fmla="*/ 4889500 w 4889500"/>
              <a:gd name="connsiteY10" fmla="*/ 160020 h 960120"/>
              <a:gd name="connsiteX11" fmla="*/ 4889500 w 4889500"/>
              <a:gd name="connsiteY11" fmla="*/ 400050 h 960120"/>
              <a:gd name="connsiteX12" fmla="*/ 4889500 w 4889500"/>
              <a:gd name="connsiteY12" fmla="*/ 800097 h 960120"/>
              <a:gd name="connsiteX13" fmla="*/ 4842630 w 4889500"/>
              <a:gd name="connsiteY13" fmla="*/ 913250 h 960120"/>
              <a:gd name="connsiteX14" fmla="*/ 4729477 w 4889500"/>
              <a:gd name="connsiteY14" fmla="*/ 960120 h 960120"/>
              <a:gd name="connsiteX15" fmla="*/ 2037292 w 4889500"/>
              <a:gd name="connsiteY15" fmla="*/ 960120 h 960120"/>
              <a:gd name="connsiteX16" fmla="*/ 814917 w 4889500"/>
              <a:gd name="connsiteY16" fmla="*/ 960120 h 960120"/>
              <a:gd name="connsiteX17" fmla="*/ 814917 w 4889500"/>
              <a:gd name="connsiteY17" fmla="*/ 960120 h 960120"/>
              <a:gd name="connsiteX18" fmla="*/ 160023 w 4889500"/>
              <a:gd name="connsiteY18" fmla="*/ 960120 h 960120"/>
              <a:gd name="connsiteX19" fmla="*/ 46870 w 4889500"/>
              <a:gd name="connsiteY19" fmla="*/ 913250 h 960120"/>
              <a:gd name="connsiteX20" fmla="*/ 0 w 4889500"/>
              <a:gd name="connsiteY20" fmla="*/ 800097 h 960120"/>
              <a:gd name="connsiteX21" fmla="*/ 0 w 4889500"/>
              <a:gd name="connsiteY21" fmla="*/ 400050 h 960120"/>
              <a:gd name="connsiteX22" fmla="*/ 0 w 4889500"/>
              <a:gd name="connsiteY22" fmla="*/ 160020 h 960120"/>
              <a:gd name="connsiteX23" fmla="*/ 0 w 4889500"/>
              <a:gd name="connsiteY23" fmla="*/ 160020 h 960120"/>
              <a:gd name="connsiteX24" fmla="*/ 0 w 4889500"/>
              <a:gd name="connsiteY24" fmla="*/ 160023 h 960120"/>
              <a:gd name="connsiteX0" fmla="*/ 0 w 4889500"/>
              <a:gd name="connsiteY0" fmla="*/ 160023 h 960120"/>
              <a:gd name="connsiteX1" fmla="*/ 46870 w 4889500"/>
              <a:gd name="connsiteY1" fmla="*/ 46870 h 960120"/>
              <a:gd name="connsiteX2" fmla="*/ 160023 w 4889500"/>
              <a:gd name="connsiteY2" fmla="*/ 1 h 960120"/>
              <a:gd name="connsiteX3" fmla="*/ 814917 w 4889500"/>
              <a:gd name="connsiteY3" fmla="*/ 0 h 960120"/>
              <a:gd name="connsiteX4" fmla="*/ 2037292 w 4889500"/>
              <a:gd name="connsiteY4" fmla="*/ 0 h 960120"/>
              <a:gd name="connsiteX5" fmla="*/ 4729477 w 4889500"/>
              <a:gd name="connsiteY5" fmla="*/ 0 h 960120"/>
              <a:gd name="connsiteX6" fmla="*/ 4842630 w 4889500"/>
              <a:gd name="connsiteY6" fmla="*/ 46870 h 960120"/>
              <a:gd name="connsiteX7" fmla="*/ 4889499 w 4889500"/>
              <a:gd name="connsiteY7" fmla="*/ 160023 h 960120"/>
              <a:gd name="connsiteX8" fmla="*/ 4889500 w 4889500"/>
              <a:gd name="connsiteY8" fmla="*/ 160020 h 960120"/>
              <a:gd name="connsiteX9" fmla="*/ 4889500 w 4889500"/>
              <a:gd name="connsiteY9" fmla="*/ 160020 h 960120"/>
              <a:gd name="connsiteX10" fmla="*/ 4889500 w 4889500"/>
              <a:gd name="connsiteY10" fmla="*/ 400050 h 960120"/>
              <a:gd name="connsiteX11" fmla="*/ 4889500 w 4889500"/>
              <a:gd name="connsiteY11" fmla="*/ 800097 h 960120"/>
              <a:gd name="connsiteX12" fmla="*/ 4842630 w 4889500"/>
              <a:gd name="connsiteY12" fmla="*/ 913250 h 960120"/>
              <a:gd name="connsiteX13" fmla="*/ 4729477 w 4889500"/>
              <a:gd name="connsiteY13" fmla="*/ 960120 h 960120"/>
              <a:gd name="connsiteX14" fmla="*/ 2037292 w 4889500"/>
              <a:gd name="connsiteY14" fmla="*/ 960120 h 960120"/>
              <a:gd name="connsiteX15" fmla="*/ 814917 w 4889500"/>
              <a:gd name="connsiteY15" fmla="*/ 960120 h 960120"/>
              <a:gd name="connsiteX16" fmla="*/ 814917 w 4889500"/>
              <a:gd name="connsiteY16" fmla="*/ 960120 h 960120"/>
              <a:gd name="connsiteX17" fmla="*/ 160023 w 4889500"/>
              <a:gd name="connsiteY17" fmla="*/ 960120 h 960120"/>
              <a:gd name="connsiteX18" fmla="*/ 46870 w 4889500"/>
              <a:gd name="connsiteY18" fmla="*/ 913250 h 960120"/>
              <a:gd name="connsiteX19" fmla="*/ 0 w 4889500"/>
              <a:gd name="connsiteY19" fmla="*/ 800097 h 960120"/>
              <a:gd name="connsiteX20" fmla="*/ 0 w 4889500"/>
              <a:gd name="connsiteY20" fmla="*/ 400050 h 960120"/>
              <a:gd name="connsiteX21" fmla="*/ 0 w 4889500"/>
              <a:gd name="connsiteY21" fmla="*/ 160020 h 960120"/>
              <a:gd name="connsiteX22" fmla="*/ 0 w 4889500"/>
              <a:gd name="connsiteY22" fmla="*/ 160020 h 960120"/>
              <a:gd name="connsiteX23" fmla="*/ 0 w 4889500"/>
              <a:gd name="connsiteY23" fmla="*/ 160023 h 9601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4889500" h="960120">
                <a:moveTo>
                  <a:pt x="0" y="160023"/>
                </a:moveTo>
                <a:cubicBezTo>
                  <a:pt x="0" y="117582"/>
                  <a:pt x="16860" y="76880"/>
                  <a:pt x="46870" y="46870"/>
                </a:cubicBezTo>
                <a:cubicBezTo>
                  <a:pt x="76880" y="16860"/>
                  <a:pt x="117583" y="0"/>
                  <a:pt x="160023" y="1"/>
                </a:cubicBezTo>
                <a:lnTo>
                  <a:pt x="814917" y="0"/>
                </a:lnTo>
                <a:lnTo>
                  <a:pt x="2037292" y="0"/>
                </a:lnTo>
                <a:lnTo>
                  <a:pt x="4729477" y="0"/>
                </a:lnTo>
                <a:cubicBezTo>
                  <a:pt x="4771918" y="0"/>
                  <a:pt x="4812620" y="16860"/>
                  <a:pt x="4842630" y="46870"/>
                </a:cubicBezTo>
                <a:cubicBezTo>
                  <a:pt x="4872640" y="76880"/>
                  <a:pt x="4889500" y="117583"/>
                  <a:pt x="4889499" y="160023"/>
                </a:cubicBezTo>
                <a:cubicBezTo>
                  <a:pt x="4889499" y="160022"/>
                  <a:pt x="4889500" y="160021"/>
                  <a:pt x="4889500" y="160020"/>
                </a:cubicBezTo>
                <a:lnTo>
                  <a:pt x="4889500" y="160020"/>
                </a:lnTo>
                <a:lnTo>
                  <a:pt x="4889500" y="400050"/>
                </a:lnTo>
                <a:lnTo>
                  <a:pt x="4889500" y="800097"/>
                </a:lnTo>
                <a:cubicBezTo>
                  <a:pt x="4889500" y="842538"/>
                  <a:pt x="4872640" y="883240"/>
                  <a:pt x="4842630" y="913250"/>
                </a:cubicBezTo>
                <a:cubicBezTo>
                  <a:pt x="4812620" y="943260"/>
                  <a:pt x="4771917" y="960120"/>
                  <a:pt x="4729477" y="960120"/>
                </a:cubicBezTo>
                <a:lnTo>
                  <a:pt x="2037292" y="960120"/>
                </a:lnTo>
                <a:lnTo>
                  <a:pt x="814917" y="960120"/>
                </a:lnTo>
                <a:lnTo>
                  <a:pt x="814917" y="960120"/>
                </a:lnTo>
                <a:lnTo>
                  <a:pt x="160023" y="960120"/>
                </a:lnTo>
                <a:cubicBezTo>
                  <a:pt x="117582" y="960120"/>
                  <a:pt x="76880" y="943260"/>
                  <a:pt x="46870" y="913250"/>
                </a:cubicBezTo>
                <a:cubicBezTo>
                  <a:pt x="16860" y="883240"/>
                  <a:pt x="0" y="842537"/>
                  <a:pt x="0" y="800097"/>
                </a:cubicBezTo>
                <a:lnTo>
                  <a:pt x="0" y="400050"/>
                </a:lnTo>
                <a:lnTo>
                  <a:pt x="0" y="160020"/>
                </a:lnTo>
                <a:lnTo>
                  <a:pt x="0" y="160020"/>
                </a:lnTo>
                <a:lnTo>
                  <a:pt x="0" y="160023"/>
                </a:lnTo>
                <a:close/>
              </a:path>
            </a:pathLst>
          </a:custGeom>
          <a:solidFill>
            <a:schemeClr val="tx1">
              <a:alpha val="80000"/>
            </a:schemeClr>
          </a:solidFill>
          <a:ln w="19050">
            <a:solidFill>
              <a:schemeClr val="tx1">
                <a:alpha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800" b="1" dirty="0">
                <a:solidFill>
                  <a:schemeClr val="bg2"/>
                </a:solidFill>
              </a:rPr>
              <a:t>Тяло на цикъла: </a:t>
            </a:r>
            <a:endParaRPr lang="en-US" sz="2800" b="1" dirty="0">
              <a:solidFill>
                <a:schemeClr val="bg2"/>
              </a:solidFill>
            </a:endParaRPr>
          </a:p>
          <a:p>
            <a:pPr algn="ctr"/>
            <a:r>
              <a:rPr lang="bg-BG" sz="2800" b="1" dirty="0">
                <a:solidFill>
                  <a:schemeClr val="bg2"/>
                </a:solidFill>
              </a:rPr>
              <a:t>блок от код за</a:t>
            </a:r>
            <a:r>
              <a:rPr lang="en-US" sz="2800" b="1" dirty="0">
                <a:solidFill>
                  <a:schemeClr val="bg2"/>
                </a:solidFill>
              </a:rPr>
              <a:t> </a:t>
            </a:r>
            <a:r>
              <a:rPr lang="bg-BG" sz="2800" b="1" dirty="0">
                <a:solidFill>
                  <a:schemeClr val="bg2"/>
                </a:solidFill>
              </a:rPr>
              <a:t>повторени</a:t>
            </a:r>
            <a:r>
              <a:rPr lang="en-US" sz="2800" b="1" dirty="0">
                <a:solidFill>
                  <a:schemeClr val="bg2"/>
                </a:solidFill>
              </a:rPr>
              <a:t>e</a:t>
            </a:r>
            <a:endParaRPr lang="bg-BG" sz="2800" b="1" dirty="0">
              <a:solidFill>
                <a:schemeClr val="bg2"/>
              </a:solidFill>
            </a:endParaRPr>
          </a:p>
        </p:txBody>
      </p:sp>
      <p:sp>
        <p:nvSpPr>
          <p:cNvPr id="15" name="Rectangle 15">
            <a:extLst>
              <a:ext uri="{FF2B5EF4-FFF2-40B4-BE49-F238E27FC236}">
                <a16:creationId xmlns:a16="http://schemas.microsoft.com/office/drawing/2014/main" id="{A2CE1933-0A7A-48D9-BE72-024204F972C3}"/>
              </a:ext>
            </a:extLst>
          </p:cNvPr>
          <p:cNvSpPr/>
          <p:nvPr/>
        </p:nvSpPr>
        <p:spPr>
          <a:xfrm>
            <a:off x="6629400" y="3384550"/>
            <a:ext cx="1333500" cy="400050"/>
          </a:xfrm>
          <a:prstGeom prst="rect">
            <a:avLst/>
          </a:prstGeom>
          <a:noFill/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39457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9" grpId="0" animBg="1"/>
      <p:bldP spid="11" grpId="0" animBg="1"/>
      <p:bldP spid="13" grpId="0" animBg="1"/>
      <p:bldP spid="12" grpId="0" animBg="1"/>
      <p:bldP spid="16" grpId="0" animBg="1"/>
      <p:bldP spid="17" grpId="0" animBg="1"/>
      <p:bldP spid="15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882DA1-4DB8-42A6-8671-78B23AC1E36D}"/>
              </a:ext>
            </a:extLst>
          </p:cNvPr>
          <p:cNvSpPr>
            <a:spLocks noGrp="1"/>
          </p:cNvSpPr>
          <p:nvPr>
            <p:ph type="title" sz="quarter" idx="10"/>
          </p:nvPr>
        </p:nvSpPr>
        <p:spPr/>
        <p:txBody>
          <a:bodyPr/>
          <a:lstStyle/>
          <a:p>
            <a:r>
              <a:rPr lang="bg-BG"/>
              <a:t>Работа с по-сложни </a:t>
            </a:r>
            <a:r>
              <a:rPr lang="en-US"/>
              <a:t>For-</a:t>
            </a:r>
            <a:r>
              <a:rPr lang="bg-BG"/>
              <a:t>цикли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C42C073-4EF7-4C3B-A439-1D9D345DE47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3001" y="1676401"/>
            <a:ext cx="2659761" cy="2033935"/>
          </a:xfrm>
          <a:prstGeom prst="rect">
            <a:avLst/>
          </a:prstGeom>
        </p:spPr>
      </p:pic>
      <p:sp>
        <p:nvSpPr>
          <p:cNvPr id="5" name="Subtitle 4">
            <a:extLst>
              <a:ext uri="{FF2B5EF4-FFF2-40B4-BE49-F238E27FC236}">
                <a16:creationId xmlns:a16="http://schemas.microsoft.com/office/drawing/2014/main" id="{14BF2408-C219-42E4-A832-A3ABA5B7CAE2}"/>
              </a:ext>
            </a:extLst>
          </p:cNvPr>
          <p:cNvSpPr>
            <a:spLocks noGrp="1"/>
          </p:cNvSpPr>
          <p:nvPr>
            <p:ph type="subTitle" sz="quarter" idx="11"/>
          </p:nvPr>
        </p:nvSpPr>
        <p:spPr/>
        <p:txBody>
          <a:bodyPr/>
          <a:lstStyle/>
          <a:p>
            <a:r>
              <a:rPr lang="bg-BG" dirty="0"/>
              <a:t>Цикли със стъпка</a:t>
            </a:r>
          </a:p>
        </p:txBody>
      </p:sp>
    </p:spTree>
    <p:extLst>
      <p:ext uri="{BB962C8B-B14F-4D97-AF65-F5344CB8AC3E}">
        <p14:creationId xmlns:p14="http://schemas.microsoft.com/office/powerpoint/2010/main" val="18327806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sz="3600" dirty="0">
                <a:latin typeface="Calibri" panose="020F0502020204030204" pitchFamily="34" charset="0"/>
                <a:cs typeface="Calibri" panose="020F0502020204030204" pitchFamily="34" charset="0"/>
              </a:rPr>
              <a:t>Напишете функция, която:</a:t>
            </a:r>
          </a:p>
          <a:p>
            <a:pPr lvl="1"/>
            <a:r>
              <a:rPr lang="bg-BG" sz="3400" dirty="0">
                <a:latin typeface="Calibri" panose="020F0502020204030204" pitchFamily="34" charset="0"/>
                <a:cs typeface="Calibri" panose="020F0502020204030204" pitchFamily="34" charset="0"/>
              </a:rPr>
              <a:t>Получава цяло положително число </a:t>
            </a:r>
            <a:r>
              <a:rPr lang="en-US" sz="3400" b="1" dirty="0">
                <a:solidFill>
                  <a:schemeClr val="bg1"/>
                </a:solidFill>
                <a:latin typeface="Consolas" panose="020B0609020204030204" pitchFamily="49" charset="0"/>
              </a:rPr>
              <a:t>n</a:t>
            </a:r>
          </a:p>
          <a:p>
            <a:pPr lvl="1"/>
            <a:r>
              <a:rPr lang="bg-BG" sz="3400" dirty="0">
                <a:latin typeface="Calibri" panose="020F0502020204030204" pitchFamily="34" charset="0"/>
                <a:cs typeface="Calibri" panose="020F0502020204030204" pitchFamily="34" charset="0"/>
              </a:rPr>
              <a:t>Отпечатва числата от</a:t>
            </a:r>
            <a:r>
              <a:rPr lang="bg-BG" sz="3400" dirty="0">
                <a:solidFill>
                  <a:schemeClr val="bg1"/>
                </a:solidFill>
              </a:rPr>
              <a:t> </a:t>
            </a:r>
            <a:r>
              <a:rPr lang="en-US" sz="3400" b="1" dirty="0">
                <a:solidFill>
                  <a:schemeClr val="bg1"/>
                </a:solidFill>
                <a:latin typeface="Consolas" panose="020B0609020204030204" pitchFamily="49" charset="0"/>
              </a:rPr>
              <a:t>n</a:t>
            </a:r>
            <a:r>
              <a:rPr lang="bg-BG" sz="3400" dirty="0">
                <a:solidFill>
                  <a:schemeClr val="bg1"/>
                </a:solidFill>
              </a:rPr>
              <a:t> </a:t>
            </a:r>
            <a:r>
              <a:rPr lang="bg-BG" sz="3400" dirty="0">
                <a:latin typeface="Calibri" panose="020F0502020204030204" pitchFamily="34" charset="0"/>
                <a:cs typeface="Calibri" panose="020F0502020204030204" pitchFamily="34" charset="0"/>
              </a:rPr>
              <a:t>до</a:t>
            </a:r>
            <a:r>
              <a:rPr lang="en-US" sz="3400" dirty="0"/>
              <a:t> </a:t>
            </a:r>
            <a:r>
              <a:rPr lang="en-US" sz="3400" b="1" dirty="0">
                <a:solidFill>
                  <a:schemeClr val="bg1"/>
                </a:solidFill>
                <a:latin typeface="Consolas" panose="020B0609020204030204" pitchFamily="49" charset="0"/>
              </a:rPr>
              <a:t>1</a:t>
            </a:r>
            <a:r>
              <a:rPr lang="en-US" sz="3400" dirty="0"/>
              <a:t> </a:t>
            </a:r>
            <a:r>
              <a:rPr lang="bg-BG" sz="3400" dirty="0"/>
              <a:t>в </a:t>
            </a:r>
            <a:r>
              <a:rPr lang="bg-BG" sz="3400" dirty="0">
                <a:latin typeface="Calibri" panose="020F0502020204030204" pitchFamily="34" charset="0"/>
                <a:cs typeface="Calibri" panose="020F0502020204030204" pitchFamily="34" charset="0"/>
              </a:rPr>
              <a:t>обратен ред</a:t>
            </a:r>
            <a:r>
              <a:rPr lang="en-US" sz="3400" dirty="0">
                <a:latin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bg-BG" sz="3400" dirty="0">
                <a:latin typeface="Calibri" panose="020F0502020204030204" pitchFamily="34" charset="0"/>
                <a:cs typeface="Calibri" panose="020F0502020204030204" pitchFamily="34" charset="0"/>
              </a:rPr>
              <a:t>стъпка </a:t>
            </a:r>
            <a:r>
              <a:rPr lang="en-US" sz="3400" dirty="0">
                <a:latin typeface="Calibri" panose="020F0502020204030204" pitchFamily="34" charset="0"/>
                <a:cs typeface="Calibri" panose="020F0502020204030204" pitchFamily="34" charset="0"/>
              </a:rPr>
              <a:t>-1</a:t>
            </a:r>
            <a:r>
              <a:rPr lang="bg-BG" sz="3400" dirty="0"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r>
              <a:rPr lang="bg-BG" sz="3600" dirty="0">
                <a:latin typeface="Calibri" panose="020F0502020204030204" pitchFamily="34" charset="0"/>
                <a:cs typeface="Calibri" panose="020F0502020204030204" pitchFamily="34" charset="0"/>
              </a:rPr>
              <a:t>Примерен вход и изход: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dirty="0"/>
              <a:t>Числата от </a:t>
            </a:r>
            <a:r>
              <a:rPr lang="en-US" dirty="0"/>
              <a:t>N</a:t>
            </a:r>
            <a:r>
              <a:rPr lang="bg-BG" dirty="0"/>
              <a:t> до 1 в обратен ред – условие</a:t>
            </a:r>
            <a:r>
              <a:rPr lang="en-US" dirty="0"/>
              <a:t> </a:t>
            </a:r>
          </a:p>
        </p:txBody>
      </p:sp>
      <p:sp>
        <p:nvSpPr>
          <p:cNvPr id="12" name="Rectangle 5"/>
          <p:cNvSpPr>
            <a:spLocks noChangeArrowheads="1"/>
          </p:cNvSpPr>
          <p:nvPr/>
        </p:nvSpPr>
        <p:spPr bwMode="auto">
          <a:xfrm>
            <a:off x="762000" y="4191001"/>
            <a:ext cx="1143000" cy="641073"/>
          </a:xfrm>
          <a:prstGeom prst="rect">
            <a:avLst/>
          </a:prstGeom>
          <a:solidFill>
            <a:schemeClr val="accent5">
              <a:lumMod val="60000"/>
              <a:lumOff val="4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algn="ctr" eaLnBrk="0" hangingPunct="0">
              <a:lnSpc>
                <a:spcPct val="12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bg-BG" sz="3200" b="1" noProof="1">
                <a:latin typeface="Consolas" pitchFamily="49" charset="0"/>
                <a:cs typeface="Consolas" pitchFamily="49" charset="0"/>
              </a:rPr>
              <a:t>100</a:t>
            </a:r>
            <a:endParaRPr lang="en-US" sz="3200" b="1" noProof="1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5" name="Стрелка надясно 4"/>
          <p:cNvSpPr/>
          <p:nvPr/>
        </p:nvSpPr>
        <p:spPr>
          <a:xfrm>
            <a:off x="2133600" y="4359136"/>
            <a:ext cx="533400" cy="3048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  <p:sp>
        <p:nvSpPr>
          <p:cNvPr id="13" name="Rectangle 5"/>
          <p:cNvSpPr>
            <a:spLocks noChangeArrowheads="1"/>
          </p:cNvSpPr>
          <p:nvPr/>
        </p:nvSpPr>
        <p:spPr bwMode="auto">
          <a:xfrm>
            <a:off x="2895600" y="4200940"/>
            <a:ext cx="5410200" cy="641073"/>
          </a:xfrm>
          <a:prstGeom prst="rect">
            <a:avLst/>
          </a:prstGeom>
          <a:solidFill>
            <a:schemeClr val="accent5">
              <a:lumMod val="60000"/>
              <a:lumOff val="4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algn="ctr" eaLnBrk="0" hangingPunct="0">
              <a:lnSpc>
                <a:spcPct val="12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bg-BG" sz="3200" b="1" noProof="1">
                <a:latin typeface="Consolas" pitchFamily="49" charset="0"/>
                <a:cs typeface="Consolas" pitchFamily="49" charset="0"/>
              </a:rPr>
              <a:t>100, 99, 98, …, 3, 2, 1</a:t>
            </a:r>
            <a:endParaRPr lang="en-US" sz="3200" b="1" noProof="1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CED3F9ED-FF6D-49C2-BC42-B49928F69C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20</a:t>
            </a:fld>
            <a:endParaRPr lang="en-US" noProof="0" dirty="0"/>
          </a:p>
        </p:txBody>
      </p:sp>
      <p:sp>
        <p:nvSpPr>
          <p:cNvPr id="9" name="Rectangle 5">
            <a:extLst>
              <a:ext uri="{FF2B5EF4-FFF2-40B4-BE49-F238E27FC236}">
                <a16:creationId xmlns:a16="http://schemas.microsoft.com/office/drawing/2014/main" id="{DACC29FE-E716-40AB-8566-7C3EB36AA1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5306963"/>
            <a:ext cx="1143000" cy="641073"/>
          </a:xfrm>
          <a:prstGeom prst="rect">
            <a:avLst/>
          </a:prstGeom>
          <a:solidFill>
            <a:schemeClr val="accent5">
              <a:lumMod val="60000"/>
              <a:lumOff val="4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algn="ctr" eaLnBrk="0" hangingPunct="0">
              <a:lnSpc>
                <a:spcPct val="12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3200" b="1" noProof="1">
                <a:latin typeface="Consolas" pitchFamily="49" charset="0"/>
                <a:cs typeface="Consolas" pitchFamily="49" charset="0"/>
              </a:rPr>
              <a:t>8</a:t>
            </a:r>
          </a:p>
        </p:txBody>
      </p:sp>
      <p:sp>
        <p:nvSpPr>
          <p:cNvPr id="10" name="Стрелка надясно 4">
            <a:extLst>
              <a:ext uri="{FF2B5EF4-FFF2-40B4-BE49-F238E27FC236}">
                <a16:creationId xmlns:a16="http://schemas.microsoft.com/office/drawing/2014/main" id="{473CDFB0-C97D-464F-BD2E-B9E1979C2456}"/>
              </a:ext>
            </a:extLst>
          </p:cNvPr>
          <p:cNvSpPr/>
          <p:nvPr/>
        </p:nvSpPr>
        <p:spPr>
          <a:xfrm>
            <a:off x="2133600" y="5475098"/>
            <a:ext cx="533400" cy="3048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  <p:sp>
        <p:nvSpPr>
          <p:cNvPr id="11" name="Rectangle 5">
            <a:extLst>
              <a:ext uri="{FF2B5EF4-FFF2-40B4-BE49-F238E27FC236}">
                <a16:creationId xmlns:a16="http://schemas.microsoft.com/office/drawing/2014/main" id="{1A30C198-430E-4E6D-9F01-1336B3936E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5600" y="5316902"/>
            <a:ext cx="5410200" cy="641073"/>
          </a:xfrm>
          <a:prstGeom prst="rect">
            <a:avLst/>
          </a:prstGeom>
          <a:solidFill>
            <a:schemeClr val="accent5">
              <a:lumMod val="60000"/>
              <a:lumOff val="4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algn="ctr" eaLnBrk="0" hangingPunct="0">
              <a:lnSpc>
                <a:spcPct val="12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3200" b="1" noProof="1">
                <a:latin typeface="Consolas" pitchFamily="49" charset="0"/>
                <a:cs typeface="Consolas" pitchFamily="49" charset="0"/>
              </a:rPr>
              <a:t>8</a:t>
            </a:r>
            <a:r>
              <a:rPr lang="bg-BG" sz="3200" b="1" noProof="1">
                <a:latin typeface="Consolas" pitchFamily="49" charset="0"/>
                <a:cs typeface="Consolas" pitchFamily="49" charset="0"/>
              </a:rPr>
              <a:t>, </a:t>
            </a:r>
            <a:r>
              <a:rPr lang="en-US" sz="3200" b="1" noProof="1">
                <a:latin typeface="Consolas" pitchFamily="49" charset="0"/>
                <a:cs typeface="Consolas" pitchFamily="49" charset="0"/>
              </a:rPr>
              <a:t>7</a:t>
            </a:r>
            <a:r>
              <a:rPr lang="bg-BG" sz="3200" b="1" noProof="1">
                <a:latin typeface="Consolas" pitchFamily="49" charset="0"/>
                <a:cs typeface="Consolas" pitchFamily="49" charset="0"/>
              </a:rPr>
              <a:t>, </a:t>
            </a:r>
            <a:r>
              <a:rPr lang="en-US" sz="3200" b="1" noProof="1">
                <a:latin typeface="Consolas" pitchFamily="49" charset="0"/>
                <a:cs typeface="Consolas" pitchFamily="49" charset="0"/>
              </a:rPr>
              <a:t>6</a:t>
            </a:r>
            <a:r>
              <a:rPr lang="bg-BG" sz="3200" b="1" noProof="1">
                <a:latin typeface="Consolas" pitchFamily="49" charset="0"/>
                <a:cs typeface="Consolas" pitchFamily="49" charset="0"/>
              </a:rPr>
              <a:t>,</a:t>
            </a:r>
            <a:r>
              <a:rPr lang="en-US" sz="3200" b="1" noProof="1">
                <a:latin typeface="Consolas" pitchFamily="49" charset="0"/>
                <a:cs typeface="Consolas" pitchFamily="49" charset="0"/>
              </a:rPr>
              <a:t> 5</a:t>
            </a:r>
            <a:r>
              <a:rPr lang="bg-BG" sz="3200" b="1" noProof="1">
                <a:latin typeface="Consolas" pitchFamily="49" charset="0"/>
                <a:cs typeface="Consolas" pitchFamily="49" charset="0"/>
              </a:rPr>
              <a:t>, </a:t>
            </a:r>
            <a:r>
              <a:rPr lang="en-US" sz="3200" b="1" noProof="1">
                <a:latin typeface="Consolas" pitchFamily="49" charset="0"/>
                <a:cs typeface="Consolas" pitchFamily="49" charset="0"/>
              </a:rPr>
              <a:t>4</a:t>
            </a:r>
            <a:r>
              <a:rPr lang="bg-BG" sz="3200" b="1" noProof="1">
                <a:latin typeface="Consolas" pitchFamily="49" charset="0"/>
                <a:cs typeface="Consolas" pitchFamily="49" charset="0"/>
              </a:rPr>
              <a:t>, </a:t>
            </a:r>
            <a:r>
              <a:rPr lang="en-US" sz="3200" b="1" noProof="1">
                <a:latin typeface="Consolas" pitchFamily="49" charset="0"/>
                <a:cs typeface="Consolas" pitchFamily="49" charset="0"/>
              </a:rPr>
              <a:t>3</a:t>
            </a:r>
            <a:r>
              <a:rPr lang="bg-BG" sz="3200" b="1" noProof="1">
                <a:latin typeface="Consolas" pitchFamily="49" charset="0"/>
                <a:cs typeface="Consolas" pitchFamily="49" charset="0"/>
              </a:rPr>
              <a:t>, </a:t>
            </a:r>
            <a:r>
              <a:rPr lang="en-US" sz="3200" b="1" noProof="1">
                <a:latin typeface="Consolas" pitchFamily="49" charset="0"/>
                <a:cs typeface="Consolas" pitchFamily="49" charset="0"/>
              </a:rPr>
              <a:t>2, 1</a:t>
            </a:r>
          </a:p>
        </p:txBody>
      </p:sp>
    </p:spTree>
    <p:extLst>
      <p:ext uri="{BB962C8B-B14F-4D97-AF65-F5344CB8AC3E}">
        <p14:creationId xmlns:p14="http://schemas.microsoft.com/office/powerpoint/2010/main" val="30080651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 animBg="1"/>
      <p:bldP spid="13" grpId="0" animBg="1"/>
      <p:bldP spid="9" grpId="0" animBg="1"/>
      <p:bldP spid="10" grpId="0" animBg="1"/>
      <p:bldP spid="11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Slide Number">
            <a:extLst>
              <a:ext uri="{FF2B5EF4-FFF2-40B4-BE49-F238E27FC236}">
                <a16:creationId xmlns:a16="http://schemas.microsoft.com/office/drawing/2014/main" id="{757845E4-2EC6-465E-87B0-547C0C564812}"/>
              </a:ext>
            </a:extLst>
          </p:cNvPr>
          <p:cNvSpPr txBox="1">
            <a:spLocks/>
          </p:cNvSpPr>
          <p:nvPr/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BF067CD-8E6B-4360-9AA8-C5DF2A48A6D1}" type="slidenum">
              <a:rPr lang="en-US" smtClean="0"/>
              <a:pPr/>
              <a:t>21</a:t>
            </a:fld>
            <a:endParaRPr lang="en-US" dirty="0"/>
          </a:p>
        </p:txBody>
      </p:sp>
      <p:grpSp>
        <p:nvGrpSpPr>
          <p:cNvPr id="2" name="Групиране 22"/>
          <p:cNvGrpSpPr/>
          <p:nvPr/>
        </p:nvGrpSpPr>
        <p:grpSpPr>
          <a:xfrm>
            <a:off x="3379567" y="550683"/>
            <a:ext cx="2377440" cy="731520"/>
            <a:chOff x="3690717" y="456205"/>
            <a:chExt cx="2377440" cy="731520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07DEDF83-EA65-4C9E-90C7-D72F02ED6B38}"/>
                </a:ext>
              </a:extLst>
            </p:cNvPr>
            <p:cNvSpPr/>
            <p:nvPr/>
          </p:nvSpPr>
          <p:spPr bwMode="auto">
            <a:xfrm>
              <a:off x="3690717" y="456205"/>
              <a:ext cx="2377440" cy="731520"/>
            </a:xfrm>
            <a:prstGeom prst="rect">
              <a:avLst/>
            </a:prstGeom>
            <a:solidFill>
              <a:schemeClr val="dk2">
                <a:alpha val="80000"/>
              </a:schemeClr>
            </a:solidFill>
            <a:ln w="19050">
              <a:solidFill>
                <a:schemeClr val="tx1">
                  <a:lumMod val="75000"/>
                  <a:alpha val="8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001">
              <a:schemeClr val="dk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bg-BG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E6462B45-C191-4B73-9AEC-B14A476BD209}"/>
                </a:ext>
              </a:extLst>
            </p:cNvPr>
            <p:cNvSpPr txBox="1"/>
            <p:nvPr/>
          </p:nvSpPr>
          <p:spPr>
            <a:xfrm>
              <a:off x="3690717" y="528245"/>
              <a:ext cx="2377440" cy="587441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144000" tIns="108000" rIns="144000" bIns="108000" rtlCol="0">
              <a:spAutoFit/>
            </a:bodyPr>
            <a:lstStyle/>
            <a:p>
              <a:pPr algn="ctr" eaLnBrk="0" hangingPunct="0">
                <a:buClr>
                  <a:schemeClr val="accent5">
                    <a:lumMod val="40000"/>
                    <a:lumOff val="60000"/>
                  </a:schemeClr>
                </a:buClr>
                <a:buSzPct val="70000"/>
              </a:pPr>
              <a:r>
                <a:rPr lang="en-US" sz="2400" dirty="0">
                  <a:solidFill>
                    <a:schemeClr val="bg2"/>
                  </a:solidFill>
                  <a:latin typeface="Consolas" pitchFamily="49" charset="0"/>
                </a:rPr>
                <a:t>Read</a:t>
              </a:r>
              <a:r>
                <a:rPr lang="en-US" sz="2400" dirty="0">
                  <a:solidFill>
                    <a:schemeClr val="bg2"/>
                  </a:solidFill>
                </a:rPr>
                <a:t> n</a:t>
              </a:r>
              <a:endParaRPr lang="bg-BG" sz="2400" dirty="0">
                <a:solidFill>
                  <a:schemeClr val="bg2"/>
                </a:solidFill>
              </a:endParaRPr>
            </a:p>
          </p:txBody>
        </p:sp>
      </p:grp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9E7A81B8-836B-4E47-960B-D5F70AFBA3CA}"/>
              </a:ext>
            </a:extLst>
          </p:cNvPr>
          <p:cNvCxnSpPr>
            <a:cxnSpLocks/>
          </p:cNvCxnSpPr>
          <p:nvPr/>
        </p:nvCxnSpPr>
        <p:spPr>
          <a:xfrm rot="5400000">
            <a:off x="4302937" y="1564616"/>
            <a:ext cx="530701" cy="3424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02A3EC40-64B5-4047-90B2-826E877791CC}"/>
              </a:ext>
            </a:extLst>
          </p:cNvPr>
          <p:cNvSpPr txBox="1"/>
          <p:nvPr/>
        </p:nvSpPr>
        <p:spPr>
          <a:xfrm>
            <a:off x="5724065" y="3290816"/>
            <a:ext cx="771985" cy="556664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vert="horz" wrap="square" lIns="144000" tIns="108000" rIns="144000" bIns="108000" rtlCol="0">
            <a:spAutoFit/>
          </a:bodyPr>
          <a:lstStyle/>
          <a:p>
            <a:pPr algn="l"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GB" sz="2000" dirty="0"/>
              <a:t>false</a:t>
            </a:r>
            <a:endParaRPr lang="en-US" sz="2400" dirty="0"/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0C961173-951D-4B2C-BE50-738E2B3ACC4C}"/>
              </a:ext>
            </a:extLst>
          </p:cNvPr>
          <p:cNvCxnSpPr>
            <a:cxnSpLocks/>
          </p:cNvCxnSpPr>
          <p:nvPr/>
        </p:nvCxnSpPr>
        <p:spPr>
          <a:xfrm>
            <a:off x="5743514" y="3916676"/>
            <a:ext cx="733087" cy="19494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Групиране 80"/>
          <p:cNvGrpSpPr/>
          <p:nvPr/>
        </p:nvGrpSpPr>
        <p:grpSpPr>
          <a:xfrm>
            <a:off x="3379567" y="5301478"/>
            <a:ext cx="2377440" cy="1005840"/>
            <a:chOff x="3429635" y="5232613"/>
            <a:chExt cx="2377440" cy="1005840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1B8BAF57-1253-4389-8E95-E45D07749AE3}"/>
                </a:ext>
              </a:extLst>
            </p:cNvPr>
            <p:cNvSpPr/>
            <p:nvPr/>
          </p:nvSpPr>
          <p:spPr bwMode="auto">
            <a:xfrm>
              <a:off x="3429635" y="5232613"/>
              <a:ext cx="2377440" cy="1005840"/>
            </a:xfrm>
            <a:prstGeom prst="rect">
              <a:avLst/>
            </a:prstGeom>
            <a:solidFill>
              <a:schemeClr val="dk2">
                <a:alpha val="80000"/>
              </a:schemeClr>
            </a:solidFill>
            <a:ln w="19050">
              <a:solidFill>
                <a:schemeClr val="tx1">
                  <a:lumMod val="75000"/>
                  <a:alpha val="8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001">
              <a:schemeClr val="dk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bg-BG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78C4C7C3-6311-48F0-8519-0B50EB7260C8}"/>
                </a:ext>
              </a:extLst>
            </p:cNvPr>
            <p:cNvSpPr txBox="1"/>
            <p:nvPr/>
          </p:nvSpPr>
          <p:spPr>
            <a:xfrm>
              <a:off x="3429635" y="5232613"/>
              <a:ext cx="2377440" cy="100584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144000" tIns="108000" rIns="144000" bIns="108000" rtlCol="0">
              <a:spAutoFit/>
            </a:bodyPr>
            <a:lstStyle/>
            <a:p>
              <a:pPr algn="ctr" eaLnBrk="0" hangingPunct="0">
                <a:lnSpc>
                  <a:spcPct val="110000"/>
                </a:lnSpc>
                <a:buClr>
                  <a:schemeClr val="accent5">
                    <a:lumMod val="40000"/>
                    <a:lumOff val="60000"/>
                  </a:schemeClr>
                </a:buClr>
                <a:buSzPct val="70000"/>
              </a:pPr>
              <a:r>
                <a:rPr lang="en-US" sz="2400" dirty="0">
                  <a:solidFill>
                    <a:schemeClr val="bg2"/>
                  </a:solidFill>
                  <a:latin typeface="Consolas" pitchFamily="49" charset="0"/>
                </a:rPr>
                <a:t>print i;</a:t>
              </a:r>
            </a:p>
            <a:p>
              <a:pPr algn="ctr" eaLnBrk="0" hangingPunct="0">
                <a:lnSpc>
                  <a:spcPct val="110000"/>
                </a:lnSpc>
                <a:buClr>
                  <a:schemeClr val="accent5">
                    <a:lumMod val="40000"/>
                    <a:lumOff val="60000"/>
                  </a:schemeClr>
                </a:buClr>
                <a:buSzPct val="70000"/>
              </a:pPr>
              <a:r>
                <a:rPr lang="en-US" sz="2400" dirty="0" err="1">
                  <a:solidFill>
                    <a:schemeClr val="bg2"/>
                  </a:solidFill>
                  <a:latin typeface="Consolas" pitchFamily="49" charset="0"/>
                </a:rPr>
                <a:t>i</a:t>
              </a:r>
              <a:r>
                <a:rPr lang="en-US" sz="2400" dirty="0">
                  <a:solidFill>
                    <a:schemeClr val="bg2"/>
                  </a:solidFill>
                  <a:latin typeface="Consolas" pitchFamily="49" charset="0"/>
                </a:rPr>
                <a:t> --;</a:t>
              </a:r>
            </a:p>
          </p:txBody>
        </p:sp>
      </p:grpSp>
      <p:cxnSp>
        <p:nvCxnSpPr>
          <p:cNvPr id="36" name="Elbow Connector 37">
            <a:extLst>
              <a:ext uri="{FF2B5EF4-FFF2-40B4-BE49-F238E27FC236}">
                <a16:creationId xmlns:a16="http://schemas.microsoft.com/office/drawing/2014/main" id="{25492B2E-6492-41E8-96A3-B4CC8B0CFBF2}"/>
              </a:ext>
            </a:extLst>
          </p:cNvPr>
          <p:cNvCxnSpPr>
            <a:cxnSpLocks/>
          </p:cNvCxnSpPr>
          <p:nvPr/>
        </p:nvCxnSpPr>
        <p:spPr>
          <a:xfrm rot="10800000" flipH="1">
            <a:off x="3340101" y="3923530"/>
            <a:ext cx="47457" cy="1880869"/>
          </a:xfrm>
          <a:prstGeom prst="bentConnector4">
            <a:avLst>
              <a:gd name="adj1" fmla="val -2756391"/>
              <a:gd name="adj2" fmla="val 101181"/>
            </a:avLst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0EEF1D8B-52A9-4033-A195-A28F056E97FF}"/>
              </a:ext>
            </a:extLst>
          </p:cNvPr>
          <p:cNvSpPr txBox="1"/>
          <p:nvPr/>
        </p:nvSpPr>
        <p:spPr>
          <a:xfrm>
            <a:off x="4615768" y="4600542"/>
            <a:ext cx="946832" cy="65648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vert="horz" wrap="none" lIns="144000" tIns="108000" rIns="144000" bIns="108000" rtlCol="0">
            <a:spAutoFit/>
          </a:bodyPr>
          <a:lstStyle/>
          <a:p>
            <a:pPr algn="l"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GB" sz="2000" dirty="0"/>
              <a:t>true</a:t>
            </a:r>
            <a:endParaRPr lang="en-US" sz="2400" dirty="0"/>
          </a:p>
        </p:txBody>
      </p:sp>
      <p:sp>
        <p:nvSpPr>
          <p:cNvPr id="38" name="Flowchart: Terminator 37">
            <a:extLst>
              <a:ext uri="{FF2B5EF4-FFF2-40B4-BE49-F238E27FC236}">
                <a16:creationId xmlns:a16="http://schemas.microsoft.com/office/drawing/2014/main" id="{558E0DED-8ADC-4BEA-9248-8361B8D24B6E}"/>
              </a:ext>
            </a:extLst>
          </p:cNvPr>
          <p:cNvSpPr/>
          <p:nvPr/>
        </p:nvSpPr>
        <p:spPr bwMode="auto">
          <a:xfrm>
            <a:off x="6538042" y="3573179"/>
            <a:ext cx="3158408" cy="706488"/>
          </a:xfrm>
          <a:prstGeom prst="flowChartTerminator">
            <a:avLst/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4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Exit the loop</a:t>
            </a:r>
            <a:endParaRPr lang="en-US" sz="240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pSp>
        <p:nvGrpSpPr>
          <p:cNvPr id="4" name="Групиране 24"/>
          <p:cNvGrpSpPr/>
          <p:nvPr/>
        </p:nvGrpSpPr>
        <p:grpSpPr>
          <a:xfrm>
            <a:off x="3379567" y="1858508"/>
            <a:ext cx="2377440" cy="731520"/>
            <a:chOff x="3690717" y="1764030"/>
            <a:chExt cx="2377440" cy="731520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35663578-E009-4693-9D9C-E7B1BD3C95BF}"/>
                </a:ext>
              </a:extLst>
            </p:cNvPr>
            <p:cNvSpPr/>
            <p:nvPr/>
          </p:nvSpPr>
          <p:spPr bwMode="auto">
            <a:xfrm>
              <a:off x="3690717" y="1764030"/>
              <a:ext cx="2377440" cy="731520"/>
            </a:xfrm>
            <a:prstGeom prst="rect">
              <a:avLst/>
            </a:prstGeom>
            <a:solidFill>
              <a:schemeClr val="dk2">
                <a:alpha val="80000"/>
              </a:schemeClr>
            </a:solidFill>
            <a:ln w="19050">
              <a:solidFill>
                <a:schemeClr val="tx1">
                  <a:lumMod val="75000"/>
                  <a:alpha val="8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001">
              <a:schemeClr val="dk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bg-BG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0A100367-5C03-4042-A398-19051065CF0F}"/>
                </a:ext>
              </a:extLst>
            </p:cNvPr>
            <p:cNvSpPr txBox="1"/>
            <p:nvPr/>
          </p:nvSpPr>
          <p:spPr>
            <a:xfrm>
              <a:off x="3690717" y="1836070"/>
              <a:ext cx="2377440" cy="587441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144000" tIns="108000" rIns="144000" bIns="108000" rtlCol="0">
              <a:spAutoFit/>
            </a:bodyPr>
            <a:lstStyle/>
            <a:p>
              <a:pPr algn="ctr" eaLnBrk="0" hangingPunct="0">
                <a:buClr>
                  <a:schemeClr val="accent5">
                    <a:lumMod val="40000"/>
                    <a:lumOff val="60000"/>
                  </a:schemeClr>
                </a:buClr>
                <a:buSzPct val="70000"/>
              </a:pPr>
              <a:r>
                <a:rPr lang="en-US" sz="2400" dirty="0">
                  <a:solidFill>
                    <a:schemeClr val="bg2"/>
                  </a:solidFill>
                  <a:latin typeface="Consolas" pitchFamily="49" charset="0"/>
                </a:rPr>
                <a:t> i = </a:t>
              </a:r>
              <a:r>
                <a:rPr lang="en-US" sz="2400" noProof="1">
                  <a:solidFill>
                    <a:schemeClr val="bg2"/>
                  </a:solidFill>
                  <a:latin typeface="Consolas" pitchFamily="49" charset="0"/>
                </a:rPr>
                <a:t>n</a:t>
              </a:r>
              <a:endParaRPr lang="bg-BG" sz="2400" noProof="1">
                <a:solidFill>
                  <a:schemeClr val="bg2"/>
                </a:solidFill>
                <a:latin typeface="Consolas" pitchFamily="49" charset="0"/>
              </a:endParaRPr>
            </a:p>
          </p:txBody>
        </p:sp>
      </p:grpSp>
      <p:grpSp>
        <p:nvGrpSpPr>
          <p:cNvPr id="5" name="Групиране 85"/>
          <p:cNvGrpSpPr/>
          <p:nvPr/>
        </p:nvGrpSpPr>
        <p:grpSpPr>
          <a:xfrm>
            <a:off x="3454600" y="3212328"/>
            <a:ext cx="2227375" cy="1428191"/>
            <a:chOff x="3499050" y="3117850"/>
            <a:chExt cx="2227375" cy="1428191"/>
          </a:xfrm>
        </p:grpSpPr>
        <p:sp>
          <p:nvSpPr>
            <p:cNvPr id="48" name="Flowchart: Decision 22"/>
            <p:cNvSpPr/>
            <p:nvPr/>
          </p:nvSpPr>
          <p:spPr bwMode="auto">
            <a:xfrm>
              <a:off x="3499050" y="3117850"/>
              <a:ext cx="2227375" cy="1428191"/>
            </a:xfrm>
            <a:prstGeom prst="flowChartDecision">
              <a:avLst/>
            </a:prstGeom>
            <a:solidFill>
              <a:schemeClr val="dk2">
                <a:alpha val="80000"/>
              </a:schemeClr>
            </a:solidFill>
            <a:ln w="19050">
              <a:solidFill>
                <a:schemeClr val="tx1">
                  <a:lumMod val="75000"/>
                  <a:alpha val="8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001">
              <a:schemeClr val="dk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9" name="Rectangle 23"/>
            <p:cNvSpPr/>
            <p:nvPr/>
          </p:nvSpPr>
          <p:spPr>
            <a:xfrm>
              <a:off x="3554364" y="3601113"/>
              <a:ext cx="2116746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2400" noProof="1">
                  <a:solidFill>
                    <a:schemeClr val="bg2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</a:rPr>
                <a:t>i </a:t>
              </a:r>
              <a:r>
                <a:rPr lang="bg-BG" sz="2400" noProof="1">
                  <a:solidFill>
                    <a:schemeClr val="bg2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</a:rPr>
                <a:t>&gt;</a:t>
              </a:r>
              <a:r>
                <a:rPr lang="en-US" sz="2400" noProof="1">
                  <a:solidFill>
                    <a:schemeClr val="bg2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</a:rPr>
                <a:t>= 1</a:t>
              </a:r>
              <a:endParaRPr lang="en-US" sz="2400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cxnSp>
        <p:nvCxnSpPr>
          <p:cNvPr id="79" name="Straight Arrow Connector 27">
            <a:extLst>
              <a:ext uri="{FF2B5EF4-FFF2-40B4-BE49-F238E27FC236}">
                <a16:creationId xmlns:a16="http://schemas.microsoft.com/office/drawing/2014/main" id="{9E7A81B8-836B-4E47-960B-D5F70AFBA3CA}"/>
              </a:ext>
            </a:extLst>
          </p:cNvPr>
          <p:cNvCxnSpPr>
            <a:cxnSpLocks/>
          </p:cNvCxnSpPr>
          <p:nvPr/>
        </p:nvCxnSpPr>
        <p:spPr>
          <a:xfrm rot="5400000">
            <a:off x="4302937" y="2898117"/>
            <a:ext cx="530701" cy="3424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27">
            <a:extLst>
              <a:ext uri="{FF2B5EF4-FFF2-40B4-BE49-F238E27FC236}">
                <a16:creationId xmlns:a16="http://schemas.microsoft.com/office/drawing/2014/main" id="{9E7A81B8-836B-4E47-960B-D5F70AFBA3CA}"/>
              </a:ext>
            </a:extLst>
          </p:cNvPr>
          <p:cNvCxnSpPr>
            <a:cxnSpLocks/>
          </p:cNvCxnSpPr>
          <p:nvPr/>
        </p:nvCxnSpPr>
        <p:spPr>
          <a:xfrm rot="5400000">
            <a:off x="4302937" y="4942817"/>
            <a:ext cx="530701" cy="3424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79753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37" grpId="0"/>
      <p:bldP spid="38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1550777" y="1558782"/>
            <a:ext cx="9715594" cy="3285771"/>
          </a:xfrm>
          <a:prstGeom prst="rect">
            <a:avLst/>
          </a:prstGeom>
          <a:solidFill>
            <a:schemeClr val="accent5">
              <a:lumMod val="60000"/>
              <a:lumOff val="4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lang="en-US" sz="3600" b="1" noProof="1">
                <a:latin typeface="Consolas" pitchFamily="49" charset="0"/>
                <a:cs typeface="Consolas" pitchFamily="49" charset="0"/>
              </a:rPr>
              <a:t>function nToOneReverse (</a:t>
            </a:r>
            <a:r>
              <a:rPr lang="af-ZA" sz="3600" b="1" noProof="1">
                <a:latin typeface="Consolas" pitchFamily="49" charset="0"/>
                <a:cs typeface="Consolas" pitchFamily="49" charset="0"/>
              </a:rPr>
              <a:t>n</a:t>
            </a:r>
            <a:r>
              <a:rPr lang="en-US" sz="3600" b="1" noProof="1">
                <a:latin typeface="Consolas" pitchFamily="49" charset="0"/>
                <a:cs typeface="Consolas" pitchFamily="49" charset="0"/>
              </a:rPr>
              <a:t>){</a:t>
            </a:r>
          </a:p>
          <a:p>
            <a:pPr eaLnBrk="0" hangingPunct="0">
              <a:lnSpc>
                <a:spcPct val="12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3600" b="1" noProof="1">
                <a:latin typeface="Consolas" pitchFamily="49" charset="0"/>
                <a:cs typeface="Consolas" pitchFamily="49" charset="0"/>
              </a:rPr>
              <a:t>  for (let i = n; i &gt;= 1; i</a:t>
            </a:r>
            <a:r>
              <a:rPr lang="bg-BG" sz="3600" b="1" noProof="1">
                <a:latin typeface="Consolas" pitchFamily="49" charset="0"/>
                <a:cs typeface="Consolas" pitchFamily="49" charset="0"/>
              </a:rPr>
              <a:t>-</a:t>
            </a:r>
            <a:r>
              <a:rPr lang="en-US" sz="3600" b="1" noProof="1">
                <a:latin typeface="Consolas" pitchFamily="49" charset="0"/>
                <a:cs typeface="Consolas" pitchFamily="49" charset="0"/>
              </a:rPr>
              <a:t>-) {</a:t>
            </a:r>
          </a:p>
          <a:p>
            <a:pPr eaLnBrk="0" hangingPunct="0">
              <a:lnSpc>
                <a:spcPct val="12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3600" b="1" noProof="1">
                <a:latin typeface="Consolas" pitchFamily="49" charset="0"/>
                <a:cs typeface="Consolas" pitchFamily="49" charset="0"/>
              </a:rPr>
              <a:t>    console.log(i);</a:t>
            </a:r>
          </a:p>
          <a:p>
            <a:pPr eaLnBrk="0" hangingPunct="0">
              <a:lnSpc>
                <a:spcPct val="12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3600" b="1" noProof="1">
                <a:latin typeface="Consolas" pitchFamily="49" charset="0"/>
                <a:cs typeface="Consolas" pitchFamily="49" charset="0"/>
              </a:rPr>
              <a:t>  }</a:t>
            </a:r>
          </a:p>
          <a:p>
            <a:pPr eaLnBrk="0" hangingPunct="0">
              <a:lnSpc>
                <a:spcPct val="12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3600" b="1" noProof="1">
                <a:latin typeface="Consolas" pitchFamily="49" charset="0"/>
                <a:cs typeface="Consolas" pitchFamily="49" charset="0"/>
              </a:rPr>
              <a:t>}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0" y="2239994"/>
            <a:ext cx="1624598" cy="577850"/>
          </a:xfrm>
          <a:prstGeom prst="rect">
            <a:avLst/>
          </a:prstGeom>
          <a:noFill/>
          <a:ln w="508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076000" y="2249886"/>
            <a:ext cx="862500" cy="558065"/>
          </a:xfrm>
          <a:prstGeom prst="rect">
            <a:avLst/>
          </a:prstGeom>
          <a:noFill/>
          <a:ln w="508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bg-BG" dirty="0"/>
              <a:t>Числата от </a:t>
            </a:r>
            <a:r>
              <a:rPr lang="en-US" dirty="0"/>
              <a:t>N</a:t>
            </a:r>
            <a:r>
              <a:rPr lang="bg-BG" dirty="0"/>
              <a:t> до 1 в обратен ред – решение</a:t>
            </a:r>
            <a:r>
              <a:rPr lang="en-US" dirty="0"/>
              <a:t> </a:t>
            </a:r>
          </a:p>
        </p:txBody>
      </p:sp>
      <p:sp>
        <p:nvSpPr>
          <p:cNvPr id="8" name="AutoShape 7"/>
          <p:cNvSpPr>
            <a:spLocks noChangeArrowheads="1"/>
          </p:cNvSpPr>
          <p:nvPr/>
        </p:nvSpPr>
        <p:spPr bwMode="auto">
          <a:xfrm>
            <a:off x="7086000" y="2998607"/>
            <a:ext cx="3903270" cy="731520"/>
          </a:xfrm>
          <a:custGeom>
            <a:avLst/>
            <a:gdLst>
              <a:gd name="connsiteX0" fmla="*/ 0 w 3903270"/>
              <a:gd name="connsiteY0" fmla="*/ 121922 h 731520"/>
              <a:gd name="connsiteX1" fmla="*/ 121922 w 3903270"/>
              <a:gd name="connsiteY1" fmla="*/ 0 h 731520"/>
              <a:gd name="connsiteX2" fmla="*/ 650545 w 3903270"/>
              <a:gd name="connsiteY2" fmla="*/ 0 h 731520"/>
              <a:gd name="connsiteX3" fmla="*/ 751965 w 3903270"/>
              <a:gd name="connsiteY3" fmla="*/ -517982 h 731520"/>
              <a:gd name="connsiteX4" fmla="*/ 1626363 w 3903270"/>
              <a:gd name="connsiteY4" fmla="*/ 0 h 731520"/>
              <a:gd name="connsiteX5" fmla="*/ 3781348 w 3903270"/>
              <a:gd name="connsiteY5" fmla="*/ 0 h 731520"/>
              <a:gd name="connsiteX6" fmla="*/ 3903270 w 3903270"/>
              <a:gd name="connsiteY6" fmla="*/ 121922 h 731520"/>
              <a:gd name="connsiteX7" fmla="*/ 3903270 w 3903270"/>
              <a:gd name="connsiteY7" fmla="*/ 121920 h 731520"/>
              <a:gd name="connsiteX8" fmla="*/ 3903270 w 3903270"/>
              <a:gd name="connsiteY8" fmla="*/ 121920 h 731520"/>
              <a:gd name="connsiteX9" fmla="*/ 3903270 w 3903270"/>
              <a:gd name="connsiteY9" fmla="*/ 304800 h 731520"/>
              <a:gd name="connsiteX10" fmla="*/ 3903270 w 3903270"/>
              <a:gd name="connsiteY10" fmla="*/ 609598 h 731520"/>
              <a:gd name="connsiteX11" fmla="*/ 3781348 w 3903270"/>
              <a:gd name="connsiteY11" fmla="*/ 731520 h 731520"/>
              <a:gd name="connsiteX12" fmla="*/ 1626363 w 3903270"/>
              <a:gd name="connsiteY12" fmla="*/ 731520 h 731520"/>
              <a:gd name="connsiteX13" fmla="*/ 650545 w 3903270"/>
              <a:gd name="connsiteY13" fmla="*/ 731520 h 731520"/>
              <a:gd name="connsiteX14" fmla="*/ 650545 w 3903270"/>
              <a:gd name="connsiteY14" fmla="*/ 731520 h 731520"/>
              <a:gd name="connsiteX15" fmla="*/ 121922 w 3903270"/>
              <a:gd name="connsiteY15" fmla="*/ 731520 h 731520"/>
              <a:gd name="connsiteX16" fmla="*/ 0 w 3903270"/>
              <a:gd name="connsiteY16" fmla="*/ 609598 h 731520"/>
              <a:gd name="connsiteX17" fmla="*/ 0 w 3903270"/>
              <a:gd name="connsiteY17" fmla="*/ 304800 h 731520"/>
              <a:gd name="connsiteX18" fmla="*/ 0 w 3903270"/>
              <a:gd name="connsiteY18" fmla="*/ 121920 h 731520"/>
              <a:gd name="connsiteX19" fmla="*/ 0 w 3903270"/>
              <a:gd name="connsiteY19" fmla="*/ 121920 h 731520"/>
              <a:gd name="connsiteX20" fmla="*/ 0 w 3903270"/>
              <a:gd name="connsiteY20" fmla="*/ 121922 h 731520"/>
              <a:gd name="connsiteX0" fmla="*/ 0 w 3903270"/>
              <a:gd name="connsiteY0" fmla="*/ 121922 h 731520"/>
              <a:gd name="connsiteX1" fmla="*/ 121922 w 3903270"/>
              <a:gd name="connsiteY1" fmla="*/ 0 h 731520"/>
              <a:gd name="connsiteX2" fmla="*/ 650545 w 3903270"/>
              <a:gd name="connsiteY2" fmla="*/ 0 h 731520"/>
              <a:gd name="connsiteX3" fmla="*/ 1626363 w 3903270"/>
              <a:gd name="connsiteY3" fmla="*/ 0 h 731520"/>
              <a:gd name="connsiteX4" fmla="*/ 3781348 w 3903270"/>
              <a:gd name="connsiteY4" fmla="*/ 0 h 731520"/>
              <a:gd name="connsiteX5" fmla="*/ 3903270 w 3903270"/>
              <a:gd name="connsiteY5" fmla="*/ 121922 h 731520"/>
              <a:gd name="connsiteX6" fmla="*/ 3903270 w 3903270"/>
              <a:gd name="connsiteY6" fmla="*/ 121920 h 731520"/>
              <a:gd name="connsiteX7" fmla="*/ 3903270 w 3903270"/>
              <a:gd name="connsiteY7" fmla="*/ 121920 h 731520"/>
              <a:gd name="connsiteX8" fmla="*/ 3903270 w 3903270"/>
              <a:gd name="connsiteY8" fmla="*/ 304800 h 731520"/>
              <a:gd name="connsiteX9" fmla="*/ 3903270 w 3903270"/>
              <a:gd name="connsiteY9" fmla="*/ 609598 h 731520"/>
              <a:gd name="connsiteX10" fmla="*/ 3781348 w 3903270"/>
              <a:gd name="connsiteY10" fmla="*/ 731520 h 731520"/>
              <a:gd name="connsiteX11" fmla="*/ 1626363 w 3903270"/>
              <a:gd name="connsiteY11" fmla="*/ 731520 h 731520"/>
              <a:gd name="connsiteX12" fmla="*/ 650545 w 3903270"/>
              <a:gd name="connsiteY12" fmla="*/ 731520 h 731520"/>
              <a:gd name="connsiteX13" fmla="*/ 650545 w 3903270"/>
              <a:gd name="connsiteY13" fmla="*/ 731520 h 731520"/>
              <a:gd name="connsiteX14" fmla="*/ 121922 w 3903270"/>
              <a:gd name="connsiteY14" fmla="*/ 731520 h 731520"/>
              <a:gd name="connsiteX15" fmla="*/ 0 w 3903270"/>
              <a:gd name="connsiteY15" fmla="*/ 609598 h 731520"/>
              <a:gd name="connsiteX16" fmla="*/ 0 w 3903270"/>
              <a:gd name="connsiteY16" fmla="*/ 304800 h 731520"/>
              <a:gd name="connsiteX17" fmla="*/ 0 w 3903270"/>
              <a:gd name="connsiteY17" fmla="*/ 121920 h 731520"/>
              <a:gd name="connsiteX18" fmla="*/ 0 w 3903270"/>
              <a:gd name="connsiteY18" fmla="*/ 121920 h 731520"/>
              <a:gd name="connsiteX19" fmla="*/ 0 w 3903270"/>
              <a:gd name="connsiteY19" fmla="*/ 121922 h 731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3903270" h="731520">
                <a:moveTo>
                  <a:pt x="0" y="121922"/>
                </a:moveTo>
                <a:cubicBezTo>
                  <a:pt x="0" y="54586"/>
                  <a:pt x="54586" y="0"/>
                  <a:pt x="121922" y="0"/>
                </a:cubicBezTo>
                <a:lnTo>
                  <a:pt x="650545" y="0"/>
                </a:lnTo>
                <a:lnTo>
                  <a:pt x="1626363" y="0"/>
                </a:lnTo>
                <a:lnTo>
                  <a:pt x="3781348" y="0"/>
                </a:lnTo>
                <a:cubicBezTo>
                  <a:pt x="3848684" y="0"/>
                  <a:pt x="3903270" y="54586"/>
                  <a:pt x="3903270" y="121922"/>
                </a:cubicBezTo>
                <a:lnTo>
                  <a:pt x="3903270" y="121920"/>
                </a:lnTo>
                <a:lnTo>
                  <a:pt x="3903270" y="121920"/>
                </a:lnTo>
                <a:lnTo>
                  <a:pt x="3903270" y="304800"/>
                </a:lnTo>
                <a:lnTo>
                  <a:pt x="3903270" y="609598"/>
                </a:lnTo>
                <a:cubicBezTo>
                  <a:pt x="3903270" y="676934"/>
                  <a:pt x="3848684" y="731520"/>
                  <a:pt x="3781348" y="731520"/>
                </a:cubicBezTo>
                <a:lnTo>
                  <a:pt x="1626363" y="731520"/>
                </a:lnTo>
                <a:lnTo>
                  <a:pt x="650545" y="731520"/>
                </a:lnTo>
                <a:lnTo>
                  <a:pt x="650545" y="731520"/>
                </a:lnTo>
                <a:lnTo>
                  <a:pt x="121922" y="731520"/>
                </a:lnTo>
                <a:cubicBezTo>
                  <a:pt x="54586" y="731520"/>
                  <a:pt x="0" y="676934"/>
                  <a:pt x="0" y="609598"/>
                </a:cubicBezTo>
                <a:lnTo>
                  <a:pt x="0" y="304800"/>
                </a:lnTo>
                <a:lnTo>
                  <a:pt x="0" y="121920"/>
                </a:lnTo>
                <a:lnTo>
                  <a:pt x="0" y="121920"/>
                </a:lnTo>
                <a:lnTo>
                  <a:pt x="0" y="121922"/>
                </a:lnTo>
                <a:close/>
              </a:path>
            </a:pathLst>
          </a:custGeom>
          <a:solidFill>
            <a:schemeClr val="tx1">
              <a:alpha val="80000"/>
            </a:schemeClr>
          </a:solidFill>
          <a:ln w="19050">
            <a:solidFill>
              <a:schemeClr val="tx1">
                <a:alpha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bg-BG" sz="2800" b="1" dirty="0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Намаляваща стъпка: -</a:t>
            </a:r>
            <a:r>
              <a:rPr lang="bg-BG" sz="2800" b="1" dirty="0">
                <a:solidFill>
                  <a:schemeClr val="bg2"/>
                </a:solidFill>
              </a:rPr>
              <a:t>1</a:t>
            </a:r>
          </a:p>
        </p:txBody>
      </p:sp>
      <p:sp>
        <p:nvSpPr>
          <p:cNvPr id="10" name="AutoShape 7"/>
          <p:cNvSpPr>
            <a:spLocks noChangeArrowheads="1"/>
          </p:cNvSpPr>
          <p:nvPr/>
        </p:nvSpPr>
        <p:spPr bwMode="auto">
          <a:xfrm>
            <a:off x="3305776" y="3563103"/>
            <a:ext cx="3600450" cy="954107"/>
          </a:xfrm>
          <a:custGeom>
            <a:avLst/>
            <a:gdLst>
              <a:gd name="connsiteX0" fmla="*/ 0 w 3600450"/>
              <a:gd name="connsiteY0" fmla="*/ 175938 h 1055608"/>
              <a:gd name="connsiteX1" fmla="*/ 175938 w 3600450"/>
              <a:gd name="connsiteY1" fmla="*/ 0 h 1055608"/>
              <a:gd name="connsiteX2" fmla="*/ 2100263 w 3600450"/>
              <a:gd name="connsiteY2" fmla="*/ 0 h 1055608"/>
              <a:gd name="connsiteX3" fmla="*/ 3151402 w 3600450"/>
              <a:gd name="connsiteY3" fmla="*/ -541210 h 1055608"/>
              <a:gd name="connsiteX4" fmla="*/ 3000375 w 3600450"/>
              <a:gd name="connsiteY4" fmla="*/ 0 h 1055608"/>
              <a:gd name="connsiteX5" fmla="*/ 3424512 w 3600450"/>
              <a:gd name="connsiteY5" fmla="*/ 0 h 1055608"/>
              <a:gd name="connsiteX6" fmla="*/ 3600450 w 3600450"/>
              <a:gd name="connsiteY6" fmla="*/ 175938 h 1055608"/>
              <a:gd name="connsiteX7" fmla="*/ 3600450 w 3600450"/>
              <a:gd name="connsiteY7" fmla="*/ 175935 h 1055608"/>
              <a:gd name="connsiteX8" fmla="*/ 3600450 w 3600450"/>
              <a:gd name="connsiteY8" fmla="*/ 175935 h 1055608"/>
              <a:gd name="connsiteX9" fmla="*/ 3600450 w 3600450"/>
              <a:gd name="connsiteY9" fmla="*/ 439837 h 1055608"/>
              <a:gd name="connsiteX10" fmla="*/ 3600450 w 3600450"/>
              <a:gd name="connsiteY10" fmla="*/ 879670 h 1055608"/>
              <a:gd name="connsiteX11" fmla="*/ 3424512 w 3600450"/>
              <a:gd name="connsiteY11" fmla="*/ 1055608 h 1055608"/>
              <a:gd name="connsiteX12" fmla="*/ 3000375 w 3600450"/>
              <a:gd name="connsiteY12" fmla="*/ 1055608 h 1055608"/>
              <a:gd name="connsiteX13" fmla="*/ 2100263 w 3600450"/>
              <a:gd name="connsiteY13" fmla="*/ 1055608 h 1055608"/>
              <a:gd name="connsiteX14" fmla="*/ 2100263 w 3600450"/>
              <a:gd name="connsiteY14" fmla="*/ 1055608 h 1055608"/>
              <a:gd name="connsiteX15" fmla="*/ 175938 w 3600450"/>
              <a:gd name="connsiteY15" fmla="*/ 1055608 h 1055608"/>
              <a:gd name="connsiteX16" fmla="*/ 0 w 3600450"/>
              <a:gd name="connsiteY16" fmla="*/ 879670 h 1055608"/>
              <a:gd name="connsiteX17" fmla="*/ 0 w 3600450"/>
              <a:gd name="connsiteY17" fmla="*/ 439837 h 1055608"/>
              <a:gd name="connsiteX18" fmla="*/ 0 w 3600450"/>
              <a:gd name="connsiteY18" fmla="*/ 175935 h 1055608"/>
              <a:gd name="connsiteX19" fmla="*/ 0 w 3600450"/>
              <a:gd name="connsiteY19" fmla="*/ 175935 h 1055608"/>
              <a:gd name="connsiteX20" fmla="*/ 0 w 3600450"/>
              <a:gd name="connsiteY20" fmla="*/ 175938 h 1055608"/>
              <a:gd name="connsiteX0" fmla="*/ 0 w 3600450"/>
              <a:gd name="connsiteY0" fmla="*/ 175938 h 1055608"/>
              <a:gd name="connsiteX1" fmla="*/ 175938 w 3600450"/>
              <a:gd name="connsiteY1" fmla="*/ 0 h 1055608"/>
              <a:gd name="connsiteX2" fmla="*/ 2100263 w 3600450"/>
              <a:gd name="connsiteY2" fmla="*/ 0 h 1055608"/>
              <a:gd name="connsiteX3" fmla="*/ 3000375 w 3600450"/>
              <a:gd name="connsiteY3" fmla="*/ 0 h 1055608"/>
              <a:gd name="connsiteX4" fmla="*/ 3424512 w 3600450"/>
              <a:gd name="connsiteY4" fmla="*/ 0 h 1055608"/>
              <a:gd name="connsiteX5" fmla="*/ 3600450 w 3600450"/>
              <a:gd name="connsiteY5" fmla="*/ 175938 h 1055608"/>
              <a:gd name="connsiteX6" fmla="*/ 3600450 w 3600450"/>
              <a:gd name="connsiteY6" fmla="*/ 175935 h 1055608"/>
              <a:gd name="connsiteX7" fmla="*/ 3600450 w 3600450"/>
              <a:gd name="connsiteY7" fmla="*/ 175935 h 1055608"/>
              <a:gd name="connsiteX8" fmla="*/ 3600450 w 3600450"/>
              <a:gd name="connsiteY8" fmla="*/ 439837 h 1055608"/>
              <a:gd name="connsiteX9" fmla="*/ 3600450 w 3600450"/>
              <a:gd name="connsiteY9" fmla="*/ 879670 h 1055608"/>
              <a:gd name="connsiteX10" fmla="*/ 3424512 w 3600450"/>
              <a:gd name="connsiteY10" fmla="*/ 1055608 h 1055608"/>
              <a:gd name="connsiteX11" fmla="*/ 3000375 w 3600450"/>
              <a:gd name="connsiteY11" fmla="*/ 1055608 h 1055608"/>
              <a:gd name="connsiteX12" fmla="*/ 2100263 w 3600450"/>
              <a:gd name="connsiteY12" fmla="*/ 1055608 h 1055608"/>
              <a:gd name="connsiteX13" fmla="*/ 2100263 w 3600450"/>
              <a:gd name="connsiteY13" fmla="*/ 1055608 h 1055608"/>
              <a:gd name="connsiteX14" fmla="*/ 175938 w 3600450"/>
              <a:gd name="connsiteY14" fmla="*/ 1055608 h 1055608"/>
              <a:gd name="connsiteX15" fmla="*/ 0 w 3600450"/>
              <a:gd name="connsiteY15" fmla="*/ 879670 h 1055608"/>
              <a:gd name="connsiteX16" fmla="*/ 0 w 3600450"/>
              <a:gd name="connsiteY16" fmla="*/ 439837 h 1055608"/>
              <a:gd name="connsiteX17" fmla="*/ 0 w 3600450"/>
              <a:gd name="connsiteY17" fmla="*/ 175935 h 1055608"/>
              <a:gd name="connsiteX18" fmla="*/ 0 w 3600450"/>
              <a:gd name="connsiteY18" fmla="*/ 175935 h 1055608"/>
              <a:gd name="connsiteX19" fmla="*/ 0 w 3600450"/>
              <a:gd name="connsiteY19" fmla="*/ 175938 h 10556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3600450" h="1055608">
                <a:moveTo>
                  <a:pt x="0" y="175938"/>
                </a:moveTo>
                <a:cubicBezTo>
                  <a:pt x="0" y="78770"/>
                  <a:pt x="78770" y="0"/>
                  <a:pt x="175938" y="0"/>
                </a:cubicBezTo>
                <a:lnTo>
                  <a:pt x="2100263" y="0"/>
                </a:lnTo>
                <a:lnTo>
                  <a:pt x="3000375" y="0"/>
                </a:lnTo>
                <a:lnTo>
                  <a:pt x="3424512" y="0"/>
                </a:lnTo>
                <a:cubicBezTo>
                  <a:pt x="3521680" y="0"/>
                  <a:pt x="3600450" y="78770"/>
                  <a:pt x="3600450" y="175938"/>
                </a:cubicBezTo>
                <a:lnTo>
                  <a:pt x="3600450" y="175935"/>
                </a:lnTo>
                <a:lnTo>
                  <a:pt x="3600450" y="175935"/>
                </a:lnTo>
                <a:lnTo>
                  <a:pt x="3600450" y="439837"/>
                </a:lnTo>
                <a:lnTo>
                  <a:pt x="3600450" y="879670"/>
                </a:lnTo>
                <a:cubicBezTo>
                  <a:pt x="3600450" y="976838"/>
                  <a:pt x="3521680" y="1055608"/>
                  <a:pt x="3424512" y="1055608"/>
                </a:cubicBezTo>
                <a:lnTo>
                  <a:pt x="3000375" y="1055608"/>
                </a:lnTo>
                <a:lnTo>
                  <a:pt x="2100263" y="1055608"/>
                </a:lnTo>
                <a:lnTo>
                  <a:pt x="2100263" y="1055608"/>
                </a:lnTo>
                <a:lnTo>
                  <a:pt x="175938" y="1055608"/>
                </a:lnTo>
                <a:cubicBezTo>
                  <a:pt x="78770" y="1055608"/>
                  <a:pt x="0" y="976838"/>
                  <a:pt x="0" y="879670"/>
                </a:cubicBezTo>
                <a:lnTo>
                  <a:pt x="0" y="439837"/>
                </a:lnTo>
                <a:lnTo>
                  <a:pt x="0" y="175935"/>
                </a:lnTo>
                <a:lnTo>
                  <a:pt x="0" y="175935"/>
                </a:lnTo>
                <a:lnTo>
                  <a:pt x="0" y="175938"/>
                </a:lnTo>
                <a:close/>
              </a:path>
            </a:pathLst>
          </a:cu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bg-BG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Обърнато условие</a:t>
            </a:r>
            <a:r>
              <a:rPr lang="en-US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</a:p>
          <a:p>
            <a:pPr algn="ctr"/>
            <a:r>
              <a:rPr lang="en-US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</a:t>
            </a:r>
            <a:r>
              <a:rPr lang="en-US" sz="2800" b="1" noProof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i &gt;= 1</a:t>
            </a:r>
          </a:p>
        </p:txBody>
      </p:sp>
      <p:sp>
        <p:nvSpPr>
          <p:cNvPr id="13" name="Slide Number">
            <a:extLst>
              <a:ext uri="{FF2B5EF4-FFF2-40B4-BE49-F238E27FC236}">
                <a16:creationId xmlns:a16="http://schemas.microsoft.com/office/drawing/2014/main" id="{77DE48DF-CCBC-407A-8B49-3A3F16F4ED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22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5512558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6" grpId="0" animBg="1"/>
      <p:bldP spid="8" grpId="0" animBg="1"/>
      <p:bldP spid="10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>
                <a:latin typeface="Calibri" panose="020F0502020204030204" pitchFamily="34" charset="0"/>
                <a:cs typeface="Calibri" panose="020F0502020204030204" pitchFamily="34" charset="0"/>
              </a:rPr>
              <a:t>Напишете функция, която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lvl="1"/>
            <a:r>
              <a:rPr lang="bg-BG" dirty="0">
                <a:latin typeface="Calibri" panose="020F0502020204030204" pitchFamily="34" charset="0"/>
                <a:cs typeface="Calibri" panose="020F0502020204030204" pitchFamily="34" charset="0"/>
              </a:rPr>
              <a:t>Получава цяло число </a:t>
            </a: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  <a:cs typeface="Calibri" panose="020F0502020204030204" pitchFamily="34" charset="0"/>
              </a:rPr>
              <a:t>n</a:t>
            </a:r>
            <a:endParaRPr lang="bg-BG" b="1" dirty="0">
              <a:solidFill>
                <a:schemeClr val="bg1"/>
              </a:solidFill>
              <a:latin typeface="Consolas" panose="020B0609020204030204" pitchFamily="49" charset="0"/>
              <a:cs typeface="Calibri" panose="020F0502020204030204" pitchFamily="34" charset="0"/>
            </a:endParaRPr>
          </a:p>
          <a:p>
            <a:pPr lvl="1"/>
            <a:r>
              <a:rPr lang="bg-BG" dirty="0">
                <a:latin typeface="Calibri" panose="020F0502020204030204" pitchFamily="34" charset="0"/>
                <a:cs typeface="Calibri" panose="020F0502020204030204" pitchFamily="34" charset="0"/>
              </a:rPr>
              <a:t>Отпечатва числата от </a:t>
            </a: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  <a:cs typeface="Calibri" panose="020F0502020204030204" pitchFamily="34" charset="0"/>
              </a:rPr>
              <a:t>1</a:t>
            </a:r>
            <a:r>
              <a:rPr lang="bg-BG" dirty="0">
                <a:latin typeface="Calibri" panose="020F0502020204030204" pitchFamily="34" charset="0"/>
                <a:cs typeface="Calibri" panose="020F0502020204030204" pitchFamily="34" charset="0"/>
              </a:rPr>
              <a:t> до </a:t>
            </a: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  <a:cs typeface="Calibri" panose="020F0502020204030204" pitchFamily="34" charset="0"/>
              </a:rPr>
              <a:t>n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bg-BG" dirty="0">
                <a:latin typeface="Calibri" panose="020F0502020204030204" pitchFamily="34" charset="0"/>
                <a:cs typeface="Calibri" panose="020F0502020204030204" pitchFamily="34" charset="0"/>
              </a:rPr>
              <a:t>със стъпка </a:t>
            </a: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  <a:cs typeface="Calibri" panose="020F0502020204030204" pitchFamily="34" charset="0"/>
              </a:rPr>
              <a:t>3</a:t>
            </a:r>
            <a:endParaRPr lang="bg-BG" dirty="0">
              <a:solidFill>
                <a:schemeClr val="bg1"/>
              </a:solidFill>
              <a:latin typeface="Consolas" panose="020B0609020204030204" pitchFamily="49" charset="0"/>
              <a:cs typeface="Calibri" panose="020F0502020204030204" pitchFamily="34" charset="0"/>
            </a:endParaRPr>
          </a:p>
          <a:p>
            <a:r>
              <a:rPr lang="bg-BG" dirty="0">
                <a:latin typeface="Calibri" panose="020F0502020204030204" pitchFamily="34" charset="0"/>
                <a:cs typeface="Calibri" panose="020F0502020204030204" pitchFamily="34" charset="0"/>
              </a:rPr>
              <a:t>Примерен вход и изход: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Числата от </a:t>
            </a:r>
            <a:r>
              <a:rPr lang="en-US" dirty="0"/>
              <a:t>1 </a:t>
            </a:r>
            <a:r>
              <a:rPr lang="bg-BG" dirty="0"/>
              <a:t>до</a:t>
            </a:r>
            <a:r>
              <a:rPr lang="en-US" dirty="0"/>
              <a:t> N </a:t>
            </a:r>
            <a:r>
              <a:rPr lang="bg-BG" dirty="0"/>
              <a:t>през 3 – условие</a:t>
            </a:r>
            <a:r>
              <a:rPr lang="en-US" dirty="0"/>
              <a:t> </a:t>
            </a:r>
          </a:p>
        </p:txBody>
      </p:sp>
      <p:sp>
        <p:nvSpPr>
          <p:cNvPr id="10" name="Rectangle 5"/>
          <p:cNvSpPr>
            <a:spLocks noChangeArrowheads="1"/>
          </p:cNvSpPr>
          <p:nvPr/>
        </p:nvSpPr>
        <p:spPr bwMode="auto">
          <a:xfrm>
            <a:off x="1093248" y="4181096"/>
            <a:ext cx="662495" cy="641073"/>
          </a:xfrm>
          <a:prstGeom prst="rect">
            <a:avLst/>
          </a:prstGeom>
          <a:solidFill>
            <a:schemeClr val="accent5">
              <a:lumMod val="60000"/>
              <a:lumOff val="4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algn="ctr" eaLnBrk="0" hangingPunct="0">
              <a:lnSpc>
                <a:spcPct val="12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bg-BG" sz="3200" b="1" noProof="1">
                <a:latin typeface="Consolas" pitchFamily="49" charset="0"/>
                <a:cs typeface="Consolas" pitchFamily="49" charset="0"/>
              </a:rPr>
              <a:t>10</a:t>
            </a:r>
            <a:endParaRPr lang="en-US" sz="3200" b="1" noProof="1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1" name="Стрелка надясно 10"/>
          <p:cNvSpPr/>
          <p:nvPr/>
        </p:nvSpPr>
        <p:spPr>
          <a:xfrm>
            <a:off x="1984790" y="4369075"/>
            <a:ext cx="402964" cy="35532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  <p:sp>
        <p:nvSpPr>
          <p:cNvPr id="12" name="Rectangle 5"/>
          <p:cNvSpPr>
            <a:spLocks noChangeArrowheads="1"/>
          </p:cNvSpPr>
          <p:nvPr/>
        </p:nvSpPr>
        <p:spPr bwMode="auto">
          <a:xfrm>
            <a:off x="2611684" y="4200939"/>
            <a:ext cx="2895600" cy="641073"/>
          </a:xfrm>
          <a:prstGeom prst="rect">
            <a:avLst/>
          </a:prstGeom>
          <a:solidFill>
            <a:schemeClr val="accent5">
              <a:lumMod val="60000"/>
              <a:lumOff val="4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algn="ctr" eaLnBrk="0" hangingPunct="0">
              <a:lnSpc>
                <a:spcPct val="12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bg-BG" sz="3200" b="1" noProof="1">
                <a:latin typeface="Consolas" pitchFamily="49" charset="0"/>
                <a:cs typeface="Consolas" pitchFamily="49" charset="0"/>
              </a:rPr>
              <a:t>1, 4, 7, 10</a:t>
            </a:r>
            <a:endParaRPr lang="en-US" sz="3200" b="1" noProof="1">
              <a:latin typeface="Consolas" pitchFamily="49" charset="0"/>
              <a:cs typeface="Consolas" pitchFamily="49" charset="0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423A46F1-44E1-4D30-990B-60DEC284E22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2400" y="4268569"/>
            <a:ext cx="891990" cy="1985938"/>
          </a:xfrm>
          <a:prstGeom prst="rect">
            <a:avLst/>
          </a:prstGeom>
        </p:spPr>
      </p:pic>
      <p:sp>
        <p:nvSpPr>
          <p:cNvPr id="21" name="Arrow: Curved Up 20">
            <a:extLst>
              <a:ext uri="{FF2B5EF4-FFF2-40B4-BE49-F238E27FC236}">
                <a16:creationId xmlns:a16="http://schemas.microsoft.com/office/drawing/2014/main" id="{D3FDC0FE-F488-4D24-9223-EB0B6CB2DA99}"/>
              </a:ext>
            </a:extLst>
          </p:cNvPr>
          <p:cNvSpPr/>
          <p:nvPr/>
        </p:nvSpPr>
        <p:spPr>
          <a:xfrm rot="10394803" flipH="1">
            <a:off x="8249782" y="2995631"/>
            <a:ext cx="1805478" cy="866739"/>
          </a:xfrm>
          <a:prstGeom prst="curved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 sz="2800">
              <a:solidFill>
                <a:schemeClr val="tx1"/>
              </a:solidFill>
            </a:endParaRPr>
          </a:p>
        </p:txBody>
      </p:sp>
      <p:pic>
        <p:nvPicPr>
          <p:cNvPr id="13" name="Picture 12" descr="Ð ÐµÐ·ÑÐ»ÑÐ°Ñ Ñ Ð¸Ð·Ð¾Ð±ÑÐ°Ð¶ÐµÐ½Ð¸Ðµ Ð·Ð° number  4 png">
            <a:extLst>
              <a:ext uri="{FF2B5EF4-FFF2-40B4-BE49-F238E27FC236}">
                <a16:creationId xmlns:a16="http://schemas.microsoft.com/office/drawing/2014/main" id="{0DE9E3EB-25AA-48FA-B00A-D1F18A45B6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1100248">
            <a:off x="9603809" y="4132762"/>
            <a:ext cx="1463731" cy="1977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Slide Number">
            <a:extLst>
              <a:ext uri="{FF2B5EF4-FFF2-40B4-BE49-F238E27FC236}">
                <a16:creationId xmlns:a16="http://schemas.microsoft.com/office/drawing/2014/main" id="{1BFFF662-FE04-496F-AC16-023D95A11C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23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630057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Slide Number">
            <a:extLst>
              <a:ext uri="{FF2B5EF4-FFF2-40B4-BE49-F238E27FC236}">
                <a16:creationId xmlns:a16="http://schemas.microsoft.com/office/drawing/2014/main" id="{DA53BEB6-C51C-4683-917C-9B2E28E0B51F}"/>
              </a:ext>
            </a:extLst>
          </p:cNvPr>
          <p:cNvSpPr txBox="1">
            <a:spLocks/>
          </p:cNvSpPr>
          <p:nvPr/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BF067CD-8E6B-4360-9AA8-C5DF2A48A6D1}" type="slidenum">
              <a:rPr lang="en-US" smtClean="0"/>
              <a:pPr/>
              <a:t>24</a:t>
            </a:fld>
            <a:endParaRPr lang="en-US" dirty="0"/>
          </a:p>
        </p:txBody>
      </p:sp>
      <p:grpSp>
        <p:nvGrpSpPr>
          <p:cNvPr id="2" name="Групиране 59"/>
          <p:cNvGrpSpPr/>
          <p:nvPr/>
        </p:nvGrpSpPr>
        <p:grpSpPr>
          <a:xfrm>
            <a:off x="3379567" y="538283"/>
            <a:ext cx="2377440" cy="731520"/>
            <a:chOff x="3690717" y="456205"/>
            <a:chExt cx="2377440" cy="731520"/>
          </a:xfrm>
        </p:grpSpPr>
        <p:sp>
          <p:nvSpPr>
            <p:cNvPr id="61" name="Rectangle 25">
              <a:extLst>
                <a:ext uri="{FF2B5EF4-FFF2-40B4-BE49-F238E27FC236}">
                  <a16:creationId xmlns:a16="http://schemas.microsoft.com/office/drawing/2014/main" id="{07DEDF83-EA65-4C9E-90C7-D72F02ED6B38}"/>
                </a:ext>
              </a:extLst>
            </p:cNvPr>
            <p:cNvSpPr/>
            <p:nvPr/>
          </p:nvSpPr>
          <p:spPr bwMode="auto">
            <a:xfrm>
              <a:off x="3690717" y="456205"/>
              <a:ext cx="2377440" cy="731520"/>
            </a:xfrm>
            <a:prstGeom prst="rect">
              <a:avLst/>
            </a:prstGeom>
            <a:solidFill>
              <a:schemeClr val="dk2">
                <a:alpha val="80000"/>
              </a:schemeClr>
            </a:solidFill>
            <a:ln w="19050">
              <a:solidFill>
                <a:schemeClr val="tx1">
                  <a:lumMod val="75000"/>
                  <a:alpha val="8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001">
              <a:schemeClr val="dk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bg-BG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2" name="TextBox 26">
              <a:extLst>
                <a:ext uri="{FF2B5EF4-FFF2-40B4-BE49-F238E27FC236}">
                  <a16:creationId xmlns:a16="http://schemas.microsoft.com/office/drawing/2014/main" id="{E6462B45-C191-4B73-9AEC-B14A476BD209}"/>
                </a:ext>
              </a:extLst>
            </p:cNvPr>
            <p:cNvSpPr txBox="1"/>
            <p:nvPr/>
          </p:nvSpPr>
          <p:spPr>
            <a:xfrm>
              <a:off x="3690717" y="528245"/>
              <a:ext cx="2377440" cy="587441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144000" tIns="108000" rIns="144000" bIns="108000" rtlCol="0">
              <a:spAutoFit/>
            </a:bodyPr>
            <a:lstStyle/>
            <a:p>
              <a:pPr algn="ctr" eaLnBrk="0" hangingPunct="0">
                <a:buClr>
                  <a:schemeClr val="accent5">
                    <a:lumMod val="40000"/>
                    <a:lumOff val="60000"/>
                  </a:schemeClr>
                </a:buClr>
                <a:buSzPct val="70000"/>
              </a:pPr>
              <a:r>
                <a:rPr lang="en-US" sz="2400" dirty="0">
                  <a:solidFill>
                    <a:schemeClr val="bg2"/>
                  </a:solidFill>
                  <a:latin typeface="Consolas" pitchFamily="49" charset="0"/>
                </a:rPr>
                <a:t>Read</a:t>
              </a:r>
              <a:r>
                <a:rPr lang="en-US" sz="2400" dirty="0">
                  <a:solidFill>
                    <a:schemeClr val="bg2"/>
                  </a:solidFill>
                </a:rPr>
                <a:t> n</a:t>
              </a:r>
              <a:endParaRPr lang="bg-BG" sz="2400" dirty="0">
                <a:solidFill>
                  <a:schemeClr val="bg2"/>
                </a:solidFill>
              </a:endParaRPr>
            </a:p>
          </p:txBody>
        </p:sp>
      </p:grpSp>
      <p:cxnSp>
        <p:nvCxnSpPr>
          <p:cNvPr id="63" name="Straight Arrow Connector 27">
            <a:extLst>
              <a:ext uri="{FF2B5EF4-FFF2-40B4-BE49-F238E27FC236}">
                <a16:creationId xmlns:a16="http://schemas.microsoft.com/office/drawing/2014/main" id="{9E7A81B8-836B-4E47-960B-D5F70AFBA3CA}"/>
              </a:ext>
            </a:extLst>
          </p:cNvPr>
          <p:cNvCxnSpPr>
            <a:cxnSpLocks/>
          </p:cNvCxnSpPr>
          <p:nvPr/>
        </p:nvCxnSpPr>
        <p:spPr>
          <a:xfrm rot="5400000">
            <a:off x="4302937" y="1552216"/>
            <a:ext cx="530701" cy="3424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TextBox 29">
            <a:extLst>
              <a:ext uri="{FF2B5EF4-FFF2-40B4-BE49-F238E27FC236}">
                <a16:creationId xmlns:a16="http://schemas.microsoft.com/office/drawing/2014/main" id="{02A3EC40-64B5-4047-90B2-826E877791CC}"/>
              </a:ext>
            </a:extLst>
          </p:cNvPr>
          <p:cNvSpPr txBox="1"/>
          <p:nvPr/>
        </p:nvSpPr>
        <p:spPr>
          <a:xfrm>
            <a:off x="5724065" y="3278416"/>
            <a:ext cx="771985" cy="556664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vert="horz" wrap="square" lIns="144000" tIns="108000" rIns="144000" bIns="108000" rtlCol="0">
            <a:spAutoFit/>
          </a:bodyPr>
          <a:lstStyle/>
          <a:p>
            <a:pPr algn="l"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GB" sz="2000" dirty="0"/>
              <a:t>false</a:t>
            </a:r>
            <a:endParaRPr lang="en-US" sz="2400" dirty="0"/>
          </a:p>
        </p:txBody>
      </p:sp>
      <p:cxnSp>
        <p:nvCxnSpPr>
          <p:cNvPr id="65" name="Straight Arrow Connector 30">
            <a:extLst>
              <a:ext uri="{FF2B5EF4-FFF2-40B4-BE49-F238E27FC236}">
                <a16:creationId xmlns:a16="http://schemas.microsoft.com/office/drawing/2014/main" id="{0C961173-951D-4B2C-BE50-738E2B3ACC4C}"/>
              </a:ext>
            </a:extLst>
          </p:cNvPr>
          <p:cNvCxnSpPr>
            <a:cxnSpLocks/>
          </p:cNvCxnSpPr>
          <p:nvPr/>
        </p:nvCxnSpPr>
        <p:spPr>
          <a:xfrm>
            <a:off x="5743514" y="3904276"/>
            <a:ext cx="733087" cy="19494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Групиране 65"/>
          <p:cNvGrpSpPr/>
          <p:nvPr/>
        </p:nvGrpSpPr>
        <p:grpSpPr>
          <a:xfrm>
            <a:off x="3379567" y="5289078"/>
            <a:ext cx="2377440" cy="1030640"/>
            <a:chOff x="3429635" y="5232613"/>
            <a:chExt cx="2377440" cy="1030640"/>
          </a:xfrm>
        </p:grpSpPr>
        <p:sp>
          <p:nvSpPr>
            <p:cNvPr id="67" name="Rectangle 32">
              <a:extLst>
                <a:ext uri="{FF2B5EF4-FFF2-40B4-BE49-F238E27FC236}">
                  <a16:creationId xmlns:a16="http://schemas.microsoft.com/office/drawing/2014/main" id="{1B8BAF57-1253-4389-8E95-E45D07749AE3}"/>
                </a:ext>
              </a:extLst>
            </p:cNvPr>
            <p:cNvSpPr/>
            <p:nvPr/>
          </p:nvSpPr>
          <p:spPr bwMode="auto">
            <a:xfrm>
              <a:off x="3429635" y="5232613"/>
              <a:ext cx="2377440" cy="1005840"/>
            </a:xfrm>
            <a:prstGeom prst="rect">
              <a:avLst/>
            </a:prstGeom>
            <a:solidFill>
              <a:schemeClr val="dk2">
                <a:alpha val="80000"/>
              </a:schemeClr>
            </a:solidFill>
            <a:ln w="19050">
              <a:solidFill>
                <a:schemeClr val="tx1">
                  <a:lumMod val="75000"/>
                  <a:alpha val="8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001">
              <a:schemeClr val="dk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bg-BG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8" name="TextBox 33">
              <a:extLst>
                <a:ext uri="{FF2B5EF4-FFF2-40B4-BE49-F238E27FC236}">
                  <a16:creationId xmlns:a16="http://schemas.microsoft.com/office/drawing/2014/main" id="{78C4C7C3-6311-48F0-8519-0B50EB7260C8}"/>
                </a:ext>
              </a:extLst>
            </p:cNvPr>
            <p:cNvSpPr txBox="1"/>
            <p:nvPr/>
          </p:nvSpPr>
          <p:spPr>
            <a:xfrm>
              <a:off x="3429635" y="5232613"/>
              <a:ext cx="2377440" cy="103064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144000" tIns="108000" rIns="144000" bIns="108000" rtlCol="0">
              <a:spAutoFit/>
            </a:bodyPr>
            <a:lstStyle/>
            <a:p>
              <a:pPr algn="ctr" eaLnBrk="0" hangingPunct="0">
                <a:lnSpc>
                  <a:spcPct val="110000"/>
                </a:lnSpc>
                <a:buClr>
                  <a:schemeClr val="accent5">
                    <a:lumMod val="40000"/>
                    <a:lumOff val="60000"/>
                  </a:schemeClr>
                </a:buClr>
                <a:buSzPct val="70000"/>
              </a:pPr>
              <a:r>
                <a:rPr lang="en-US" sz="2400" dirty="0">
                  <a:solidFill>
                    <a:schemeClr val="bg2"/>
                  </a:solidFill>
                  <a:latin typeface="Consolas" pitchFamily="49" charset="0"/>
                </a:rPr>
                <a:t>print i;</a:t>
              </a:r>
            </a:p>
            <a:p>
              <a:pPr algn="ctr" eaLnBrk="0" hangingPunct="0">
                <a:lnSpc>
                  <a:spcPct val="110000"/>
                </a:lnSpc>
                <a:buClr>
                  <a:schemeClr val="accent5">
                    <a:lumMod val="40000"/>
                    <a:lumOff val="60000"/>
                  </a:schemeClr>
                </a:buClr>
                <a:buSzPct val="70000"/>
              </a:pPr>
              <a:r>
                <a:rPr lang="en-US" sz="2400" dirty="0" err="1">
                  <a:solidFill>
                    <a:schemeClr val="bg2"/>
                  </a:solidFill>
                  <a:latin typeface="Consolas" pitchFamily="49" charset="0"/>
                </a:rPr>
                <a:t>i</a:t>
              </a:r>
              <a:r>
                <a:rPr lang="en-US" sz="2400" dirty="0">
                  <a:solidFill>
                    <a:schemeClr val="bg2"/>
                  </a:solidFill>
                  <a:latin typeface="Consolas" pitchFamily="49" charset="0"/>
                </a:rPr>
                <a:t> </a:t>
              </a:r>
              <a:r>
                <a:rPr lang="bg-BG" sz="2400" dirty="0">
                  <a:solidFill>
                    <a:schemeClr val="bg2"/>
                  </a:solidFill>
                  <a:latin typeface="Consolas" pitchFamily="49" charset="0"/>
                </a:rPr>
                <a:t>+=3</a:t>
              </a:r>
              <a:r>
                <a:rPr lang="en-US" sz="2400" dirty="0">
                  <a:solidFill>
                    <a:schemeClr val="bg2"/>
                  </a:solidFill>
                  <a:latin typeface="Consolas" pitchFamily="49" charset="0"/>
                </a:rPr>
                <a:t>;</a:t>
              </a:r>
            </a:p>
          </p:txBody>
        </p:sp>
      </p:grpSp>
      <p:cxnSp>
        <p:nvCxnSpPr>
          <p:cNvPr id="69" name="Elbow Connector 37">
            <a:extLst>
              <a:ext uri="{FF2B5EF4-FFF2-40B4-BE49-F238E27FC236}">
                <a16:creationId xmlns:a16="http://schemas.microsoft.com/office/drawing/2014/main" id="{25492B2E-6492-41E8-96A3-B4CC8B0CFBF2}"/>
              </a:ext>
            </a:extLst>
          </p:cNvPr>
          <p:cNvCxnSpPr>
            <a:cxnSpLocks/>
          </p:cNvCxnSpPr>
          <p:nvPr/>
        </p:nvCxnSpPr>
        <p:spPr>
          <a:xfrm rot="10800000" flipH="1">
            <a:off x="3340101" y="3911130"/>
            <a:ext cx="47457" cy="1880869"/>
          </a:xfrm>
          <a:prstGeom prst="bentConnector4">
            <a:avLst>
              <a:gd name="adj1" fmla="val -2756391"/>
              <a:gd name="adj2" fmla="val 101181"/>
            </a:avLst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Box 36">
            <a:extLst>
              <a:ext uri="{FF2B5EF4-FFF2-40B4-BE49-F238E27FC236}">
                <a16:creationId xmlns:a16="http://schemas.microsoft.com/office/drawing/2014/main" id="{0EEF1D8B-52A9-4033-A195-A28F056E97FF}"/>
              </a:ext>
            </a:extLst>
          </p:cNvPr>
          <p:cNvSpPr txBox="1"/>
          <p:nvPr/>
        </p:nvSpPr>
        <p:spPr>
          <a:xfrm>
            <a:off x="4615768" y="4588142"/>
            <a:ext cx="946832" cy="65648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vert="horz" wrap="none" lIns="144000" tIns="108000" rIns="144000" bIns="108000" rtlCol="0">
            <a:spAutoFit/>
          </a:bodyPr>
          <a:lstStyle/>
          <a:p>
            <a:pPr algn="l"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GB" sz="2000" dirty="0"/>
              <a:t>true</a:t>
            </a:r>
            <a:endParaRPr lang="en-US" sz="2400" dirty="0"/>
          </a:p>
        </p:txBody>
      </p:sp>
      <p:sp>
        <p:nvSpPr>
          <p:cNvPr id="71" name="Flowchart: Terminator 37">
            <a:extLst>
              <a:ext uri="{FF2B5EF4-FFF2-40B4-BE49-F238E27FC236}">
                <a16:creationId xmlns:a16="http://schemas.microsoft.com/office/drawing/2014/main" id="{558E0DED-8ADC-4BEA-9248-8361B8D24B6E}"/>
              </a:ext>
            </a:extLst>
          </p:cNvPr>
          <p:cNvSpPr/>
          <p:nvPr/>
        </p:nvSpPr>
        <p:spPr bwMode="auto">
          <a:xfrm>
            <a:off x="6538042" y="3560779"/>
            <a:ext cx="3158408" cy="706488"/>
          </a:xfrm>
          <a:prstGeom prst="flowChartTerminator">
            <a:avLst/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4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Exit the loop</a:t>
            </a:r>
            <a:endParaRPr lang="en-US" sz="240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pSp>
        <p:nvGrpSpPr>
          <p:cNvPr id="4" name="Групиране 71"/>
          <p:cNvGrpSpPr/>
          <p:nvPr/>
        </p:nvGrpSpPr>
        <p:grpSpPr>
          <a:xfrm>
            <a:off x="3379567" y="1846108"/>
            <a:ext cx="2377440" cy="731520"/>
            <a:chOff x="3690717" y="1764030"/>
            <a:chExt cx="2377440" cy="731520"/>
          </a:xfrm>
        </p:grpSpPr>
        <p:sp>
          <p:nvSpPr>
            <p:cNvPr id="73" name="Rectangle 19">
              <a:extLst>
                <a:ext uri="{FF2B5EF4-FFF2-40B4-BE49-F238E27FC236}">
                  <a16:creationId xmlns:a16="http://schemas.microsoft.com/office/drawing/2014/main" id="{35663578-E009-4693-9D9C-E7B1BD3C95BF}"/>
                </a:ext>
              </a:extLst>
            </p:cNvPr>
            <p:cNvSpPr/>
            <p:nvPr/>
          </p:nvSpPr>
          <p:spPr bwMode="auto">
            <a:xfrm>
              <a:off x="3690717" y="1764030"/>
              <a:ext cx="2377440" cy="731520"/>
            </a:xfrm>
            <a:prstGeom prst="rect">
              <a:avLst/>
            </a:prstGeom>
            <a:solidFill>
              <a:schemeClr val="dk2">
                <a:alpha val="80000"/>
              </a:schemeClr>
            </a:solidFill>
            <a:ln w="19050">
              <a:solidFill>
                <a:schemeClr val="tx1">
                  <a:lumMod val="75000"/>
                  <a:alpha val="8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001">
              <a:schemeClr val="dk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bg-BG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74" name="TextBox 20">
              <a:extLst>
                <a:ext uri="{FF2B5EF4-FFF2-40B4-BE49-F238E27FC236}">
                  <a16:creationId xmlns:a16="http://schemas.microsoft.com/office/drawing/2014/main" id="{0A100367-5C03-4042-A398-19051065CF0F}"/>
                </a:ext>
              </a:extLst>
            </p:cNvPr>
            <p:cNvSpPr txBox="1"/>
            <p:nvPr/>
          </p:nvSpPr>
          <p:spPr>
            <a:xfrm>
              <a:off x="3690717" y="1836070"/>
              <a:ext cx="2377440" cy="587441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144000" tIns="108000" rIns="144000" bIns="108000" rtlCol="0">
              <a:spAutoFit/>
            </a:bodyPr>
            <a:lstStyle/>
            <a:p>
              <a:pPr algn="ctr" eaLnBrk="0" hangingPunct="0">
                <a:buClr>
                  <a:schemeClr val="accent5">
                    <a:lumMod val="40000"/>
                    <a:lumOff val="60000"/>
                  </a:schemeClr>
                </a:buClr>
                <a:buSzPct val="70000"/>
              </a:pPr>
              <a:r>
                <a:rPr lang="en-US" sz="2400" dirty="0">
                  <a:solidFill>
                    <a:schemeClr val="bg2"/>
                  </a:solidFill>
                  <a:latin typeface="Consolas" pitchFamily="49" charset="0"/>
                </a:rPr>
                <a:t> i = </a:t>
              </a:r>
              <a:r>
                <a:rPr lang="bg-BG" sz="2400" noProof="1">
                  <a:solidFill>
                    <a:schemeClr val="bg2"/>
                  </a:solidFill>
                  <a:latin typeface="Consolas" pitchFamily="49" charset="0"/>
                </a:rPr>
                <a:t>1</a:t>
              </a:r>
            </a:p>
          </p:txBody>
        </p:sp>
      </p:grpSp>
      <p:grpSp>
        <p:nvGrpSpPr>
          <p:cNvPr id="5" name="Групиране 74"/>
          <p:cNvGrpSpPr/>
          <p:nvPr/>
        </p:nvGrpSpPr>
        <p:grpSpPr>
          <a:xfrm>
            <a:off x="3454600" y="3199928"/>
            <a:ext cx="2227375" cy="1428191"/>
            <a:chOff x="3499050" y="3117850"/>
            <a:chExt cx="2227375" cy="1428191"/>
          </a:xfrm>
        </p:grpSpPr>
        <p:sp>
          <p:nvSpPr>
            <p:cNvPr id="76" name="Flowchart: Decision 22"/>
            <p:cNvSpPr/>
            <p:nvPr/>
          </p:nvSpPr>
          <p:spPr bwMode="auto">
            <a:xfrm>
              <a:off x="3499050" y="3117850"/>
              <a:ext cx="2227375" cy="1428191"/>
            </a:xfrm>
            <a:prstGeom prst="flowChartDecision">
              <a:avLst/>
            </a:prstGeom>
            <a:solidFill>
              <a:schemeClr val="dk2">
                <a:alpha val="80000"/>
              </a:schemeClr>
            </a:solidFill>
            <a:ln w="19050">
              <a:solidFill>
                <a:schemeClr val="tx1">
                  <a:lumMod val="75000"/>
                  <a:alpha val="8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001">
              <a:schemeClr val="dk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77" name="Rectangle 23"/>
            <p:cNvSpPr/>
            <p:nvPr/>
          </p:nvSpPr>
          <p:spPr>
            <a:xfrm>
              <a:off x="3554364" y="3601113"/>
              <a:ext cx="2116746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2400" noProof="1">
                  <a:solidFill>
                    <a:schemeClr val="bg2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</a:rPr>
                <a:t>i &lt;= n</a:t>
              </a:r>
              <a:endParaRPr lang="en-US" sz="2400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cxnSp>
        <p:nvCxnSpPr>
          <p:cNvPr id="78" name="Straight Arrow Connector 27">
            <a:extLst>
              <a:ext uri="{FF2B5EF4-FFF2-40B4-BE49-F238E27FC236}">
                <a16:creationId xmlns:a16="http://schemas.microsoft.com/office/drawing/2014/main" id="{9E7A81B8-836B-4E47-960B-D5F70AFBA3CA}"/>
              </a:ext>
            </a:extLst>
          </p:cNvPr>
          <p:cNvCxnSpPr>
            <a:cxnSpLocks/>
          </p:cNvCxnSpPr>
          <p:nvPr/>
        </p:nvCxnSpPr>
        <p:spPr>
          <a:xfrm rot="5400000">
            <a:off x="4302937" y="2885717"/>
            <a:ext cx="530701" cy="3424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27">
            <a:extLst>
              <a:ext uri="{FF2B5EF4-FFF2-40B4-BE49-F238E27FC236}">
                <a16:creationId xmlns:a16="http://schemas.microsoft.com/office/drawing/2014/main" id="{9E7A81B8-836B-4E47-960B-D5F70AFBA3CA}"/>
              </a:ext>
            </a:extLst>
          </p:cNvPr>
          <p:cNvCxnSpPr>
            <a:cxnSpLocks/>
          </p:cNvCxnSpPr>
          <p:nvPr/>
        </p:nvCxnSpPr>
        <p:spPr>
          <a:xfrm rot="5400000">
            <a:off x="4302937" y="4930417"/>
            <a:ext cx="530701" cy="3424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759378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3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" grpId="0"/>
      <p:bldP spid="70" grpId="0"/>
      <p:bldP spid="71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1731000" y="2124000"/>
            <a:ext cx="8845550" cy="3368871"/>
          </a:xfrm>
          <a:prstGeom prst="rect">
            <a:avLst/>
          </a:prstGeom>
          <a:solidFill>
            <a:schemeClr val="accent5">
              <a:lumMod val="60000"/>
              <a:lumOff val="4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lnSpc>
                <a:spcPct val="12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3600" b="1" noProof="1">
                <a:latin typeface="Consolas" pitchFamily="49" charset="0"/>
                <a:cs typeface="Consolas" pitchFamily="49" charset="0"/>
              </a:rPr>
              <a:t>function oneToN (n){</a:t>
            </a:r>
          </a:p>
          <a:p>
            <a:pPr eaLnBrk="0" hangingPunct="0">
              <a:lnSpc>
                <a:spcPct val="12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3600" b="1" noProof="1">
                <a:latin typeface="Consolas" pitchFamily="49" charset="0"/>
                <a:cs typeface="Consolas" pitchFamily="49" charset="0"/>
              </a:rPr>
              <a:t>  for (let i = 1; i &lt;= n; i </a:t>
            </a:r>
            <a:r>
              <a:rPr lang="bg-BG" sz="3600" b="1" noProof="1">
                <a:latin typeface="Consolas" pitchFamily="49" charset="0"/>
                <a:cs typeface="Consolas" pitchFamily="49" charset="0"/>
              </a:rPr>
              <a:t>+=</a:t>
            </a:r>
            <a:r>
              <a:rPr lang="en-US" sz="3600" b="1" noProof="1">
                <a:latin typeface="Consolas" pitchFamily="49" charset="0"/>
                <a:cs typeface="Consolas" pitchFamily="49" charset="0"/>
              </a:rPr>
              <a:t> </a:t>
            </a:r>
            <a:r>
              <a:rPr lang="bg-BG" sz="3600" b="1" noProof="1">
                <a:latin typeface="Consolas" pitchFamily="49" charset="0"/>
                <a:cs typeface="Consolas" pitchFamily="49" charset="0"/>
              </a:rPr>
              <a:t>3</a:t>
            </a:r>
            <a:r>
              <a:rPr lang="en-US" sz="3600" b="1" noProof="1">
                <a:latin typeface="Consolas" pitchFamily="49" charset="0"/>
                <a:cs typeface="Consolas" pitchFamily="49" charset="0"/>
              </a:rPr>
              <a:t>){</a:t>
            </a:r>
          </a:p>
          <a:p>
            <a:pPr eaLnBrk="0" hangingPunct="0">
              <a:lnSpc>
                <a:spcPct val="12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bg-BG" sz="3600" b="1" noProof="1">
                <a:latin typeface="Consolas" pitchFamily="49" charset="0"/>
                <a:cs typeface="Consolas" pitchFamily="49" charset="0"/>
              </a:rPr>
              <a:t> </a:t>
            </a:r>
            <a:r>
              <a:rPr lang="en-US" sz="3600" b="1" noProof="1">
                <a:latin typeface="Consolas" pitchFamily="49" charset="0"/>
                <a:cs typeface="Consolas" pitchFamily="49" charset="0"/>
              </a:rPr>
              <a:t>   console.log(i);</a:t>
            </a:r>
          </a:p>
          <a:p>
            <a:pPr eaLnBrk="0" hangingPunct="0">
              <a:lnSpc>
                <a:spcPct val="12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3600" b="1" noProof="1">
                <a:latin typeface="Consolas" pitchFamily="49" charset="0"/>
                <a:cs typeface="Consolas" pitchFamily="49" charset="0"/>
              </a:rPr>
              <a:t>  }</a:t>
            </a:r>
          </a:p>
          <a:p>
            <a:pPr eaLnBrk="0" hangingPunct="0">
              <a:lnSpc>
                <a:spcPct val="12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3600" b="1" noProof="1">
                <a:latin typeface="Consolas" pitchFamily="49" charset="0"/>
                <a:cs typeface="Consolas" pitchFamily="49" charset="0"/>
              </a:rPr>
              <a:t>}</a:t>
            </a:r>
          </a:p>
        </p:txBody>
      </p:sp>
      <p:sp>
        <p:nvSpPr>
          <p:cNvPr id="7" name="Rectangle 6"/>
          <p:cNvSpPr/>
          <p:nvPr/>
        </p:nvSpPr>
        <p:spPr>
          <a:xfrm>
            <a:off x="8243250" y="2902067"/>
            <a:ext cx="1644650" cy="577850"/>
          </a:xfrm>
          <a:prstGeom prst="rect">
            <a:avLst/>
          </a:prstGeom>
          <a:noFill/>
          <a:ln w="508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0" name="Slide Number">
            <a:extLst>
              <a:ext uri="{FF2B5EF4-FFF2-40B4-BE49-F238E27FC236}">
                <a16:creationId xmlns:a16="http://schemas.microsoft.com/office/drawing/2014/main" id="{BBE99D9B-9B3A-4042-8649-648D4887EA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25</a:t>
            </a:fld>
            <a:endParaRPr lang="en-US" noProof="0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/>
              <a:t>Числата от </a:t>
            </a:r>
            <a:r>
              <a:rPr lang="en-US"/>
              <a:t>1 </a:t>
            </a:r>
            <a:r>
              <a:rPr lang="bg-BG"/>
              <a:t>до</a:t>
            </a:r>
            <a:r>
              <a:rPr lang="en-US"/>
              <a:t> N </a:t>
            </a:r>
            <a:r>
              <a:rPr lang="bg-BG"/>
              <a:t>през 3 – решение</a:t>
            </a:r>
            <a:r>
              <a:rPr lang="en-US"/>
              <a:t> </a:t>
            </a:r>
            <a:endParaRPr lang="en-US" dirty="0"/>
          </a:p>
        </p:txBody>
      </p:sp>
      <p:sp>
        <p:nvSpPr>
          <p:cNvPr id="6" name="AutoShape 7"/>
          <p:cNvSpPr>
            <a:spLocks noChangeArrowheads="1"/>
          </p:cNvSpPr>
          <p:nvPr/>
        </p:nvSpPr>
        <p:spPr bwMode="auto">
          <a:xfrm>
            <a:off x="6754175" y="3702406"/>
            <a:ext cx="4622800" cy="640080"/>
          </a:xfrm>
          <a:custGeom>
            <a:avLst/>
            <a:gdLst>
              <a:gd name="connsiteX0" fmla="*/ 0 w 4622800"/>
              <a:gd name="connsiteY0" fmla="*/ 91442 h 548640"/>
              <a:gd name="connsiteX1" fmla="*/ 26783 w 4622800"/>
              <a:gd name="connsiteY1" fmla="*/ 26783 h 548640"/>
              <a:gd name="connsiteX2" fmla="*/ 91442 w 4622800"/>
              <a:gd name="connsiteY2" fmla="*/ 0 h 548640"/>
              <a:gd name="connsiteX3" fmla="*/ 770467 w 4622800"/>
              <a:gd name="connsiteY3" fmla="*/ 0 h 548640"/>
              <a:gd name="connsiteX4" fmla="*/ 2123483 w 4622800"/>
              <a:gd name="connsiteY4" fmla="*/ -491680 h 548640"/>
              <a:gd name="connsiteX5" fmla="*/ 1926167 w 4622800"/>
              <a:gd name="connsiteY5" fmla="*/ 0 h 548640"/>
              <a:gd name="connsiteX6" fmla="*/ 4531358 w 4622800"/>
              <a:gd name="connsiteY6" fmla="*/ 0 h 548640"/>
              <a:gd name="connsiteX7" fmla="*/ 4596017 w 4622800"/>
              <a:gd name="connsiteY7" fmla="*/ 26783 h 548640"/>
              <a:gd name="connsiteX8" fmla="*/ 4622800 w 4622800"/>
              <a:gd name="connsiteY8" fmla="*/ 91442 h 548640"/>
              <a:gd name="connsiteX9" fmla="*/ 4622800 w 4622800"/>
              <a:gd name="connsiteY9" fmla="*/ 91440 h 548640"/>
              <a:gd name="connsiteX10" fmla="*/ 4622800 w 4622800"/>
              <a:gd name="connsiteY10" fmla="*/ 91440 h 548640"/>
              <a:gd name="connsiteX11" fmla="*/ 4622800 w 4622800"/>
              <a:gd name="connsiteY11" fmla="*/ 228600 h 548640"/>
              <a:gd name="connsiteX12" fmla="*/ 4622800 w 4622800"/>
              <a:gd name="connsiteY12" fmla="*/ 457198 h 548640"/>
              <a:gd name="connsiteX13" fmla="*/ 4596017 w 4622800"/>
              <a:gd name="connsiteY13" fmla="*/ 521857 h 548640"/>
              <a:gd name="connsiteX14" fmla="*/ 4531358 w 4622800"/>
              <a:gd name="connsiteY14" fmla="*/ 548640 h 548640"/>
              <a:gd name="connsiteX15" fmla="*/ 1926167 w 4622800"/>
              <a:gd name="connsiteY15" fmla="*/ 548640 h 548640"/>
              <a:gd name="connsiteX16" fmla="*/ 770467 w 4622800"/>
              <a:gd name="connsiteY16" fmla="*/ 548640 h 548640"/>
              <a:gd name="connsiteX17" fmla="*/ 770467 w 4622800"/>
              <a:gd name="connsiteY17" fmla="*/ 548640 h 548640"/>
              <a:gd name="connsiteX18" fmla="*/ 91442 w 4622800"/>
              <a:gd name="connsiteY18" fmla="*/ 548640 h 548640"/>
              <a:gd name="connsiteX19" fmla="*/ 26783 w 4622800"/>
              <a:gd name="connsiteY19" fmla="*/ 521857 h 548640"/>
              <a:gd name="connsiteX20" fmla="*/ 0 w 4622800"/>
              <a:gd name="connsiteY20" fmla="*/ 457198 h 548640"/>
              <a:gd name="connsiteX21" fmla="*/ 0 w 4622800"/>
              <a:gd name="connsiteY21" fmla="*/ 228600 h 548640"/>
              <a:gd name="connsiteX22" fmla="*/ 0 w 4622800"/>
              <a:gd name="connsiteY22" fmla="*/ 91440 h 548640"/>
              <a:gd name="connsiteX23" fmla="*/ 0 w 4622800"/>
              <a:gd name="connsiteY23" fmla="*/ 91440 h 548640"/>
              <a:gd name="connsiteX24" fmla="*/ 0 w 4622800"/>
              <a:gd name="connsiteY24" fmla="*/ 91442 h 548640"/>
              <a:gd name="connsiteX0" fmla="*/ 0 w 4622800"/>
              <a:gd name="connsiteY0" fmla="*/ 91442 h 548640"/>
              <a:gd name="connsiteX1" fmla="*/ 26783 w 4622800"/>
              <a:gd name="connsiteY1" fmla="*/ 26783 h 548640"/>
              <a:gd name="connsiteX2" fmla="*/ 91442 w 4622800"/>
              <a:gd name="connsiteY2" fmla="*/ 0 h 548640"/>
              <a:gd name="connsiteX3" fmla="*/ 770467 w 4622800"/>
              <a:gd name="connsiteY3" fmla="*/ 0 h 548640"/>
              <a:gd name="connsiteX4" fmla="*/ 1926167 w 4622800"/>
              <a:gd name="connsiteY4" fmla="*/ 0 h 548640"/>
              <a:gd name="connsiteX5" fmla="*/ 4531358 w 4622800"/>
              <a:gd name="connsiteY5" fmla="*/ 0 h 548640"/>
              <a:gd name="connsiteX6" fmla="*/ 4596017 w 4622800"/>
              <a:gd name="connsiteY6" fmla="*/ 26783 h 548640"/>
              <a:gd name="connsiteX7" fmla="*/ 4622800 w 4622800"/>
              <a:gd name="connsiteY7" fmla="*/ 91442 h 548640"/>
              <a:gd name="connsiteX8" fmla="*/ 4622800 w 4622800"/>
              <a:gd name="connsiteY8" fmla="*/ 91440 h 548640"/>
              <a:gd name="connsiteX9" fmla="*/ 4622800 w 4622800"/>
              <a:gd name="connsiteY9" fmla="*/ 91440 h 548640"/>
              <a:gd name="connsiteX10" fmla="*/ 4622800 w 4622800"/>
              <a:gd name="connsiteY10" fmla="*/ 228600 h 548640"/>
              <a:gd name="connsiteX11" fmla="*/ 4622800 w 4622800"/>
              <a:gd name="connsiteY11" fmla="*/ 457198 h 548640"/>
              <a:gd name="connsiteX12" fmla="*/ 4596017 w 4622800"/>
              <a:gd name="connsiteY12" fmla="*/ 521857 h 548640"/>
              <a:gd name="connsiteX13" fmla="*/ 4531358 w 4622800"/>
              <a:gd name="connsiteY13" fmla="*/ 548640 h 548640"/>
              <a:gd name="connsiteX14" fmla="*/ 1926167 w 4622800"/>
              <a:gd name="connsiteY14" fmla="*/ 548640 h 548640"/>
              <a:gd name="connsiteX15" fmla="*/ 770467 w 4622800"/>
              <a:gd name="connsiteY15" fmla="*/ 548640 h 548640"/>
              <a:gd name="connsiteX16" fmla="*/ 770467 w 4622800"/>
              <a:gd name="connsiteY16" fmla="*/ 548640 h 548640"/>
              <a:gd name="connsiteX17" fmla="*/ 91442 w 4622800"/>
              <a:gd name="connsiteY17" fmla="*/ 548640 h 548640"/>
              <a:gd name="connsiteX18" fmla="*/ 26783 w 4622800"/>
              <a:gd name="connsiteY18" fmla="*/ 521857 h 548640"/>
              <a:gd name="connsiteX19" fmla="*/ 0 w 4622800"/>
              <a:gd name="connsiteY19" fmla="*/ 457198 h 548640"/>
              <a:gd name="connsiteX20" fmla="*/ 0 w 4622800"/>
              <a:gd name="connsiteY20" fmla="*/ 228600 h 548640"/>
              <a:gd name="connsiteX21" fmla="*/ 0 w 4622800"/>
              <a:gd name="connsiteY21" fmla="*/ 91440 h 548640"/>
              <a:gd name="connsiteX22" fmla="*/ 0 w 4622800"/>
              <a:gd name="connsiteY22" fmla="*/ 91440 h 548640"/>
              <a:gd name="connsiteX23" fmla="*/ 0 w 4622800"/>
              <a:gd name="connsiteY23" fmla="*/ 91442 h 548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4622800" h="548640">
                <a:moveTo>
                  <a:pt x="0" y="91442"/>
                </a:moveTo>
                <a:cubicBezTo>
                  <a:pt x="0" y="67190"/>
                  <a:pt x="9634" y="43931"/>
                  <a:pt x="26783" y="26783"/>
                </a:cubicBezTo>
                <a:cubicBezTo>
                  <a:pt x="43932" y="9634"/>
                  <a:pt x="67190" y="0"/>
                  <a:pt x="91442" y="0"/>
                </a:cubicBezTo>
                <a:lnTo>
                  <a:pt x="770467" y="0"/>
                </a:lnTo>
                <a:lnTo>
                  <a:pt x="1926167" y="0"/>
                </a:lnTo>
                <a:lnTo>
                  <a:pt x="4531358" y="0"/>
                </a:lnTo>
                <a:cubicBezTo>
                  <a:pt x="4555610" y="0"/>
                  <a:pt x="4578869" y="9634"/>
                  <a:pt x="4596017" y="26783"/>
                </a:cubicBezTo>
                <a:cubicBezTo>
                  <a:pt x="4613166" y="43932"/>
                  <a:pt x="4622800" y="67190"/>
                  <a:pt x="4622800" y="91442"/>
                </a:cubicBezTo>
                <a:lnTo>
                  <a:pt x="4622800" y="91440"/>
                </a:lnTo>
                <a:lnTo>
                  <a:pt x="4622800" y="91440"/>
                </a:lnTo>
                <a:lnTo>
                  <a:pt x="4622800" y="228600"/>
                </a:lnTo>
                <a:lnTo>
                  <a:pt x="4622800" y="457198"/>
                </a:lnTo>
                <a:cubicBezTo>
                  <a:pt x="4622800" y="481450"/>
                  <a:pt x="4613166" y="504709"/>
                  <a:pt x="4596017" y="521857"/>
                </a:cubicBezTo>
                <a:cubicBezTo>
                  <a:pt x="4578868" y="539006"/>
                  <a:pt x="4555610" y="548640"/>
                  <a:pt x="4531358" y="548640"/>
                </a:cubicBezTo>
                <a:lnTo>
                  <a:pt x="1926167" y="548640"/>
                </a:lnTo>
                <a:lnTo>
                  <a:pt x="770467" y="548640"/>
                </a:lnTo>
                <a:lnTo>
                  <a:pt x="770467" y="548640"/>
                </a:lnTo>
                <a:lnTo>
                  <a:pt x="91442" y="548640"/>
                </a:lnTo>
                <a:cubicBezTo>
                  <a:pt x="67190" y="548640"/>
                  <a:pt x="43931" y="539006"/>
                  <a:pt x="26783" y="521857"/>
                </a:cubicBezTo>
                <a:cubicBezTo>
                  <a:pt x="9634" y="504708"/>
                  <a:pt x="0" y="481450"/>
                  <a:pt x="0" y="457198"/>
                </a:cubicBezTo>
                <a:lnTo>
                  <a:pt x="0" y="228600"/>
                </a:lnTo>
                <a:lnTo>
                  <a:pt x="0" y="91440"/>
                </a:lnTo>
                <a:lnTo>
                  <a:pt x="0" y="91440"/>
                </a:lnTo>
                <a:lnTo>
                  <a:pt x="0" y="91442"/>
                </a:lnTo>
                <a:close/>
              </a:path>
            </a:pathLst>
          </a:custGeom>
          <a:solidFill>
            <a:schemeClr val="tx1">
              <a:alpha val="80000"/>
            </a:schemeClr>
          </a:solidFill>
          <a:ln w="19050">
            <a:solidFill>
              <a:schemeClr val="tx1">
                <a:alpha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800" b="1" dirty="0">
                <a:solidFill>
                  <a:schemeClr val="bg2"/>
                </a:solidFill>
              </a:rPr>
              <a:t>Задаване на стъпка 3 </a:t>
            </a:r>
          </a:p>
        </p:txBody>
      </p:sp>
    </p:spTree>
    <p:extLst>
      <p:ext uri="{BB962C8B-B14F-4D97-AF65-F5344CB8AC3E}">
        <p14:creationId xmlns:p14="http://schemas.microsoft.com/office/powerpoint/2010/main" val="32540532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6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sz="3600" dirty="0"/>
              <a:t>Напишете функция, която:</a:t>
            </a:r>
          </a:p>
          <a:p>
            <a:pPr lvl="1"/>
            <a:r>
              <a:rPr lang="bg-BG" sz="3200" dirty="0"/>
              <a:t>Получава цяло число </a:t>
            </a:r>
            <a:r>
              <a:rPr lang="en-US" sz="3200" b="1" dirty="0">
                <a:solidFill>
                  <a:schemeClr val="bg1"/>
                </a:solidFill>
                <a:latin typeface="Consolas" panose="020B0609020204030204" pitchFamily="49" charset="0"/>
              </a:rPr>
              <a:t>n</a:t>
            </a:r>
          </a:p>
          <a:p>
            <a:pPr lvl="1"/>
            <a:r>
              <a:rPr lang="bg-BG" sz="3200" dirty="0"/>
              <a:t>Отпечатва четните степени на </a:t>
            </a:r>
            <a:r>
              <a:rPr lang="bg-BG" sz="3200" b="1" dirty="0"/>
              <a:t>2</a:t>
            </a:r>
            <a:r>
              <a:rPr lang="bg-BG" sz="3200" dirty="0"/>
              <a:t> до </a:t>
            </a:r>
            <a:r>
              <a:rPr lang="en-US" sz="3200" b="1" dirty="0"/>
              <a:t>2</a:t>
            </a:r>
            <a:r>
              <a:rPr lang="en-US" sz="3200" b="1" baseline="30000" dirty="0">
                <a:solidFill>
                  <a:schemeClr val="bg1"/>
                </a:solidFill>
              </a:rPr>
              <a:t>n</a:t>
            </a:r>
            <a:r>
              <a:rPr lang="bg-BG" sz="3200" dirty="0"/>
              <a:t>: 2</a:t>
            </a:r>
            <a:r>
              <a:rPr lang="bg-BG" sz="3200" baseline="30000" dirty="0"/>
              <a:t>0</a:t>
            </a:r>
            <a:r>
              <a:rPr lang="bg-BG" sz="3200" dirty="0"/>
              <a:t>, 2</a:t>
            </a:r>
            <a:r>
              <a:rPr lang="bg-BG" sz="3200" baseline="30000" dirty="0"/>
              <a:t>2</a:t>
            </a:r>
            <a:r>
              <a:rPr lang="bg-BG" sz="3200" dirty="0"/>
              <a:t>, 2</a:t>
            </a:r>
            <a:r>
              <a:rPr lang="bg-BG" sz="3200" baseline="30000" dirty="0"/>
              <a:t>4</a:t>
            </a:r>
            <a:r>
              <a:rPr lang="bg-BG" sz="3200" dirty="0"/>
              <a:t>, 2</a:t>
            </a:r>
            <a:r>
              <a:rPr lang="bg-BG" sz="3200" baseline="30000" dirty="0"/>
              <a:t>8</a:t>
            </a:r>
            <a:r>
              <a:rPr lang="bg-BG" sz="3200" dirty="0"/>
              <a:t>, …, </a:t>
            </a:r>
            <a:r>
              <a:rPr lang="bg-BG" sz="3200" b="1" dirty="0"/>
              <a:t>2</a:t>
            </a:r>
            <a:r>
              <a:rPr lang="en-US" sz="3200" b="1" baseline="30000" dirty="0"/>
              <a:t>n</a:t>
            </a:r>
            <a:endParaRPr lang="bg-BG" sz="3200" b="1" dirty="0"/>
          </a:p>
          <a:p>
            <a:r>
              <a:rPr lang="bg-BG" sz="3600" dirty="0"/>
              <a:t>Примерен вход и изход:</a:t>
            </a:r>
          </a:p>
          <a:p>
            <a:pPr marL="0" indent="0">
              <a:buNone/>
            </a:pPr>
            <a:endParaRPr lang="bg-BG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Четни степени на 2 – условие</a:t>
            </a:r>
            <a:r>
              <a:rPr lang="en-US" dirty="0"/>
              <a:t> </a:t>
            </a:r>
          </a:p>
        </p:txBody>
      </p:sp>
      <p:sp>
        <p:nvSpPr>
          <p:cNvPr id="11" name="Rectangle 5"/>
          <p:cNvSpPr>
            <a:spLocks noChangeArrowheads="1"/>
          </p:cNvSpPr>
          <p:nvPr/>
        </p:nvSpPr>
        <p:spPr bwMode="auto">
          <a:xfrm>
            <a:off x="1143000" y="4191001"/>
            <a:ext cx="685800" cy="641073"/>
          </a:xfrm>
          <a:prstGeom prst="rect">
            <a:avLst/>
          </a:prstGeom>
          <a:solidFill>
            <a:schemeClr val="accent5">
              <a:lumMod val="60000"/>
              <a:lumOff val="4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algn="ctr" eaLnBrk="0" hangingPunct="0">
              <a:lnSpc>
                <a:spcPct val="12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bg-BG" sz="3200" b="1" noProof="1">
                <a:latin typeface="Consolas" pitchFamily="49" charset="0"/>
                <a:cs typeface="Consolas" pitchFamily="49" charset="0"/>
              </a:rPr>
              <a:t>10</a:t>
            </a:r>
            <a:endParaRPr lang="en-US" sz="3200" b="1" noProof="1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2" name="Стрелка надясно 11"/>
          <p:cNvSpPr/>
          <p:nvPr/>
        </p:nvSpPr>
        <p:spPr>
          <a:xfrm>
            <a:off x="2051684" y="4359136"/>
            <a:ext cx="326708" cy="3048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  <p:sp>
        <p:nvSpPr>
          <p:cNvPr id="13" name="Rectangle 5"/>
          <p:cNvSpPr>
            <a:spLocks noChangeArrowheads="1"/>
          </p:cNvSpPr>
          <p:nvPr/>
        </p:nvSpPr>
        <p:spPr bwMode="auto">
          <a:xfrm>
            <a:off x="2601276" y="4191000"/>
            <a:ext cx="4343400" cy="641073"/>
          </a:xfrm>
          <a:prstGeom prst="rect">
            <a:avLst/>
          </a:prstGeom>
          <a:solidFill>
            <a:schemeClr val="accent5">
              <a:lumMod val="60000"/>
              <a:lumOff val="4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algn="ctr" eaLnBrk="0" hangingPunct="0">
              <a:lnSpc>
                <a:spcPct val="12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bg-BG" sz="3200" b="1" noProof="1">
                <a:latin typeface="Consolas" pitchFamily="49" charset="0"/>
                <a:cs typeface="Consolas" pitchFamily="49" charset="0"/>
              </a:rPr>
              <a:t>1, 4, 16 , …, 1024</a:t>
            </a:r>
            <a:endParaRPr lang="en-US" sz="3200" b="1" noProof="1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1143000" y="5400584"/>
            <a:ext cx="685800" cy="641073"/>
          </a:xfrm>
          <a:prstGeom prst="rect">
            <a:avLst/>
          </a:prstGeom>
          <a:solidFill>
            <a:schemeClr val="accent5">
              <a:lumMod val="60000"/>
              <a:lumOff val="4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algn="ctr" eaLnBrk="0" hangingPunct="0">
              <a:lnSpc>
                <a:spcPct val="12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bg-BG" sz="3200" b="1" noProof="1">
                <a:latin typeface="Consolas" pitchFamily="49" charset="0"/>
                <a:cs typeface="Consolas" pitchFamily="49" charset="0"/>
              </a:rPr>
              <a:t>7</a:t>
            </a:r>
            <a:endParaRPr lang="en-US" sz="3200" b="1" noProof="1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9" name="Стрелка надясно 11"/>
          <p:cNvSpPr/>
          <p:nvPr/>
        </p:nvSpPr>
        <p:spPr>
          <a:xfrm>
            <a:off x="2051684" y="5568719"/>
            <a:ext cx="326708" cy="3048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  <p:sp>
        <p:nvSpPr>
          <p:cNvPr id="10" name="Rectangle 5"/>
          <p:cNvSpPr>
            <a:spLocks noChangeArrowheads="1"/>
          </p:cNvSpPr>
          <p:nvPr/>
        </p:nvSpPr>
        <p:spPr bwMode="auto">
          <a:xfrm>
            <a:off x="2601276" y="5400583"/>
            <a:ext cx="3842384" cy="641073"/>
          </a:xfrm>
          <a:prstGeom prst="rect">
            <a:avLst/>
          </a:prstGeom>
          <a:solidFill>
            <a:schemeClr val="accent5">
              <a:lumMod val="60000"/>
              <a:lumOff val="4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algn="ctr" eaLnBrk="0" hangingPunct="0">
              <a:lnSpc>
                <a:spcPct val="12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bg-BG" sz="3200" b="1" noProof="1">
                <a:latin typeface="Consolas" pitchFamily="49" charset="0"/>
                <a:cs typeface="Consolas" pitchFamily="49" charset="0"/>
              </a:rPr>
              <a:t>1, 4, 16 ,</a:t>
            </a:r>
            <a:r>
              <a:rPr lang="en-US" sz="3200" b="1" noProof="1">
                <a:latin typeface="Consolas" pitchFamily="49" charset="0"/>
                <a:cs typeface="Consolas" pitchFamily="49" charset="0"/>
              </a:rPr>
              <a:t> …,</a:t>
            </a:r>
            <a:r>
              <a:rPr lang="bg-BG" sz="3200" b="1" noProof="1">
                <a:latin typeface="Consolas" pitchFamily="49" charset="0"/>
                <a:cs typeface="Consolas" pitchFamily="49" charset="0"/>
              </a:rPr>
              <a:t> 64</a:t>
            </a:r>
            <a:endParaRPr lang="en-US" sz="3200" b="1" noProof="1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4" name="Slide Number">
            <a:extLst>
              <a:ext uri="{FF2B5EF4-FFF2-40B4-BE49-F238E27FC236}">
                <a16:creationId xmlns:a16="http://schemas.microsoft.com/office/drawing/2014/main" id="{023077AE-03A0-496D-BC76-3A1F719CA2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26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1861465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8" grpId="0" animBg="1"/>
      <p:bldP spid="9" grpId="0" animBg="1"/>
      <p:bldP spid="10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1551000" y="1764000"/>
            <a:ext cx="9021700" cy="4186659"/>
          </a:xfrm>
          <a:prstGeom prst="rect">
            <a:avLst/>
          </a:prstGeom>
          <a:solidFill>
            <a:schemeClr val="accent5">
              <a:lumMod val="60000"/>
              <a:lumOff val="4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lnSpc>
                <a:spcPct val="12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3200" b="1" noProof="1">
                <a:latin typeface="Consolas" pitchFamily="49" charset="0"/>
                <a:cs typeface="Consolas" pitchFamily="49" charset="0"/>
              </a:rPr>
              <a:t>function evenDegrees (n){</a:t>
            </a:r>
          </a:p>
          <a:p>
            <a:pPr eaLnBrk="0" hangingPunct="0">
              <a:lnSpc>
                <a:spcPct val="12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pt-BR" sz="3200" b="1" noProof="1">
                <a:latin typeface="Consolas" pitchFamily="49" charset="0"/>
                <a:cs typeface="Consolas" pitchFamily="49" charset="0"/>
              </a:rPr>
              <a:t>  let num = 1;</a:t>
            </a:r>
          </a:p>
          <a:p>
            <a:pPr eaLnBrk="0" hangingPunct="0">
              <a:lnSpc>
                <a:spcPct val="12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pt-BR" sz="3200" b="1" noProof="1">
                <a:latin typeface="Consolas" pitchFamily="49" charset="0"/>
                <a:cs typeface="Consolas" pitchFamily="49" charset="0"/>
              </a:rPr>
              <a:t>  for (</a:t>
            </a:r>
            <a:r>
              <a:rPr lang="en-US" sz="3200" b="1" noProof="1">
                <a:latin typeface="Consolas" pitchFamily="49" charset="0"/>
                <a:cs typeface="Consolas" pitchFamily="49" charset="0"/>
              </a:rPr>
              <a:t>let</a:t>
            </a:r>
            <a:r>
              <a:rPr lang="pt-BR" sz="3200" b="1" noProof="1">
                <a:latin typeface="Consolas" pitchFamily="49" charset="0"/>
                <a:cs typeface="Consolas" pitchFamily="49" charset="0"/>
              </a:rPr>
              <a:t> i = 0; i &lt;= n; i += 2)</a:t>
            </a:r>
            <a:r>
              <a:rPr lang="bg-BG" sz="3200" b="1" noProof="1">
                <a:latin typeface="Consolas" pitchFamily="49" charset="0"/>
                <a:cs typeface="Consolas" pitchFamily="49" charset="0"/>
              </a:rPr>
              <a:t> </a:t>
            </a:r>
            <a:r>
              <a:rPr lang="pt-BR" sz="3200" b="1" noProof="1">
                <a:latin typeface="Consolas" pitchFamily="49" charset="0"/>
                <a:cs typeface="Consolas" pitchFamily="49" charset="0"/>
              </a:rPr>
              <a:t>{</a:t>
            </a:r>
          </a:p>
          <a:p>
            <a:pPr eaLnBrk="0" hangingPunct="0">
              <a:lnSpc>
                <a:spcPct val="12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pt-BR" sz="3200" b="1" noProof="1">
                <a:latin typeface="Consolas" pitchFamily="49" charset="0"/>
                <a:cs typeface="Consolas" pitchFamily="49" charset="0"/>
              </a:rPr>
              <a:t>    console.log(num);</a:t>
            </a:r>
          </a:p>
          <a:p>
            <a:pPr eaLnBrk="0" hangingPunct="0">
              <a:lnSpc>
                <a:spcPct val="12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pt-BR" sz="3200" b="1" noProof="1">
                <a:latin typeface="Consolas" pitchFamily="49" charset="0"/>
                <a:cs typeface="Consolas" pitchFamily="49" charset="0"/>
              </a:rPr>
              <a:t>    num = num * 2 * 2;</a:t>
            </a:r>
          </a:p>
          <a:p>
            <a:pPr eaLnBrk="0" hangingPunct="0">
              <a:lnSpc>
                <a:spcPct val="12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pt-BR" sz="3200" b="1" noProof="1">
                <a:latin typeface="Consolas" pitchFamily="49" charset="0"/>
                <a:cs typeface="Consolas" pitchFamily="49" charset="0"/>
              </a:rPr>
              <a:t>  }</a:t>
            </a:r>
          </a:p>
          <a:p>
            <a:pPr eaLnBrk="0" hangingPunct="0">
              <a:lnSpc>
                <a:spcPct val="12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pt-BR" sz="3200" b="1" noProof="1">
                <a:latin typeface="Consolas" pitchFamily="49" charset="0"/>
                <a:cs typeface="Consolas" pitchFamily="49" charset="0"/>
              </a:rPr>
              <a:t>}</a:t>
            </a:r>
            <a:endParaRPr lang="en-US" sz="3200" b="1" noProof="1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8" name="Rectangle 7"/>
          <p:cNvSpPr/>
          <p:nvPr/>
        </p:nvSpPr>
        <p:spPr>
          <a:xfrm flipV="1">
            <a:off x="7401000" y="3019040"/>
            <a:ext cx="1440000" cy="533400"/>
          </a:xfrm>
          <a:prstGeom prst="rect">
            <a:avLst/>
          </a:prstGeom>
          <a:noFill/>
          <a:ln w="508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>
              <a:solidFill>
                <a:schemeClr val="bg1"/>
              </a:solidFill>
            </a:endParaRPr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1E753453-FEA1-4226-A8ED-55DF652E62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27</a:t>
            </a:fld>
            <a:endParaRPr lang="en-US" noProof="0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/>
              <a:t>Четни степени на 2 – решение</a:t>
            </a:r>
            <a:r>
              <a:rPr lang="en-US"/>
              <a:t> </a:t>
            </a:r>
            <a:endParaRPr lang="en-US" dirty="0"/>
          </a:p>
        </p:txBody>
      </p:sp>
      <p:sp>
        <p:nvSpPr>
          <p:cNvPr id="10" name="AutoShape 7"/>
          <p:cNvSpPr>
            <a:spLocks noChangeArrowheads="1"/>
          </p:cNvSpPr>
          <p:nvPr/>
        </p:nvSpPr>
        <p:spPr bwMode="auto">
          <a:xfrm>
            <a:off x="7870256" y="3808492"/>
            <a:ext cx="2102144" cy="943057"/>
          </a:xfrm>
          <a:custGeom>
            <a:avLst/>
            <a:gdLst>
              <a:gd name="connsiteX0" fmla="*/ 0 w 2133600"/>
              <a:gd name="connsiteY0" fmla="*/ 157179 h 943057"/>
              <a:gd name="connsiteX1" fmla="*/ 46037 w 2133600"/>
              <a:gd name="connsiteY1" fmla="*/ 46037 h 943057"/>
              <a:gd name="connsiteX2" fmla="*/ 157179 w 2133600"/>
              <a:gd name="connsiteY2" fmla="*/ 0 h 943057"/>
              <a:gd name="connsiteX3" fmla="*/ 355600 w 2133600"/>
              <a:gd name="connsiteY3" fmla="*/ 0 h 943057"/>
              <a:gd name="connsiteX4" fmla="*/ 350508 w 2133600"/>
              <a:gd name="connsiteY4" fmla="*/ -322846 h 943057"/>
              <a:gd name="connsiteX5" fmla="*/ 889000 w 2133600"/>
              <a:gd name="connsiteY5" fmla="*/ 0 h 943057"/>
              <a:gd name="connsiteX6" fmla="*/ 1976421 w 2133600"/>
              <a:gd name="connsiteY6" fmla="*/ 0 h 943057"/>
              <a:gd name="connsiteX7" fmla="*/ 2087563 w 2133600"/>
              <a:gd name="connsiteY7" fmla="*/ 46037 h 943057"/>
              <a:gd name="connsiteX8" fmla="*/ 2133600 w 2133600"/>
              <a:gd name="connsiteY8" fmla="*/ 157179 h 943057"/>
              <a:gd name="connsiteX9" fmla="*/ 2133600 w 2133600"/>
              <a:gd name="connsiteY9" fmla="*/ 157176 h 943057"/>
              <a:gd name="connsiteX10" fmla="*/ 2133600 w 2133600"/>
              <a:gd name="connsiteY10" fmla="*/ 157176 h 943057"/>
              <a:gd name="connsiteX11" fmla="*/ 2133600 w 2133600"/>
              <a:gd name="connsiteY11" fmla="*/ 392940 h 943057"/>
              <a:gd name="connsiteX12" fmla="*/ 2133600 w 2133600"/>
              <a:gd name="connsiteY12" fmla="*/ 785878 h 943057"/>
              <a:gd name="connsiteX13" fmla="*/ 2087563 w 2133600"/>
              <a:gd name="connsiteY13" fmla="*/ 897020 h 943057"/>
              <a:gd name="connsiteX14" fmla="*/ 1976421 w 2133600"/>
              <a:gd name="connsiteY14" fmla="*/ 943057 h 943057"/>
              <a:gd name="connsiteX15" fmla="*/ 889000 w 2133600"/>
              <a:gd name="connsiteY15" fmla="*/ 943057 h 943057"/>
              <a:gd name="connsiteX16" fmla="*/ 355600 w 2133600"/>
              <a:gd name="connsiteY16" fmla="*/ 943057 h 943057"/>
              <a:gd name="connsiteX17" fmla="*/ 355600 w 2133600"/>
              <a:gd name="connsiteY17" fmla="*/ 943057 h 943057"/>
              <a:gd name="connsiteX18" fmla="*/ 157179 w 2133600"/>
              <a:gd name="connsiteY18" fmla="*/ 943057 h 943057"/>
              <a:gd name="connsiteX19" fmla="*/ 46037 w 2133600"/>
              <a:gd name="connsiteY19" fmla="*/ 897020 h 943057"/>
              <a:gd name="connsiteX20" fmla="*/ 0 w 2133600"/>
              <a:gd name="connsiteY20" fmla="*/ 785878 h 943057"/>
              <a:gd name="connsiteX21" fmla="*/ 0 w 2133600"/>
              <a:gd name="connsiteY21" fmla="*/ 392940 h 943057"/>
              <a:gd name="connsiteX22" fmla="*/ 0 w 2133600"/>
              <a:gd name="connsiteY22" fmla="*/ 157176 h 943057"/>
              <a:gd name="connsiteX23" fmla="*/ 0 w 2133600"/>
              <a:gd name="connsiteY23" fmla="*/ 157176 h 943057"/>
              <a:gd name="connsiteX24" fmla="*/ 0 w 2133600"/>
              <a:gd name="connsiteY24" fmla="*/ 157179 h 943057"/>
              <a:gd name="connsiteX0" fmla="*/ 0 w 2133600"/>
              <a:gd name="connsiteY0" fmla="*/ 157179 h 943057"/>
              <a:gd name="connsiteX1" fmla="*/ 46037 w 2133600"/>
              <a:gd name="connsiteY1" fmla="*/ 46037 h 943057"/>
              <a:gd name="connsiteX2" fmla="*/ 157179 w 2133600"/>
              <a:gd name="connsiteY2" fmla="*/ 0 h 943057"/>
              <a:gd name="connsiteX3" fmla="*/ 355600 w 2133600"/>
              <a:gd name="connsiteY3" fmla="*/ 0 h 943057"/>
              <a:gd name="connsiteX4" fmla="*/ 889000 w 2133600"/>
              <a:gd name="connsiteY4" fmla="*/ 0 h 943057"/>
              <a:gd name="connsiteX5" fmla="*/ 1976421 w 2133600"/>
              <a:gd name="connsiteY5" fmla="*/ 0 h 943057"/>
              <a:gd name="connsiteX6" fmla="*/ 2087563 w 2133600"/>
              <a:gd name="connsiteY6" fmla="*/ 46037 h 943057"/>
              <a:gd name="connsiteX7" fmla="*/ 2133600 w 2133600"/>
              <a:gd name="connsiteY7" fmla="*/ 157179 h 943057"/>
              <a:gd name="connsiteX8" fmla="*/ 2133600 w 2133600"/>
              <a:gd name="connsiteY8" fmla="*/ 157176 h 943057"/>
              <a:gd name="connsiteX9" fmla="*/ 2133600 w 2133600"/>
              <a:gd name="connsiteY9" fmla="*/ 157176 h 943057"/>
              <a:gd name="connsiteX10" fmla="*/ 2133600 w 2133600"/>
              <a:gd name="connsiteY10" fmla="*/ 392940 h 943057"/>
              <a:gd name="connsiteX11" fmla="*/ 2133600 w 2133600"/>
              <a:gd name="connsiteY11" fmla="*/ 785878 h 943057"/>
              <a:gd name="connsiteX12" fmla="*/ 2087563 w 2133600"/>
              <a:gd name="connsiteY12" fmla="*/ 897020 h 943057"/>
              <a:gd name="connsiteX13" fmla="*/ 1976421 w 2133600"/>
              <a:gd name="connsiteY13" fmla="*/ 943057 h 943057"/>
              <a:gd name="connsiteX14" fmla="*/ 889000 w 2133600"/>
              <a:gd name="connsiteY14" fmla="*/ 943057 h 943057"/>
              <a:gd name="connsiteX15" fmla="*/ 355600 w 2133600"/>
              <a:gd name="connsiteY15" fmla="*/ 943057 h 943057"/>
              <a:gd name="connsiteX16" fmla="*/ 355600 w 2133600"/>
              <a:gd name="connsiteY16" fmla="*/ 943057 h 943057"/>
              <a:gd name="connsiteX17" fmla="*/ 157179 w 2133600"/>
              <a:gd name="connsiteY17" fmla="*/ 943057 h 943057"/>
              <a:gd name="connsiteX18" fmla="*/ 46037 w 2133600"/>
              <a:gd name="connsiteY18" fmla="*/ 897020 h 943057"/>
              <a:gd name="connsiteX19" fmla="*/ 0 w 2133600"/>
              <a:gd name="connsiteY19" fmla="*/ 785878 h 943057"/>
              <a:gd name="connsiteX20" fmla="*/ 0 w 2133600"/>
              <a:gd name="connsiteY20" fmla="*/ 392940 h 943057"/>
              <a:gd name="connsiteX21" fmla="*/ 0 w 2133600"/>
              <a:gd name="connsiteY21" fmla="*/ 157176 h 943057"/>
              <a:gd name="connsiteX22" fmla="*/ 0 w 2133600"/>
              <a:gd name="connsiteY22" fmla="*/ 157176 h 943057"/>
              <a:gd name="connsiteX23" fmla="*/ 0 w 2133600"/>
              <a:gd name="connsiteY23" fmla="*/ 157179 h 9430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2133600" h="943057">
                <a:moveTo>
                  <a:pt x="0" y="157179"/>
                </a:moveTo>
                <a:cubicBezTo>
                  <a:pt x="0" y="115493"/>
                  <a:pt x="16560" y="75513"/>
                  <a:pt x="46037" y="46037"/>
                </a:cubicBezTo>
                <a:cubicBezTo>
                  <a:pt x="75514" y="16560"/>
                  <a:pt x="115493" y="0"/>
                  <a:pt x="157179" y="0"/>
                </a:cubicBezTo>
                <a:lnTo>
                  <a:pt x="355600" y="0"/>
                </a:lnTo>
                <a:lnTo>
                  <a:pt x="889000" y="0"/>
                </a:lnTo>
                <a:lnTo>
                  <a:pt x="1976421" y="0"/>
                </a:lnTo>
                <a:cubicBezTo>
                  <a:pt x="2018107" y="0"/>
                  <a:pt x="2058087" y="16560"/>
                  <a:pt x="2087563" y="46037"/>
                </a:cubicBezTo>
                <a:cubicBezTo>
                  <a:pt x="2117040" y="75514"/>
                  <a:pt x="2133600" y="115493"/>
                  <a:pt x="2133600" y="157179"/>
                </a:cubicBezTo>
                <a:lnTo>
                  <a:pt x="2133600" y="157176"/>
                </a:lnTo>
                <a:lnTo>
                  <a:pt x="2133600" y="157176"/>
                </a:lnTo>
                <a:lnTo>
                  <a:pt x="2133600" y="392940"/>
                </a:lnTo>
                <a:lnTo>
                  <a:pt x="2133600" y="785878"/>
                </a:lnTo>
                <a:cubicBezTo>
                  <a:pt x="2133600" y="827564"/>
                  <a:pt x="2117040" y="867544"/>
                  <a:pt x="2087563" y="897020"/>
                </a:cubicBezTo>
                <a:cubicBezTo>
                  <a:pt x="2058086" y="926497"/>
                  <a:pt x="2018107" y="943057"/>
                  <a:pt x="1976421" y="943057"/>
                </a:cubicBezTo>
                <a:lnTo>
                  <a:pt x="889000" y="943057"/>
                </a:lnTo>
                <a:lnTo>
                  <a:pt x="355600" y="943057"/>
                </a:lnTo>
                <a:lnTo>
                  <a:pt x="355600" y="943057"/>
                </a:lnTo>
                <a:lnTo>
                  <a:pt x="157179" y="943057"/>
                </a:lnTo>
                <a:cubicBezTo>
                  <a:pt x="115493" y="943057"/>
                  <a:pt x="75513" y="926497"/>
                  <a:pt x="46037" y="897020"/>
                </a:cubicBezTo>
                <a:cubicBezTo>
                  <a:pt x="16560" y="867543"/>
                  <a:pt x="0" y="827564"/>
                  <a:pt x="0" y="785878"/>
                </a:cubicBezTo>
                <a:lnTo>
                  <a:pt x="0" y="392940"/>
                </a:lnTo>
                <a:lnTo>
                  <a:pt x="0" y="157176"/>
                </a:lnTo>
                <a:lnTo>
                  <a:pt x="0" y="157176"/>
                </a:lnTo>
                <a:lnTo>
                  <a:pt x="0" y="157179"/>
                </a:lnTo>
                <a:close/>
              </a:path>
            </a:pathLst>
          </a:custGeom>
          <a:solidFill>
            <a:schemeClr val="tx1">
              <a:alpha val="80000"/>
            </a:schemeClr>
          </a:solidFill>
          <a:ln w="19050">
            <a:solidFill>
              <a:schemeClr val="tx1">
                <a:alpha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800" b="1" dirty="0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Ползваме стъпка 2</a:t>
            </a:r>
          </a:p>
        </p:txBody>
      </p:sp>
    </p:spTree>
    <p:extLst>
      <p:ext uri="{BB962C8B-B14F-4D97-AF65-F5344CB8AC3E}">
        <p14:creationId xmlns:p14="http://schemas.microsoft.com/office/powerpoint/2010/main" val="17733441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EDA9AC-DDF4-401D-A66B-A855835E36C7}"/>
              </a:ext>
            </a:extLst>
          </p:cNvPr>
          <p:cNvSpPr>
            <a:spLocks noGrp="1"/>
          </p:cNvSpPr>
          <p:nvPr>
            <p:ph type="title" sz="quarter" idx="10"/>
          </p:nvPr>
        </p:nvSpPr>
        <p:spPr/>
        <p:txBody>
          <a:bodyPr/>
          <a:lstStyle/>
          <a:p>
            <a:r>
              <a:rPr lang="bg-BG" dirty="0">
                <a:latin typeface="Consolas" panose="020B0609020204030204" pitchFamily="49" charset="0"/>
              </a:rPr>
              <a:t>Масиви – четене от масив</a:t>
            </a:r>
            <a:endParaRPr lang="bg-BG" dirty="0"/>
          </a:p>
        </p:txBody>
      </p:sp>
      <p:pic>
        <p:nvPicPr>
          <p:cNvPr id="4" name="Picture 1" descr="C:\Trash\array.png">
            <a:extLst>
              <a:ext uri="{FF2B5EF4-FFF2-40B4-BE49-F238E27FC236}">
                <a16:creationId xmlns:a16="http://schemas.microsoft.com/office/drawing/2014/main" id="{56077E10-BC06-4324-AFF9-E38DC7F574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5989" y="1981200"/>
            <a:ext cx="3200022" cy="1114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28622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5000">
        <p:fade/>
      </p:transition>
    </mc:Choice>
    <mc:Fallback xmlns="">
      <p:transition spd="med" advClick="0" advTm="5000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035" name="Rectangle 3"/>
          <p:cNvSpPr>
            <a:spLocks noGrp="1" noChangeArrowheads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bg-BG" dirty="0"/>
              <a:t>В програмирането </a:t>
            </a:r>
            <a:r>
              <a:rPr lang="bg-BG" b="1" dirty="0">
                <a:solidFill>
                  <a:schemeClr val="bg1"/>
                </a:solidFill>
              </a:rPr>
              <a:t>масив </a:t>
            </a:r>
            <a:r>
              <a:rPr lang="bg-BG" dirty="0"/>
              <a:t>е </a:t>
            </a:r>
            <a:r>
              <a:rPr lang="bg-BG" b="1" dirty="0">
                <a:solidFill>
                  <a:schemeClr val="bg1"/>
                </a:solidFill>
              </a:rPr>
              <a:t>поредица от елементи</a:t>
            </a:r>
            <a:endParaRPr lang="en-US" b="1" dirty="0">
              <a:solidFill>
                <a:schemeClr val="bg1"/>
              </a:solidFill>
            </a:endParaRPr>
          </a:p>
          <a:p>
            <a:pPr>
              <a:lnSpc>
                <a:spcPct val="100000"/>
              </a:lnSpc>
            </a:pPr>
            <a:endParaRPr lang="en-GB" b="1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buNone/>
            </a:pPr>
            <a:endParaRPr lang="en-GB" b="1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buNone/>
            </a:pPr>
            <a:endParaRPr lang="en-US" b="1" dirty="0">
              <a:solidFill>
                <a:schemeClr val="bg1"/>
              </a:solidFill>
            </a:endParaRPr>
          </a:p>
          <a:p>
            <a:pPr lvl="1">
              <a:lnSpc>
                <a:spcPct val="100000"/>
              </a:lnSpc>
            </a:pPr>
            <a:r>
              <a:rPr lang="bg-BG" dirty="0"/>
              <a:t>Можем да запазваме </a:t>
            </a:r>
            <a:r>
              <a:rPr lang="bg-BG" b="1" dirty="0">
                <a:solidFill>
                  <a:schemeClr val="bg1"/>
                </a:solidFill>
              </a:rPr>
              <a:t>много стойности</a:t>
            </a:r>
            <a:r>
              <a:rPr lang="en-GB" b="1" dirty="0"/>
              <a:t> </a:t>
            </a:r>
            <a:r>
              <a:rPr lang="bg-BG" dirty="0"/>
              <a:t>в една променлива</a:t>
            </a:r>
            <a:endParaRPr lang="en-US" dirty="0"/>
          </a:p>
          <a:p>
            <a:pPr lvl="1">
              <a:lnSpc>
                <a:spcPct val="100000"/>
              </a:lnSpc>
            </a:pPr>
            <a:r>
              <a:rPr lang="bg-BG" dirty="0"/>
              <a:t>Елементите са номерирани от</a:t>
            </a:r>
            <a:r>
              <a:rPr lang="en-US" dirty="0"/>
              <a:t> </a:t>
            </a:r>
            <a:r>
              <a:rPr lang="en-US" b="1" dirty="0">
                <a:solidFill>
                  <a:schemeClr val="bg1"/>
                </a:solidFill>
              </a:rPr>
              <a:t>0</a:t>
            </a:r>
            <a:r>
              <a:rPr lang="en-US" dirty="0"/>
              <a:t> </a:t>
            </a:r>
            <a:r>
              <a:rPr lang="bg-BG" dirty="0"/>
              <a:t>до</a:t>
            </a:r>
            <a:r>
              <a:rPr lang="en-US" dirty="0"/>
              <a:t> </a:t>
            </a:r>
            <a:r>
              <a:rPr lang="en-US" b="1" dirty="0">
                <a:solidFill>
                  <a:schemeClr val="bg1"/>
                </a:solidFill>
              </a:rPr>
              <a:t>length-1</a:t>
            </a:r>
          </a:p>
          <a:p>
            <a:pPr lvl="1">
              <a:lnSpc>
                <a:spcPct val="100000"/>
              </a:lnSpc>
            </a:pPr>
            <a:r>
              <a:rPr lang="bg-BG" dirty="0"/>
              <a:t>Масивите имат</a:t>
            </a:r>
            <a:r>
              <a:rPr lang="en-US" dirty="0"/>
              <a:t> </a:t>
            </a:r>
            <a:r>
              <a:rPr lang="bg-BG" b="1" dirty="0">
                <a:solidFill>
                  <a:schemeClr val="bg1"/>
                </a:solidFill>
              </a:rPr>
              <a:t>дължина </a:t>
            </a:r>
            <a:r>
              <a:rPr lang="en-US" dirty="0"/>
              <a:t>(</a:t>
            </a:r>
            <a:r>
              <a:rPr lang="en-US" b="1" noProof="1">
                <a:solidFill>
                  <a:schemeClr val="bg1"/>
                </a:solidFill>
              </a:rPr>
              <a:t>Array.length</a:t>
            </a:r>
            <a:r>
              <a:rPr lang="en-US" dirty="0"/>
              <a:t>)</a:t>
            </a:r>
            <a:endParaRPr lang="bg-BG" dirty="0"/>
          </a:p>
        </p:txBody>
      </p:sp>
      <p:sp>
        <p:nvSpPr>
          <p:cNvPr id="4280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Какво е масив</a:t>
            </a:r>
            <a:r>
              <a:rPr lang="en-US" dirty="0"/>
              <a:t>?</a:t>
            </a:r>
            <a:endParaRPr lang="bg-BG" dirty="0"/>
          </a:p>
        </p:txBody>
      </p:sp>
      <p:sp>
        <p:nvSpPr>
          <p:cNvPr id="15" name="AutoShape 23"/>
          <p:cNvSpPr>
            <a:spLocks noChangeArrowheads="1"/>
          </p:cNvSpPr>
          <p:nvPr/>
        </p:nvSpPr>
        <p:spPr bwMode="auto">
          <a:xfrm>
            <a:off x="2574898" y="2294277"/>
            <a:ext cx="2003397" cy="892851"/>
          </a:xfrm>
          <a:prstGeom prst="wedgeRoundRectCallout">
            <a:avLst>
              <a:gd name="adj1" fmla="val 67473"/>
              <a:gd name="adj2" fmla="val 25527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4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Масив от 5 елемента</a:t>
            </a:r>
          </a:p>
        </p:txBody>
      </p:sp>
      <p:sp>
        <p:nvSpPr>
          <p:cNvPr id="16" name="AutoShape 25"/>
          <p:cNvSpPr>
            <a:spLocks noChangeArrowheads="1"/>
          </p:cNvSpPr>
          <p:nvPr/>
        </p:nvSpPr>
        <p:spPr bwMode="auto">
          <a:xfrm>
            <a:off x="8597149" y="1875466"/>
            <a:ext cx="2549982" cy="708983"/>
          </a:xfrm>
          <a:prstGeom prst="wedgeRoundRectCallout">
            <a:avLst>
              <a:gd name="adj1" fmla="val -62220"/>
              <a:gd name="adj2" fmla="val 24918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4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Индекс на елемента</a:t>
            </a:r>
          </a:p>
        </p:txBody>
      </p:sp>
      <p:sp>
        <p:nvSpPr>
          <p:cNvPr id="17" name="AutoShape 24"/>
          <p:cNvSpPr>
            <a:spLocks noChangeArrowheads="1"/>
          </p:cNvSpPr>
          <p:nvPr/>
        </p:nvSpPr>
        <p:spPr bwMode="auto">
          <a:xfrm>
            <a:off x="8668937" y="3175778"/>
            <a:ext cx="3242121" cy="652770"/>
          </a:xfrm>
          <a:prstGeom prst="wedgeRoundRectCallout">
            <a:avLst>
              <a:gd name="adj1" fmla="val -61325"/>
              <a:gd name="adj2" fmla="val -37587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4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Елемент от масива</a:t>
            </a:r>
          </a:p>
        </p:txBody>
      </p:sp>
      <p:grpSp>
        <p:nvGrpSpPr>
          <p:cNvPr id="2" name="Group 10">
            <a:extLst>
              <a:ext uri="{FF2B5EF4-FFF2-40B4-BE49-F238E27FC236}">
                <a16:creationId xmlns:a16="http://schemas.microsoft.com/office/drawing/2014/main" id="{DB2D72F6-E05A-422D-942F-879975A25C53}"/>
              </a:ext>
            </a:extLst>
          </p:cNvPr>
          <p:cNvGrpSpPr/>
          <p:nvPr/>
        </p:nvGrpSpPr>
        <p:grpSpPr>
          <a:xfrm>
            <a:off x="5093232" y="1866725"/>
            <a:ext cx="3287291" cy="1320402"/>
            <a:chOff x="3503612" y="2468444"/>
            <a:chExt cx="3849320" cy="1546152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9E06450-9973-4288-B848-E410984C9ECB}"/>
                </a:ext>
              </a:extLst>
            </p:cNvPr>
            <p:cNvSpPr/>
            <p:nvPr/>
          </p:nvSpPr>
          <p:spPr bwMode="auto">
            <a:xfrm>
              <a:off x="3503612" y="3252596"/>
              <a:ext cx="762000" cy="762000"/>
            </a:xfrm>
            <a:prstGeom prst="rect">
              <a:avLst/>
            </a:prstGeom>
            <a:solidFill>
              <a:schemeClr val="dk2">
                <a:alpha val="80000"/>
              </a:schemeClr>
            </a:solidFill>
            <a:ln w="19050">
              <a:solidFill>
                <a:schemeClr val="tx1">
                  <a:lumMod val="75000"/>
                  <a:alpha val="8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001">
              <a:schemeClr val="dk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2800" b="1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…</a:t>
              </a:r>
              <a:endParaRPr lang="en-US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DE926991-674D-4378-94D4-750356B9BCEB}"/>
                </a:ext>
              </a:extLst>
            </p:cNvPr>
            <p:cNvSpPr/>
            <p:nvPr/>
          </p:nvSpPr>
          <p:spPr bwMode="auto">
            <a:xfrm>
              <a:off x="4265612" y="3252596"/>
              <a:ext cx="762000" cy="762000"/>
            </a:xfrm>
            <a:prstGeom prst="rect">
              <a:avLst/>
            </a:prstGeom>
            <a:solidFill>
              <a:schemeClr val="dk2">
                <a:alpha val="80000"/>
              </a:schemeClr>
            </a:solidFill>
            <a:ln w="19050">
              <a:solidFill>
                <a:schemeClr val="tx1">
                  <a:lumMod val="75000"/>
                  <a:alpha val="8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001">
              <a:schemeClr val="dk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2800" b="1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…</a:t>
              </a:r>
              <a:endParaRPr lang="en-US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05AA947D-C1EC-496A-9A08-96BF6C19520B}"/>
                </a:ext>
              </a:extLst>
            </p:cNvPr>
            <p:cNvSpPr/>
            <p:nvPr/>
          </p:nvSpPr>
          <p:spPr bwMode="auto">
            <a:xfrm>
              <a:off x="5027612" y="3252596"/>
              <a:ext cx="762000" cy="762000"/>
            </a:xfrm>
            <a:prstGeom prst="rect">
              <a:avLst/>
            </a:prstGeom>
            <a:solidFill>
              <a:schemeClr val="dk2">
                <a:alpha val="80000"/>
              </a:schemeClr>
            </a:solidFill>
            <a:ln w="19050">
              <a:solidFill>
                <a:schemeClr val="tx1">
                  <a:lumMod val="75000"/>
                  <a:alpha val="8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001">
              <a:schemeClr val="dk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2800" b="1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…</a:t>
              </a:r>
              <a:endParaRPr lang="en-US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F37D478C-E72F-4603-995E-0A4658156439}"/>
                </a:ext>
              </a:extLst>
            </p:cNvPr>
            <p:cNvSpPr/>
            <p:nvPr/>
          </p:nvSpPr>
          <p:spPr bwMode="auto">
            <a:xfrm>
              <a:off x="5789612" y="3252596"/>
              <a:ext cx="762000" cy="762000"/>
            </a:xfrm>
            <a:prstGeom prst="rect">
              <a:avLst/>
            </a:prstGeom>
            <a:solidFill>
              <a:schemeClr val="dk2">
                <a:alpha val="80000"/>
              </a:schemeClr>
            </a:solidFill>
            <a:ln w="19050">
              <a:solidFill>
                <a:schemeClr val="tx1">
                  <a:lumMod val="75000"/>
                  <a:alpha val="8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001">
              <a:schemeClr val="dk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2800" b="1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…</a:t>
              </a:r>
              <a:endParaRPr lang="en-US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0CE90339-BCA5-4CAF-9D2D-385FBEA9251B}"/>
                </a:ext>
              </a:extLst>
            </p:cNvPr>
            <p:cNvSpPr/>
            <p:nvPr/>
          </p:nvSpPr>
          <p:spPr bwMode="auto">
            <a:xfrm>
              <a:off x="6551612" y="3252596"/>
              <a:ext cx="762000" cy="762000"/>
            </a:xfrm>
            <a:prstGeom prst="rect">
              <a:avLst/>
            </a:prstGeom>
            <a:solidFill>
              <a:schemeClr val="dk2">
                <a:alpha val="80000"/>
              </a:schemeClr>
            </a:solidFill>
            <a:ln w="19050">
              <a:solidFill>
                <a:schemeClr val="tx1">
                  <a:lumMod val="75000"/>
                  <a:alpha val="8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001">
              <a:schemeClr val="dk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2800" b="1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…</a:t>
              </a:r>
              <a:endParaRPr lang="en-US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AC0BEC37-7587-4C55-AE9F-1D2BDA571846}"/>
                </a:ext>
              </a:extLst>
            </p:cNvPr>
            <p:cNvSpPr txBox="1"/>
            <p:nvPr/>
          </p:nvSpPr>
          <p:spPr>
            <a:xfrm>
              <a:off x="3662636" y="2468446"/>
              <a:ext cx="644618" cy="100863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none" lIns="144000" tIns="108000" rIns="144000" bIns="108000" rtlCol="0">
              <a:spAutoFit/>
            </a:bodyPr>
            <a:lstStyle/>
            <a:p>
              <a:pPr algn="l" eaLnBrk="0" hangingPunct="0">
                <a:lnSpc>
                  <a:spcPct val="110000"/>
                </a:lnSpc>
                <a:buClr>
                  <a:schemeClr val="accent5">
                    <a:lumMod val="40000"/>
                    <a:lumOff val="60000"/>
                  </a:schemeClr>
                </a:buClr>
                <a:buSzPct val="70000"/>
              </a:pPr>
              <a:r>
                <a:rPr lang="en-GB" sz="4000" dirty="0"/>
                <a:t>0</a:t>
              </a:r>
              <a:endParaRPr lang="en-US" sz="4000" dirty="0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EC9327BA-5268-41E5-BA92-4EB29AF78882}"/>
                </a:ext>
              </a:extLst>
            </p:cNvPr>
            <p:cNvSpPr txBox="1"/>
            <p:nvPr/>
          </p:nvSpPr>
          <p:spPr>
            <a:xfrm>
              <a:off x="4424636" y="2468446"/>
              <a:ext cx="644618" cy="100863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none" lIns="144000" tIns="108000" rIns="144000" bIns="108000" rtlCol="0">
              <a:spAutoFit/>
            </a:bodyPr>
            <a:lstStyle/>
            <a:p>
              <a:pPr algn="l" eaLnBrk="0" hangingPunct="0">
                <a:lnSpc>
                  <a:spcPct val="110000"/>
                </a:lnSpc>
                <a:buClr>
                  <a:schemeClr val="accent5">
                    <a:lumMod val="40000"/>
                    <a:lumOff val="60000"/>
                  </a:schemeClr>
                </a:buClr>
                <a:buSzPct val="70000"/>
              </a:pPr>
              <a:r>
                <a:rPr lang="en-GB" sz="4000" dirty="0"/>
                <a:t>1</a:t>
              </a:r>
              <a:endParaRPr lang="en-US" sz="4000" dirty="0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9A7DCF74-1BAE-499C-AF40-2FF7AC6E72B5}"/>
                </a:ext>
              </a:extLst>
            </p:cNvPr>
            <p:cNvSpPr txBox="1"/>
            <p:nvPr/>
          </p:nvSpPr>
          <p:spPr>
            <a:xfrm>
              <a:off x="5186636" y="2468444"/>
              <a:ext cx="644618" cy="100863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none" lIns="144000" tIns="108000" rIns="144000" bIns="108000" rtlCol="0">
              <a:spAutoFit/>
            </a:bodyPr>
            <a:lstStyle/>
            <a:p>
              <a:pPr algn="l" eaLnBrk="0" hangingPunct="0">
                <a:lnSpc>
                  <a:spcPct val="110000"/>
                </a:lnSpc>
                <a:buClr>
                  <a:schemeClr val="accent5">
                    <a:lumMod val="40000"/>
                    <a:lumOff val="60000"/>
                  </a:schemeClr>
                </a:buClr>
                <a:buSzPct val="70000"/>
              </a:pPr>
              <a:r>
                <a:rPr lang="en-GB" sz="4000" dirty="0"/>
                <a:t>2</a:t>
              </a:r>
              <a:endParaRPr lang="en-US" sz="4000" dirty="0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A3652F60-A2F5-474B-BCD0-AD600D1F74A0}"/>
                </a:ext>
              </a:extLst>
            </p:cNvPr>
            <p:cNvSpPr txBox="1"/>
            <p:nvPr/>
          </p:nvSpPr>
          <p:spPr>
            <a:xfrm>
              <a:off x="5948637" y="2472750"/>
              <a:ext cx="644618" cy="100863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none" lIns="144000" tIns="108000" rIns="144000" bIns="108000" rtlCol="0">
              <a:spAutoFit/>
            </a:bodyPr>
            <a:lstStyle/>
            <a:p>
              <a:pPr algn="l" eaLnBrk="0" hangingPunct="0">
                <a:lnSpc>
                  <a:spcPct val="110000"/>
                </a:lnSpc>
                <a:buClr>
                  <a:schemeClr val="accent5">
                    <a:lumMod val="40000"/>
                    <a:lumOff val="60000"/>
                  </a:schemeClr>
                </a:buClr>
                <a:buSzPct val="70000"/>
              </a:pPr>
              <a:r>
                <a:rPr lang="en-GB" sz="4000" dirty="0"/>
                <a:t>3</a:t>
              </a:r>
              <a:endParaRPr lang="en-US" sz="4000" dirty="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C2C6BEB4-88DE-421D-8420-8857FE7C977B}"/>
                </a:ext>
              </a:extLst>
            </p:cNvPr>
            <p:cNvSpPr txBox="1"/>
            <p:nvPr/>
          </p:nvSpPr>
          <p:spPr>
            <a:xfrm>
              <a:off x="6708314" y="2468445"/>
              <a:ext cx="644618" cy="100863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none" lIns="144000" tIns="108000" rIns="144000" bIns="108000" rtlCol="0">
              <a:spAutoFit/>
            </a:bodyPr>
            <a:lstStyle/>
            <a:p>
              <a:pPr algn="l" eaLnBrk="0" hangingPunct="0">
                <a:lnSpc>
                  <a:spcPct val="110000"/>
                </a:lnSpc>
                <a:buClr>
                  <a:schemeClr val="accent5">
                    <a:lumMod val="40000"/>
                    <a:lumOff val="60000"/>
                  </a:schemeClr>
                </a:buClr>
                <a:buSzPct val="70000"/>
              </a:pPr>
              <a:r>
                <a:rPr lang="en-GB" sz="4000" dirty="0"/>
                <a:t>4</a:t>
              </a:r>
              <a:endParaRPr lang="en-US" sz="4000" dirty="0"/>
            </a:p>
          </p:txBody>
        </p:sp>
      </p:grpSp>
      <p:sp>
        <p:nvSpPr>
          <p:cNvPr id="28" name="Slide Number">
            <a:extLst>
              <a:ext uri="{FF2B5EF4-FFF2-40B4-BE49-F238E27FC236}">
                <a16:creationId xmlns:a16="http://schemas.microsoft.com/office/drawing/2014/main" id="{1246069B-742D-4386-9728-50EA867B993C}"/>
              </a:ext>
            </a:extLst>
          </p:cNvPr>
          <p:cNvSpPr txBox="1">
            <a:spLocks/>
          </p:cNvSpPr>
          <p:nvPr/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BF067CD-8E6B-4360-9AA8-C5DF2A48A6D1}" type="slidenum">
              <a:rPr lang="en-US" smtClean="0"/>
              <a:pPr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269951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8035" grpId="0" build="p"/>
      <p:bldP spid="15" grpId="0" animBg="1"/>
      <p:bldP spid="16" grpId="0" animBg="1"/>
      <p:bldP spid="17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39B4BD4-4C46-4EB7-B068-F9C129D41FC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402" y="1196125"/>
            <a:ext cx="11818096" cy="5528766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bg-BG" sz="3200" dirty="0"/>
              <a:t>Както от подаден текст можем да прочетем само една буква, така можем да прочетем само един елемент от даден масив.</a:t>
            </a:r>
          </a:p>
          <a:p>
            <a:pPr latinLnBrk="0"/>
            <a:endParaRPr lang="en-US" dirty="0"/>
          </a:p>
        </p:txBody>
      </p:sp>
      <p:sp>
        <p:nvSpPr>
          <p:cNvPr id="14" name="Rectangle 5"/>
          <p:cNvSpPr>
            <a:spLocks noChangeArrowheads="1"/>
          </p:cNvSpPr>
          <p:nvPr/>
        </p:nvSpPr>
        <p:spPr bwMode="auto">
          <a:xfrm>
            <a:off x="2857500" y="2495550"/>
            <a:ext cx="6477000" cy="2936188"/>
          </a:xfrm>
          <a:prstGeom prst="rect">
            <a:avLst/>
          </a:prstGeom>
          <a:solidFill>
            <a:schemeClr val="accent5">
              <a:lumMod val="60000"/>
              <a:lumOff val="4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noProof="1">
                <a:latin typeface="Consolas" pitchFamily="49" charset="0"/>
                <a:cs typeface="Consolas" pitchFamily="49" charset="0"/>
              </a:rPr>
              <a:t>function solve (</a:t>
            </a: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input</a:t>
            </a:r>
            <a:r>
              <a:rPr lang="en-US" sz="2800" noProof="1">
                <a:latin typeface="Consolas" pitchFamily="49" charset="0"/>
                <a:cs typeface="Consolas" pitchFamily="49" charset="0"/>
              </a:rPr>
              <a:t>){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noProof="1">
                <a:latin typeface="Consolas" pitchFamily="49" charset="0"/>
                <a:cs typeface="Consolas" pitchFamily="49" charset="0"/>
              </a:rPr>
              <a:t>  console.log(input[0]);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noProof="1">
                <a:latin typeface="Consolas" pitchFamily="49" charset="0"/>
                <a:cs typeface="Consolas" pitchFamily="49" charset="0"/>
              </a:rPr>
              <a:t>  console.log(input[1]);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noProof="1">
                <a:latin typeface="Consolas" pitchFamily="49" charset="0"/>
                <a:cs typeface="Consolas" pitchFamily="49" charset="0"/>
              </a:rPr>
              <a:t>  console.log(input[2]);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noProof="1">
                <a:latin typeface="Consolas" pitchFamily="49" charset="0"/>
                <a:cs typeface="Consolas" pitchFamily="49" charset="0"/>
              </a:rPr>
              <a:t>}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noProof="1">
                <a:latin typeface="Consolas" pitchFamily="49" charset="0"/>
                <a:cs typeface="Consolas" pitchFamily="49" charset="0"/>
              </a:rPr>
              <a:t>solve(</a:t>
            </a: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[</a:t>
            </a:r>
            <a:r>
              <a:rPr lang="en-US" sz="2800" noProof="1">
                <a:latin typeface="Consolas" pitchFamily="49" charset="0"/>
                <a:cs typeface="Consolas" pitchFamily="49" charset="0"/>
              </a:rPr>
              <a:t> "a"</a:t>
            </a: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,</a:t>
            </a:r>
            <a:r>
              <a:rPr lang="en-US" sz="2800" noProof="1">
                <a:latin typeface="Consolas" pitchFamily="49" charset="0"/>
                <a:cs typeface="Consolas" pitchFamily="49" charset="0"/>
              </a:rPr>
              <a:t> "b"</a:t>
            </a: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,</a:t>
            </a:r>
            <a:r>
              <a:rPr lang="en-US" sz="2800" noProof="1">
                <a:latin typeface="Consolas" pitchFamily="49" charset="0"/>
                <a:cs typeface="Consolas" pitchFamily="49" charset="0"/>
              </a:rPr>
              <a:t> "c" </a:t>
            </a: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]</a:t>
            </a:r>
            <a:r>
              <a:rPr lang="en-US" sz="2800" noProof="1">
                <a:latin typeface="Consolas" pitchFamily="49" charset="0"/>
                <a:cs typeface="Consolas" pitchFamily="49" charset="0"/>
              </a:rPr>
              <a:t>)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Масиви – четене от масиви</a:t>
            </a:r>
            <a:endParaRPr lang="en-US" dirty="0"/>
          </a:p>
        </p:txBody>
      </p:sp>
      <p:sp>
        <p:nvSpPr>
          <p:cNvPr id="10" name="Rectangle 5"/>
          <p:cNvSpPr>
            <a:spLocks noChangeArrowheads="1"/>
          </p:cNvSpPr>
          <p:nvPr/>
        </p:nvSpPr>
        <p:spPr bwMode="auto">
          <a:xfrm>
            <a:off x="2857500" y="2492414"/>
            <a:ext cx="6477000" cy="2936188"/>
          </a:xfrm>
          <a:prstGeom prst="rect">
            <a:avLst/>
          </a:prstGeom>
          <a:solidFill>
            <a:schemeClr val="accent5">
              <a:lumMod val="60000"/>
              <a:lumOff val="4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latin typeface="Consolas" pitchFamily="49" charset="0"/>
                <a:cs typeface="Consolas" pitchFamily="49" charset="0"/>
              </a:rPr>
              <a:t>function solve (</a:t>
            </a: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input</a:t>
            </a:r>
            <a:r>
              <a:rPr lang="en-US" sz="2800" b="1" noProof="1">
                <a:latin typeface="Consolas" pitchFamily="49" charset="0"/>
                <a:cs typeface="Consolas" pitchFamily="49" charset="0"/>
              </a:rPr>
              <a:t>){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latin typeface="Consolas" pitchFamily="49" charset="0"/>
                <a:cs typeface="Consolas" pitchFamily="49" charset="0"/>
              </a:rPr>
              <a:t>  console.log(input[0]);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latin typeface="Consolas" pitchFamily="49" charset="0"/>
                <a:cs typeface="Consolas" pitchFamily="49" charset="0"/>
              </a:rPr>
              <a:t>  console.log(input[1]);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latin typeface="Consolas" pitchFamily="49" charset="0"/>
                <a:cs typeface="Consolas" pitchFamily="49" charset="0"/>
              </a:rPr>
              <a:t>  console.log(input[2]);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latin typeface="Consolas" pitchFamily="49" charset="0"/>
                <a:cs typeface="Consolas" pitchFamily="49" charset="0"/>
              </a:rPr>
              <a:t>}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latin typeface="Consolas" pitchFamily="49" charset="0"/>
                <a:cs typeface="Consolas" pitchFamily="49" charset="0"/>
              </a:rPr>
              <a:t>solve(</a:t>
            </a: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[</a:t>
            </a:r>
            <a:r>
              <a:rPr lang="en-US" sz="2800" b="1" noProof="1">
                <a:latin typeface="Consolas" pitchFamily="49" charset="0"/>
                <a:cs typeface="Consolas" pitchFamily="49" charset="0"/>
              </a:rPr>
              <a:t> "a"</a:t>
            </a: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,</a:t>
            </a:r>
            <a:r>
              <a:rPr lang="en-US" sz="2800" b="1" noProof="1">
                <a:latin typeface="Consolas" pitchFamily="49" charset="0"/>
                <a:cs typeface="Consolas" pitchFamily="49" charset="0"/>
              </a:rPr>
              <a:t> "b"</a:t>
            </a: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,</a:t>
            </a:r>
            <a:r>
              <a:rPr lang="en-US" sz="2800" b="1" noProof="1">
                <a:latin typeface="Consolas" pitchFamily="49" charset="0"/>
                <a:cs typeface="Consolas" pitchFamily="49" charset="0"/>
              </a:rPr>
              <a:t> "c" </a:t>
            </a: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]</a:t>
            </a:r>
            <a:r>
              <a:rPr lang="en-US" sz="2800" b="1" noProof="1">
                <a:latin typeface="Consolas" pitchFamily="49" charset="0"/>
                <a:cs typeface="Consolas" pitchFamily="49" charset="0"/>
              </a:rPr>
              <a:t>)</a:t>
            </a: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952EAB07-D228-4633-8D59-8B12A58E22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30</a:t>
            </a:fld>
            <a:endParaRPr lang="en-US" noProof="0" dirty="0"/>
          </a:p>
        </p:txBody>
      </p:sp>
      <p:sp>
        <p:nvSpPr>
          <p:cNvPr id="11" name="Правоъгълник 10"/>
          <p:cNvSpPr/>
          <p:nvPr/>
        </p:nvSpPr>
        <p:spPr>
          <a:xfrm>
            <a:off x="7740650" y="2994680"/>
            <a:ext cx="77617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noProof="1">
                <a:solidFill>
                  <a:schemeClr val="accent2"/>
                </a:solidFill>
                <a:latin typeface="Consolas" pitchFamily="49" charset="0"/>
                <a:cs typeface="Consolas" pitchFamily="49" charset="0"/>
              </a:rPr>
              <a:t>//a</a:t>
            </a:r>
            <a:endParaRPr lang="en-US" sz="2800" dirty="0"/>
          </a:p>
        </p:txBody>
      </p:sp>
      <p:sp>
        <p:nvSpPr>
          <p:cNvPr id="12" name="Правоъгълник 11"/>
          <p:cNvSpPr/>
          <p:nvPr/>
        </p:nvSpPr>
        <p:spPr>
          <a:xfrm>
            <a:off x="7740650" y="3439180"/>
            <a:ext cx="77617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noProof="1">
                <a:solidFill>
                  <a:schemeClr val="accent2"/>
                </a:solidFill>
                <a:latin typeface="Consolas" pitchFamily="49" charset="0"/>
                <a:cs typeface="Consolas" pitchFamily="49" charset="0"/>
              </a:rPr>
              <a:t>//b</a:t>
            </a:r>
            <a:endParaRPr lang="en-US" sz="2800" dirty="0"/>
          </a:p>
        </p:txBody>
      </p:sp>
      <p:sp>
        <p:nvSpPr>
          <p:cNvPr id="13" name="Правоъгълник 12"/>
          <p:cNvSpPr/>
          <p:nvPr/>
        </p:nvSpPr>
        <p:spPr>
          <a:xfrm>
            <a:off x="7740650" y="3883680"/>
            <a:ext cx="77617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noProof="1">
                <a:solidFill>
                  <a:schemeClr val="accent2"/>
                </a:solidFill>
                <a:latin typeface="Consolas" pitchFamily="49" charset="0"/>
                <a:cs typeface="Consolas" pitchFamily="49" charset="0"/>
              </a:rPr>
              <a:t>//c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1777729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21909B-737D-4078-AB2F-DBD3680D1DC1}"/>
              </a:ext>
            </a:extLst>
          </p:cNvPr>
          <p:cNvSpPr>
            <a:spLocks noGrp="1"/>
          </p:cNvSpPr>
          <p:nvPr>
            <p:ph type="title" sz="quarter" idx="10"/>
          </p:nvPr>
        </p:nvSpPr>
        <p:spPr/>
        <p:txBody>
          <a:bodyPr/>
          <a:lstStyle/>
          <a:p>
            <a:r>
              <a:rPr lang="bg-BG" dirty="0"/>
              <a:t>Работа с текст</a:t>
            </a:r>
          </a:p>
        </p:txBody>
      </p:sp>
      <p:pic>
        <p:nvPicPr>
          <p:cNvPr id="10" name="Picture 9" descr="A typewriter on a table&#10;&#10;Description automatically generated">
            <a:extLst>
              <a:ext uri="{FF2B5EF4-FFF2-40B4-BE49-F238E27FC236}">
                <a16:creationId xmlns:a16="http://schemas.microsoft.com/office/drawing/2014/main" id="{0E26AB4F-CF4F-45F0-B144-2D6BC472612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duotone>
              <a:prstClr val="black"/>
              <a:schemeClr val="accent5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4876800" y="1447801"/>
            <a:ext cx="2667000" cy="2261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66038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CECD6AF-3B1B-4762-B1DD-4E62E5EA297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bg-BG" sz="3600" dirty="0"/>
              <a:t>Можем да вземем дължината на текст</a:t>
            </a:r>
            <a:endParaRPr lang="en-US" sz="3600" dirty="0"/>
          </a:p>
          <a:p>
            <a:endParaRPr lang="en-US" sz="3600" dirty="0"/>
          </a:p>
          <a:p>
            <a:endParaRPr lang="en-US" sz="3600" dirty="0"/>
          </a:p>
          <a:p>
            <a:r>
              <a:rPr lang="bg-BG" sz="3600" dirty="0"/>
              <a:t>Можем да вземем символ от текст по индекс</a:t>
            </a:r>
            <a:r>
              <a:rPr lang="af-ZA" sz="3600" dirty="0"/>
              <a:t> (</a:t>
            </a:r>
            <a:r>
              <a:rPr lang="bg-BG" sz="3600" dirty="0"/>
              <a:t>използване на индексиращ оператор)</a:t>
            </a:r>
            <a:endParaRPr lang="en-US" sz="3600" dirty="0"/>
          </a:p>
          <a:p>
            <a:endParaRPr lang="en-US" sz="3600" dirty="0"/>
          </a:p>
          <a:p>
            <a:endParaRPr lang="en-US" sz="36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F42E1D9-AC52-406C-86A6-3CD18C4197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Работа с текст</a:t>
            </a:r>
            <a:endParaRPr lang="en-US" dirty="0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EA4A9F1-D580-4DB9-9AB4-22BBDBDE3F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0400" y="4815731"/>
            <a:ext cx="5990600" cy="1145826"/>
          </a:xfrm>
          <a:prstGeom prst="rect">
            <a:avLst/>
          </a:prstGeom>
          <a:solidFill>
            <a:schemeClr val="accent5">
              <a:lumMod val="60000"/>
              <a:lumOff val="4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3200" b="1" dirty="0">
                <a:latin typeface="Consolas" panose="020B0609020204030204" pitchFamily="49" charset="0"/>
              </a:rPr>
              <a:t>let text = 'SoftUni';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3200" b="1" dirty="0">
                <a:latin typeface="Consolas" panose="020B0609020204030204" pitchFamily="49" charset="0"/>
              </a:rPr>
              <a:t>let letter = text</a:t>
            </a:r>
            <a:r>
              <a:rPr lang="en-US" sz="3200" b="1" dirty="0">
                <a:solidFill>
                  <a:schemeClr val="bg1"/>
                </a:solidFill>
                <a:latin typeface="Consolas" panose="020B0609020204030204" pitchFamily="49" charset="0"/>
              </a:rPr>
              <a:t>[</a:t>
            </a:r>
            <a:r>
              <a:rPr lang="en-US" sz="3200" b="1" dirty="0">
                <a:latin typeface="Consolas" panose="020B0609020204030204" pitchFamily="49" charset="0"/>
              </a:rPr>
              <a:t>4</a:t>
            </a:r>
            <a:r>
              <a:rPr lang="en-US" sz="3200" b="1" dirty="0">
                <a:solidFill>
                  <a:schemeClr val="bg1"/>
                </a:solidFill>
                <a:latin typeface="Consolas" panose="020B0609020204030204" pitchFamily="49" charset="0"/>
              </a:rPr>
              <a:t>]</a:t>
            </a:r>
            <a:r>
              <a:rPr lang="en-US" sz="3200" b="1" dirty="0">
                <a:latin typeface="Consolas" panose="020B0609020204030204" pitchFamily="49" charset="0"/>
              </a:rPr>
              <a:t>;	</a:t>
            </a:r>
            <a:endParaRPr lang="en-US" sz="3200" b="1" dirty="0">
              <a:solidFill>
                <a:schemeClr val="accent2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9835296-4858-42D6-BF3F-BCA553EDD9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3521" y="1954863"/>
            <a:ext cx="6698902" cy="1145826"/>
          </a:xfrm>
          <a:prstGeom prst="rect">
            <a:avLst/>
          </a:prstGeom>
          <a:solidFill>
            <a:schemeClr val="accent5">
              <a:lumMod val="60000"/>
              <a:lumOff val="4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3200" b="1" dirty="0">
                <a:latin typeface="Consolas" panose="020B0609020204030204" pitchFamily="49" charset="0"/>
              </a:rPr>
              <a:t>let text = </a:t>
            </a:r>
            <a:r>
              <a:rPr lang="bg-BG" sz="3200" b="1" dirty="0">
                <a:latin typeface="Consolas" panose="020B0609020204030204" pitchFamily="49" charset="0"/>
              </a:rPr>
              <a:t>'</a:t>
            </a:r>
            <a:r>
              <a:rPr lang="en-US" sz="3200" b="1" dirty="0">
                <a:latin typeface="Consolas" panose="020B0609020204030204" pitchFamily="49" charset="0"/>
              </a:rPr>
              <a:t>SoftUni</a:t>
            </a:r>
            <a:r>
              <a:rPr lang="bg-BG" sz="3200" b="1" dirty="0">
                <a:latin typeface="Consolas" panose="020B0609020204030204" pitchFamily="49" charset="0"/>
              </a:rPr>
              <a:t>'</a:t>
            </a:r>
            <a:r>
              <a:rPr lang="en-US" sz="3200" b="1" dirty="0">
                <a:latin typeface="Consolas" panose="020B0609020204030204" pitchFamily="49" charset="0"/>
              </a:rPr>
              <a:t>;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3200" b="1" dirty="0">
                <a:latin typeface="Consolas" panose="020B0609020204030204" pitchFamily="49" charset="0"/>
              </a:rPr>
              <a:t>let length = text.</a:t>
            </a:r>
            <a:r>
              <a:rPr lang="en-US" sz="3200" b="1" dirty="0">
                <a:solidFill>
                  <a:schemeClr val="bg1"/>
                </a:solidFill>
                <a:latin typeface="Consolas" panose="020B0609020204030204" pitchFamily="49" charset="0"/>
              </a:rPr>
              <a:t>length</a:t>
            </a:r>
            <a:r>
              <a:rPr lang="en-US" sz="3200" b="1" dirty="0">
                <a:latin typeface="Consolas" panose="020B0609020204030204" pitchFamily="49" charset="0"/>
              </a:rPr>
              <a:t>;  </a:t>
            </a:r>
            <a:endParaRPr lang="en-US" sz="3200" b="1" dirty="0">
              <a:solidFill>
                <a:schemeClr val="accent2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16CDA61-884D-4DB8-BF9C-BC13F84F9D62}"/>
              </a:ext>
            </a:extLst>
          </p:cNvPr>
          <p:cNvSpPr txBox="1"/>
          <p:nvPr/>
        </p:nvSpPr>
        <p:spPr>
          <a:xfrm>
            <a:off x="6280857" y="2474320"/>
            <a:ext cx="1122649" cy="665924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144000" tIns="108000" rIns="144000" bIns="108000" rtlCol="0">
            <a:spAutoFit/>
          </a:bodyPr>
          <a:lstStyle/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dirty="0">
                <a:solidFill>
                  <a:schemeClr val="accent2"/>
                </a:solidFill>
                <a:latin typeface="Consolas" panose="020B0609020204030204" pitchFamily="49" charset="0"/>
              </a:rPr>
              <a:t>// 7</a:t>
            </a:r>
            <a:endParaRPr lang="bg-BG" sz="2800" b="1" dirty="0">
              <a:solidFill>
                <a:schemeClr val="accent2"/>
              </a:solidFill>
              <a:latin typeface="Consolas" panose="020B060902020403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CED1126-88B9-4E91-8FC6-08620D72EF42}"/>
              </a:ext>
            </a:extLst>
          </p:cNvPr>
          <p:cNvSpPr txBox="1"/>
          <p:nvPr/>
        </p:nvSpPr>
        <p:spPr>
          <a:xfrm>
            <a:off x="5400798" y="5328913"/>
            <a:ext cx="1600200" cy="665924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144000" tIns="108000" rIns="144000" bIns="108000" rtlCol="0">
            <a:spAutoFit/>
          </a:bodyPr>
          <a:lstStyle>
            <a:defPPr>
              <a:defRPr lang="en-US"/>
            </a:defPPr>
            <a:lvl1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 sz="2800" b="1">
                <a:solidFill>
                  <a:schemeClr val="accent2"/>
                </a:solidFill>
                <a:latin typeface="Consolas" panose="020B0609020204030204" pitchFamily="49" charset="0"/>
              </a:defRPr>
            </a:lvl1pPr>
          </a:lstStyle>
          <a:p>
            <a:r>
              <a:rPr lang="en-US" dirty="0"/>
              <a:t>// U</a:t>
            </a:r>
            <a:endParaRPr lang="bg-BG" dirty="0"/>
          </a:p>
        </p:txBody>
      </p:sp>
      <p:sp>
        <p:nvSpPr>
          <p:cNvPr id="11" name="Slide Number">
            <a:extLst>
              <a:ext uri="{FF2B5EF4-FFF2-40B4-BE49-F238E27FC236}">
                <a16:creationId xmlns:a16="http://schemas.microsoft.com/office/drawing/2014/main" id="{EDFDCF82-2D9E-444E-8CE4-5392750D95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32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2406698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/>
      <p:bldP spid="10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2FF7925-5700-4AAA-A161-E8E89D0D0A8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sz="3600" dirty="0"/>
              <a:t>Напишете функция, която </a:t>
            </a:r>
          </a:p>
          <a:p>
            <a:pPr lvl="1"/>
            <a:r>
              <a:rPr lang="bg-BG" sz="3400" dirty="0"/>
              <a:t>получава текст(</a:t>
            </a:r>
            <a:r>
              <a:rPr lang="bg-BG" sz="3400" b="1" dirty="0">
                <a:solidFill>
                  <a:schemeClr val="bg1"/>
                </a:solidFill>
              </a:rPr>
              <a:t>стринг</a:t>
            </a:r>
            <a:r>
              <a:rPr lang="bg-BG" sz="3400" dirty="0"/>
              <a:t>)</a:t>
            </a:r>
          </a:p>
          <a:p>
            <a:pPr lvl="1"/>
            <a:r>
              <a:rPr lang="bg-BG" sz="3400" dirty="0"/>
              <a:t>печата всеки </a:t>
            </a:r>
            <a:r>
              <a:rPr lang="bg-BG" sz="3400" b="1" dirty="0">
                <a:solidFill>
                  <a:schemeClr val="bg1"/>
                </a:solidFill>
              </a:rPr>
              <a:t>символ</a:t>
            </a:r>
            <a:r>
              <a:rPr lang="bg-BG" sz="3400" dirty="0"/>
              <a:t> от текста на отделен ред</a:t>
            </a:r>
          </a:p>
          <a:p>
            <a:r>
              <a:rPr lang="bg-BG" sz="3600" dirty="0"/>
              <a:t>Примерен вход и изход:</a:t>
            </a:r>
            <a:endParaRPr lang="en-US" sz="3600" dirty="0"/>
          </a:p>
          <a:p>
            <a:pPr marL="609219" lvl="1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D5ABC71-2EC2-459D-BEE1-A3F5E61006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/>
              <a:t>Поток от символи – условие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A9F1ED1-406E-4D98-96D7-4BDF4D2440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3053" y="4751705"/>
            <a:ext cx="1624002" cy="523220"/>
          </a:xfrm>
          <a:prstGeom prst="rect">
            <a:avLst/>
          </a:prstGeom>
          <a:solidFill>
            <a:schemeClr val="accent5">
              <a:lumMod val="60000"/>
              <a:lumOff val="4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algn="ctr"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dirty="0" err="1">
                <a:latin typeface="Consolas" pitchFamily="49" charset="0"/>
                <a:cs typeface="Consolas" pitchFamily="49" charset="0"/>
              </a:rPr>
              <a:t>softuni</a:t>
            </a:r>
            <a:endParaRPr lang="en-US" sz="2800" b="1" noProof="1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FF49CF3-05BF-4E30-8ABE-78323940A3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08222" y="3483314"/>
            <a:ext cx="609600" cy="3108543"/>
          </a:xfrm>
          <a:prstGeom prst="rect">
            <a:avLst/>
          </a:prstGeom>
          <a:solidFill>
            <a:schemeClr val="accent5">
              <a:lumMod val="60000"/>
              <a:lumOff val="4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algn="ctr"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latin typeface="Consolas" pitchFamily="49" charset="0"/>
                <a:cs typeface="Consolas" pitchFamily="49" charset="0"/>
              </a:rPr>
              <a:t>s</a:t>
            </a:r>
          </a:p>
          <a:p>
            <a:pPr algn="ctr"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latin typeface="Consolas" pitchFamily="49" charset="0"/>
                <a:cs typeface="Consolas" pitchFamily="49" charset="0"/>
              </a:rPr>
              <a:t>o</a:t>
            </a:r>
          </a:p>
          <a:p>
            <a:pPr algn="ctr"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latin typeface="Consolas" pitchFamily="49" charset="0"/>
                <a:cs typeface="Consolas" pitchFamily="49" charset="0"/>
              </a:rPr>
              <a:t>f</a:t>
            </a:r>
          </a:p>
          <a:p>
            <a:pPr algn="ctr"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latin typeface="Consolas" pitchFamily="49" charset="0"/>
                <a:cs typeface="Consolas" pitchFamily="49" charset="0"/>
              </a:rPr>
              <a:t>t</a:t>
            </a:r>
          </a:p>
          <a:p>
            <a:pPr algn="ctr"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latin typeface="Consolas" pitchFamily="49" charset="0"/>
                <a:cs typeface="Consolas" pitchFamily="49" charset="0"/>
              </a:rPr>
              <a:t>u</a:t>
            </a:r>
          </a:p>
          <a:p>
            <a:pPr algn="ctr"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latin typeface="Consolas" pitchFamily="49" charset="0"/>
                <a:cs typeface="Consolas" pitchFamily="49" charset="0"/>
              </a:rPr>
              <a:t>n</a:t>
            </a:r>
          </a:p>
          <a:p>
            <a:pPr algn="ctr"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latin typeface="Consolas" pitchFamily="49" charset="0"/>
                <a:cs typeface="Consolas" pitchFamily="49" charset="0"/>
              </a:rPr>
              <a:t>i</a:t>
            </a:r>
            <a:endParaRPr lang="bg-BG" sz="2800" b="1" noProof="1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7" name="Right Arrow 11">
            <a:extLst>
              <a:ext uri="{FF2B5EF4-FFF2-40B4-BE49-F238E27FC236}">
                <a16:creationId xmlns:a16="http://schemas.microsoft.com/office/drawing/2014/main" id="{35BD77F1-33C5-45DF-9298-35A6D21D20F2}"/>
              </a:ext>
            </a:extLst>
          </p:cNvPr>
          <p:cNvSpPr/>
          <p:nvPr/>
        </p:nvSpPr>
        <p:spPr>
          <a:xfrm>
            <a:off x="7050740" y="4860915"/>
            <a:ext cx="457200" cy="3048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1910901-B738-4C36-AFB5-C0A9C83F8E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2230" y="4775976"/>
            <a:ext cx="1174183" cy="523220"/>
          </a:xfrm>
          <a:prstGeom prst="rect">
            <a:avLst/>
          </a:prstGeom>
          <a:solidFill>
            <a:schemeClr val="accent5">
              <a:lumMod val="60000"/>
              <a:lumOff val="4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algn="ctr"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latin typeface="Consolas" pitchFamily="49" charset="0"/>
                <a:cs typeface="Consolas" pitchFamily="49" charset="0"/>
              </a:rPr>
              <a:t>hello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743C89C-8489-4FE2-B39C-6ECEE30801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7683" y="3995991"/>
            <a:ext cx="609600" cy="2246769"/>
          </a:xfrm>
          <a:prstGeom prst="rect">
            <a:avLst/>
          </a:prstGeom>
          <a:solidFill>
            <a:schemeClr val="accent5">
              <a:lumMod val="60000"/>
              <a:lumOff val="4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algn="ctr"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latin typeface="Consolas" pitchFamily="49" charset="0"/>
                <a:cs typeface="Consolas" pitchFamily="49" charset="0"/>
              </a:rPr>
              <a:t>h</a:t>
            </a:r>
          </a:p>
          <a:p>
            <a:pPr algn="ctr"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latin typeface="Consolas" pitchFamily="49" charset="0"/>
                <a:cs typeface="Consolas" pitchFamily="49" charset="0"/>
              </a:rPr>
              <a:t>e</a:t>
            </a:r>
          </a:p>
          <a:p>
            <a:pPr algn="ctr"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latin typeface="Consolas" pitchFamily="49" charset="0"/>
                <a:cs typeface="Consolas" pitchFamily="49" charset="0"/>
              </a:rPr>
              <a:t>l</a:t>
            </a:r>
          </a:p>
          <a:p>
            <a:pPr algn="ctr"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latin typeface="Consolas" pitchFamily="49" charset="0"/>
                <a:cs typeface="Consolas" pitchFamily="49" charset="0"/>
              </a:rPr>
              <a:t>l</a:t>
            </a:r>
          </a:p>
          <a:p>
            <a:pPr algn="ctr"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latin typeface="Consolas" pitchFamily="49" charset="0"/>
                <a:cs typeface="Consolas" pitchFamily="49" charset="0"/>
              </a:rPr>
              <a:t>o</a:t>
            </a:r>
          </a:p>
        </p:txBody>
      </p:sp>
      <p:sp>
        <p:nvSpPr>
          <p:cNvPr id="10" name="Right Arrow 11">
            <a:extLst>
              <a:ext uri="{FF2B5EF4-FFF2-40B4-BE49-F238E27FC236}">
                <a16:creationId xmlns:a16="http://schemas.microsoft.com/office/drawing/2014/main" id="{AF0DFC4F-ECFC-4AFA-B367-E42A8FCEBD3F}"/>
              </a:ext>
            </a:extLst>
          </p:cNvPr>
          <p:cNvSpPr/>
          <p:nvPr/>
        </p:nvSpPr>
        <p:spPr>
          <a:xfrm>
            <a:off x="2198095" y="4885186"/>
            <a:ext cx="457200" cy="3048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/>
          </a:p>
        </p:txBody>
      </p:sp>
      <p:sp>
        <p:nvSpPr>
          <p:cNvPr id="11" name="Slide Number">
            <a:extLst>
              <a:ext uri="{FF2B5EF4-FFF2-40B4-BE49-F238E27FC236}">
                <a16:creationId xmlns:a16="http://schemas.microsoft.com/office/drawing/2014/main" id="{FFA4CAEC-0BAE-4E87-8D94-FE69921EE1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33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1246772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01FE2CD-4E0F-4724-9880-6C8489D33BB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62000" y="2169118"/>
            <a:ext cx="10623550" cy="2988098"/>
          </a:xfrm>
          <a:solidFill>
            <a:schemeClr val="accent5">
              <a:lumMod val="60000"/>
              <a:lumOff val="40000"/>
              <a:alpha val="15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3600" dirty="0"/>
              <a:t>function </a:t>
            </a:r>
            <a:r>
              <a:rPr lang="en-US" sz="3600" dirty="0" err="1"/>
              <a:t>streamOfCharacters</a:t>
            </a:r>
            <a:r>
              <a:rPr lang="en-US" sz="3600" dirty="0"/>
              <a:t>(text) {</a:t>
            </a:r>
          </a:p>
          <a:p>
            <a:pPr>
              <a:lnSpc>
                <a:spcPct val="100000"/>
              </a:lnSpc>
            </a:pPr>
            <a:r>
              <a:rPr lang="en-US" sz="3600" dirty="0"/>
              <a:t>  for (let i = 0; i &lt; </a:t>
            </a:r>
            <a:r>
              <a:rPr lang="en-US" sz="3600" dirty="0" err="1"/>
              <a:t>text.length</a:t>
            </a:r>
            <a:r>
              <a:rPr lang="en-US" sz="3600" dirty="0"/>
              <a:t>; </a:t>
            </a:r>
            <a:r>
              <a:rPr lang="en-US" sz="3600" dirty="0" err="1"/>
              <a:t>i</a:t>
            </a:r>
            <a:r>
              <a:rPr lang="en-US" sz="3600" dirty="0"/>
              <a:t>++) {</a:t>
            </a:r>
          </a:p>
          <a:p>
            <a:pPr>
              <a:lnSpc>
                <a:spcPct val="100000"/>
              </a:lnSpc>
            </a:pPr>
            <a:r>
              <a:rPr lang="en-US" sz="3600" dirty="0"/>
              <a:t>    console.log(text[</a:t>
            </a:r>
            <a:r>
              <a:rPr lang="en-US" sz="3600" dirty="0" err="1"/>
              <a:t>i</a:t>
            </a:r>
            <a:r>
              <a:rPr lang="en-US" sz="3600" dirty="0"/>
              <a:t>]);</a:t>
            </a:r>
          </a:p>
          <a:p>
            <a:pPr>
              <a:lnSpc>
                <a:spcPct val="100000"/>
              </a:lnSpc>
            </a:pPr>
            <a:r>
              <a:rPr lang="en-US" sz="3600" dirty="0"/>
              <a:t>  }</a:t>
            </a:r>
          </a:p>
          <a:p>
            <a:pPr>
              <a:lnSpc>
                <a:spcPct val="100000"/>
              </a:lnSpc>
            </a:pPr>
            <a:r>
              <a:rPr lang="en-US" sz="3600" dirty="0"/>
              <a:t>}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37E9D6E-5044-49FE-8CB3-48D97D4CC7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/>
              <a:t>Поток от символи – решение</a:t>
            </a:r>
            <a:endParaRPr lang="en-US" dirty="0"/>
          </a:p>
        </p:txBody>
      </p:sp>
      <p:sp>
        <p:nvSpPr>
          <p:cNvPr id="7" name="AutoShape 7">
            <a:extLst>
              <a:ext uri="{FF2B5EF4-FFF2-40B4-BE49-F238E27FC236}">
                <a16:creationId xmlns:a16="http://schemas.microsoft.com/office/drawing/2014/main" id="{077DED82-9D9A-419F-8587-F3004CA2CF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38648" y="1171334"/>
            <a:ext cx="3189444" cy="1260000"/>
          </a:xfrm>
          <a:prstGeom prst="wedgeRoundRectCallout">
            <a:avLst>
              <a:gd name="adj1" fmla="val -37251"/>
              <a:gd name="adj2" fmla="val 85994"/>
              <a:gd name="adj3" fmla="val 16667"/>
            </a:avLst>
          </a:prstGeom>
          <a:solidFill>
            <a:schemeClr val="tx1">
              <a:alpha val="80000"/>
            </a:schemeClr>
          </a:solidFill>
          <a:ln w="19050">
            <a:solidFill>
              <a:schemeClr val="tx1">
                <a:alpha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800" b="1" dirty="0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Взимаме дължината </a:t>
            </a:r>
            <a:r>
              <a:rPr lang="bg-BG" sz="2800" b="1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на текста</a:t>
            </a:r>
            <a:endParaRPr lang="bg-BG" sz="2800" b="1" dirty="0">
              <a:solidFill>
                <a:schemeClr val="bg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AutoShape 7">
            <a:extLst>
              <a:ext uri="{FF2B5EF4-FFF2-40B4-BE49-F238E27FC236}">
                <a16:creationId xmlns:a16="http://schemas.microsoft.com/office/drawing/2014/main" id="{5DE45991-1A40-4A49-B4A6-2CA1C7C881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73775" y="4017851"/>
            <a:ext cx="3921500" cy="1144699"/>
          </a:xfrm>
          <a:prstGeom prst="wedgeRoundRectCallout">
            <a:avLst>
              <a:gd name="adj1" fmla="val -59421"/>
              <a:gd name="adj2" fmla="val -40874"/>
              <a:gd name="adj3" fmla="val 16667"/>
            </a:avLst>
          </a:prstGeom>
          <a:solidFill>
            <a:schemeClr val="tx1">
              <a:alpha val="80000"/>
            </a:schemeClr>
          </a:solidFill>
          <a:ln w="19050">
            <a:solidFill>
              <a:schemeClr val="tx1">
                <a:alpha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800" b="1" dirty="0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Взимаме всеки символ по индекс</a:t>
            </a:r>
            <a:r>
              <a:rPr lang="en-US" sz="2800" b="1" dirty="0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b="1" noProof="1">
                <a:solidFill>
                  <a:schemeClr val="bg2"/>
                </a:solidFill>
                <a:latin typeface="Consolas" pitchFamily="49" charset="0"/>
                <a:cs typeface="Calibri" panose="020F0502020204030204" pitchFamily="34" charset="0"/>
              </a:rPr>
              <a:t>i</a:t>
            </a:r>
            <a:endParaRPr lang="en-US" sz="2800" b="1" noProof="1">
              <a:solidFill>
                <a:schemeClr val="bg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ACC5F6C6-2126-49E3-9DAB-AD275D1FC48F}"/>
              </a:ext>
            </a:extLst>
          </p:cNvPr>
          <p:cNvSpPr txBox="1">
            <a:spLocks/>
          </p:cNvSpPr>
          <p:nvPr/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BF067CD-8E6B-4360-9AA8-C5DF2A48A6D1}" type="slidenum">
              <a:rPr lang="en-US" smtClean="0"/>
              <a:pPr/>
              <a:t>34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80336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CECD6AF-3B1B-4762-B1DD-4E62E5EA297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bg-BG" sz="3600" dirty="0"/>
              <a:t>Можем да вземем  символ от текст по индекс</a:t>
            </a:r>
            <a:r>
              <a:rPr lang="en-US" sz="3600" dirty="0"/>
              <a:t>, </a:t>
            </a:r>
            <a:r>
              <a:rPr lang="bg-BG" sz="3600" dirty="0"/>
              <a:t>като използваме метода </a:t>
            </a:r>
            <a:r>
              <a:rPr lang="en-US" sz="3600" b="1" dirty="0" err="1">
                <a:solidFill>
                  <a:schemeClr val="bg1"/>
                </a:solidFill>
              </a:rPr>
              <a:t>charAt</a:t>
            </a:r>
            <a:r>
              <a:rPr lang="en-US" sz="3600" b="1" dirty="0">
                <a:solidFill>
                  <a:schemeClr val="bg1"/>
                </a:solidFill>
              </a:rPr>
              <a:t>(index)</a:t>
            </a:r>
            <a:r>
              <a:rPr lang="en-US" sz="3600" dirty="0"/>
              <a:t> – </a:t>
            </a:r>
            <a:r>
              <a:rPr lang="bg-BG" sz="3600" dirty="0"/>
              <a:t>където </a:t>
            </a:r>
            <a:r>
              <a:rPr lang="en-US" sz="3600" dirty="0"/>
              <a:t>index </a:t>
            </a:r>
            <a:r>
              <a:rPr lang="bg-BG" sz="3600" dirty="0"/>
              <a:t>е число, от което ще вземем съответната буква</a:t>
            </a:r>
            <a:endParaRPr lang="en-US" sz="3600" dirty="0"/>
          </a:p>
          <a:p>
            <a:endParaRPr lang="en-US" sz="3600" dirty="0"/>
          </a:p>
          <a:p>
            <a:endParaRPr lang="en-US" sz="36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F42E1D9-AC52-406C-86A6-3CD18C4197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Работа с текст</a:t>
            </a:r>
            <a:endParaRPr lang="en-US" dirty="0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EA4A9F1-D580-4DB9-9AB4-22BBDBDE3F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1000" y="3352735"/>
            <a:ext cx="7851450" cy="1175706"/>
          </a:xfrm>
          <a:prstGeom prst="rect">
            <a:avLst/>
          </a:prstGeom>
          <a:solidFill>
            <a:schemeClr val="accent5">
              <a:lumMod val="60000"/>
              <a:lumOff val="4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3200" b="1" dirty="0">
                <a:latin typeface="Consolas" panose="020B0609020204030204" pitchFamily="49" charset="0"/>
              </a:rPr>
              <a:t>let text = 'SoftUni';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3200" b="1" dirty="0">
                <a:latin typeface="Consolas" panose="020B0609020204030204" pitchFamily="49" charset="0"/>
              </a:rPr>
              <a:t>let letter = </a:t>
            </a:r>
            <a:r>
              <a:rPr lang="en-US" sz="3200" b="1" dirty="0" err="1">
                <a:latin typeface="Consolas" panose="020B0609020204030204" pitchFamily="49" charset="0"/>
              </a:rPr>
              <a:t>text</a:t>
            </a:r>
            <a:r>
              <a:rPr lang="en-US" sz="3200" b="1" dirty="0" err="1">
                <a:solidFill>
                  <a:schemeClr val="bg1"/>
                </a:solidFill>
                <a:latin typeface="Consolas" panose="020B0609020204030204" pitchFamily="49" charset="0"/>
              </a:rPr>
              <a:t>.charAt</a:t>
            </a:r>
            <a:r>
              <a:rPr lang="en-US" sz="3200" b="1" dirty="0">
                <a:solidFill>
                  <a:schemeClr val="bg1"/>
                </a:solidFill>
                <a:latin typeface="Consolas" panose="020B0609020204030204" pitchFamily="49" charset="0"/>
              </a:rPr>
              <a:t>(4)</a:t>
            </a:r>
            <a:r>
              <a:rPr lang="en-US" sz="3200" b="1" dirty="0">
                <a:latin typeface="Consolas" panose="020B0609020204030204" pitchFamily="49" charset="0"/>
              </a:rPr>
              <a:t>;	</a:t>
            </a:r>
            <a:endParaRPr lang="en-US" sz="3200" b="1" dirty="0">
              <a:solidFill>
                <a:schemeClr val="accent2"/>
              </a:solidFill>
              <a:latin typeface="Consolas" panose="020B060902020403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CED1126-88B9-4E91-8FC6-08620D72EF42}"/>
              </a:ext>
            </a:extLst>
          </p:cNvPr>
          <p:cNvSpPr txBox="1"/>
          <p:nvPr/>
        </p:nvSpPr>
        <p:spPr>
          <a:xfrm>
            <a:off x="7221000" y="3862517"/>
            <a:ext cx="1600200" cy="665924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144000" tIns="108000" rIns="144000" bIns="108000" rtlCol="0">
            <a:spAutoFit/>
          </a:bodyPr>
          <a:lstStyle>
            <a:defPPr>
              <a:defRPr lang="en-US"/>
            </a:defPPr>
            <a:lvl1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 sz="2800" b="1">
                <a:solidFill>
                  <a:schemeClr val="accent2"/>
                </a:solidFill>
                <a:latin typeface="Consolas" panose="020B0609020204030204" pitchFamily="49" charset="0"/>
              </a:defRPr>
            </a:lvl1pPr>
          </a:lstStyle>
          <a:p>
            <a:r>
              <a:rPr lang="en-US" dirty="0"/>
              <a:t>// U</a:t>
            </a:r>
            <a:endParaRPr lang="bg-BG" dirty="0"/>
          </a:p>
        </p:txBody>
      </p:sp>
      <p:sp>
        <p:nvSpPr>
          <p:cNvPr id="11" name="Slide Number">
            <a:extLst>
              <a:ext uri="{FF2B5EF4-FFF2-40B4-BE49-F238E27FC236}">
                <a16:creationId xmlns:a16="http://schemas.microsoft.com/office/drawing/2014/main" id="{EDFDCF82-2D9E-444E-8CE4-5392750D95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35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2406698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0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Напишете функция, която:</a:t>
            </a:r>
          </a:p>
          <a:p>
            <a:pPr lvl="1"/>
            <a:r>
              <a:rPr lang="bg-BG" dirty="0"/>
              <a:t>Получава текст </a:t>
            </a:r>
          </a:p>
          <a:p>
            <a:pPr lvl="1"/>
            <a:r>
              <a:rPr lang="bg-BG" dirty="0"/>
              <a:t>Извежда сумата на гласните букви според таблицата по-долу:</a:t>
            </a:r>
          </a:p>
          <a:p>
            <a:pPr marL="609219" lvl="1" indent="0">
              <a:buNone/>
            </a:pPr>
            <a:endParaRPr lang="bg-BG" dirty="0"/>
          </a:p>
          <a:p>
            <a:pPr marL="609219" lvl="1" indent="0">
              <a:buNone/>
            </a:pPr>
            <a:endParaRPr lang="bg-BG" dirty="0"/>
          </a:p>
          <a:p>
            <a:r>
              <a:rPr lang="bg-BG" dirty="0"/>
              <a:t>Примерен вход и изход:</a:t>
            </a:r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noProof="1"/>
              <a:t>Сумиране на гласни букви – условие</a:t>
            </a:r>
            <a:endParaRPr lang="bg-BG" noProof="1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650102" y="5135042"/>
            <a:ext cx="1434943" cy="523220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latin typeface="Consolas" pitchFamily="49" charset="0"/>
                <a:cs typeface="Consolas" pitchFamily="49" charset="0"/>
              </a:rPr>
              <a:t>h</a:t>
            </a: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e</a:t>
            </a:r>
            <a:r>
              <a:rPr lang="en-US" sz="2800" b="1" noProof="1">
                <a:latin typeface="Consolas" pitchFamily="49" charset="0"/>
                <a:cs typeface="Consolas" pitchFamily="49" charset="0"/>
              </a:rPr>
              <a:t>ll</a:t>
            </a: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o</a:t>
            </a:r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2939605" y="5151181"/>
            <a:ext cx="429904" cy="523220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algn="ctr"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latin typeface="Consolas" pitchFamily="49" charset="0"/>
                <a:cs typeface="Consolas" pitchFamily="49" charset="0"/>
              </a:rPr>
              <a:t>6</a:t>
            </a:r>
            <a:endParaRPr lang="bg-BG" sz="2800" b="1" noProof="1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2" name="Right Arrow 11"/>
          <p:cNvSpPr/>
          <p:nvPr/>
        </p:nvSpPr>
        <p:spPr>
          <a:xfrm>
            <a:off x="2314604" y="5260391"/>
            <a:ext cx="457200" cy="3048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/>
          </a:p>
        </p:txBody>
      </p:sp>
      <p:sp>
        <p:nvSpPr>
          <p:cNvPr id="6" name="Rectangle 5"/>
          <p:cNvSpPr/>
          <p:nvPr/>
        </p:nvSpPr>
        <p:spPr>
          <a:xfrm>
            <a:off x="3566039" y="5137822"/>
            <a:ext cx="2515432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bg-BG" sz="3000" noProof="1">
                <a:cs typeface="Consolas" pitchFamily="49" charset="0"/>
              </a:rPr>
              <a:t>(</a:t>
            </a:r>
            <a:r>
              <a:rPr lang="en-US" sz="3000" noProof="1">
                <a:cs typeface="Consolas" pitchFamily="49" charset="0"/>
              </a:rPr>
              <a:t>e+o = 2+4 = 6</a:t>
            </a:r>
            <a:r>
              <a:rPr lang="bg-BG" sz="3000" noProof="1">
                <a:cs typeface="Consolas" pitchFamily="49" charset="0"/>
              </a:rPr>
              <a:t>)</a:t>
            </a:r>
          </a:p>
        </p:txBody>
      </p:sp>
      <p:sp>
        <p:nvSpPr>
          <p:cNvPr id="40" name="Rectangle 39"/>
          <p:cNvSpPr>
            <a:spLocks noChangeArrowheads="1"/>
          </p:cNvSpPr>
          <p:nvPr/>
        </p:nvSpPr>
        <p:spPr bwMode="auto">
          <a:xfrm>
            <a:off x="7010750" y="5152631"/>
            <a:ext cx="1063905" cy="523220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latin typeface="Consolas" pitchFamily="49" charset="0"/>
                <a:cs typeface="Consolas" pitchFamily="49" charset="0"/>
              </a:rPr>
              <a:t>h</a:t>
            </a: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i</a:t>
            </a:r>
          </a:p>
        </p:txBody>
      </p:sp>
      <p:sp>
        <p:nvSpPr>
          <p:cNvPr id="41" name="Rectangle 40"/>
          <p:cNvSpPr>
            <a:spLocks noChangeArrowheads="1"/>
          </p:cNvSpPr>
          <p:nvPr/>
        </p:nvSpPr>
        <p:spPr bwMode="auto">
          <a:xfrm>
            <a:off x="8929215" y="5151181"/>
            <a:ext cx="429904" cy="523220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algn="ctr"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latin typeface="Consolas" pitchFamily="49" charset="0"/>
                <a:cs typeface="Consolas" pitchFamily="49" charset="0"/>
              </a:rPr>
              <a:t>3</a:t>
            </a:r>
            <a:endParaRPr lang="bg-BG" sz="2800" b="1" noProof="1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42" name="Right Arrow 41"/>
          <p:cNvSpPr/>
          <p:nvPr/>
        </p:nvSpPr>
        <p:spPr>
          <a:xfrm>
            <a:off x="8273334" y="5260391"/>
            <a:ext cx="457200" cy="3048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/>
          </a:p>
        </p:txBody>
      </p:sp>
      <p:sp>
        <p:nvSpPr>
          <p:cNvPr id="43" name="Rectangle 42"/>
          <p:cNvSpPr/>
          <p:nvPr/>
        </p:nvSpPr>
        <p:spPr>
          <a:xfrm>
            <a:off x="9677401" y="5102814"/>
            <a:ext cx="1067921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bg-BG" sz="3000" noProof="1">
                <a:cs typeface="Consolas" pitchFamily="49" charset="0"/>
              </a:rPr>
              <a:t>(</a:t>
            </a:r>
            <a:r>
              <a:rPr lang="en-US" sz="3000" noProof="1">
                <a:cs typeface="Consolas" pitchFamily="49" charset="0"/>
              </a:rPr>
              <a:t>i = 3</a:t>
            </a:r>
            <a:r>
              <a:rPr lang="bg-BG" sz="3000" noProof="1">
                <a:cs typeface="Consolas" pitchFamily="49" charset="0"/>
              </a:rPr>
              <a:t>)</a:t>
            </a:r>
          </a:p>
        </p:txBody>
      </p:sp>
      <p:sp>
        <p:nvSpPr>
          <p:cNvPr id="44" name="Rectangle 43"/>
          <p:cNvSpPr>
            <a:spLocks noChangeArrowheads="1"/>
          </p:cNvSpPr>
          <p:nvPr/>
        </p:nvSpPr>
        <p:spPr bwMode="auto">
          <a:xfrm>
            <a:off x="650102" y="5997607"/>
            <a:ext cx="1434943" cy="523220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latin typeface="Consolas" pitchFamily="49" charset="0"/>
                <a:cs typeface="Consolas" pitchFamily="49" charset="0"/>
              </a:rPr>
              <a:t>b</a:t>
            </a: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a</a:t>
            </a:r>
            <a:r>
              <a:rPr lang="en-US" sz="2800" b="1" noProof="1">
                <a:latin typeface="Consolas" pitchFamily="49" charset="0"/>
                <a:cs typeface="Consolas" pitchFamily="49" charset="0"/>
              </a:rPr>
              <a:t>mb</a:t>
            </a: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oo</a:t>
            </a:r>
          </a:p>
        </p:txBody>
      </p:sp>
      <p:sp>
        <p:nvSpPr>
          <p:cNvPr id="45" name="Rectangle 44"/>
          <p:cNvSpPr>
            <a:spLocks noChangeArrowheads="1"/>
          </p:cNvSpPr>
          <p:nvPr/>
        </p:nvSpPr>
        <p:spPr bwMode="auto">
          <a:xfrm>
            <a:off x="2939605" y="5996157"/>
            <a:ext cx="429904" cy="523220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algn="ctr"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latin typeface="Consolas" pitchFamily="49" charset="0"/>
                <a:cs typeface="Consolas" pitchFamily="49" charset="0"/>
              </a:rPr>
              <a:t>9</a:t>
            </a:r>
            <a:endParaRPr lang="bg-BG" sz="2800" b="1" noProof="1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46" name="Right Arrow 45"/>
          <p:cNvSpPr/>
          <p:nvPr/>
        </p:nvSpPr>
        <p:spPr>
          <a:xfrm>
            <a:off x="2282488" y="6122956"/>
            <a:ext cx="457200" cy="3048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/>
          </a:p>
        </p:txBody>
      </p:sp>
      <p:sp>
        <p:nvSpPr>
          <p:cNvPr id="47" name="Rectangle 46"/>
          <p:cNvSpPr/>
          <p:nvPr/>
        </p:nvSpPr>
        <p:spPr>
          <a:xfrm>
            <a:off x="3481889" y="5966829"/>
            <a:ext cx="3292889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bg-BG" sz="3000" noProof="1">
                <a:cs typeface="Consolas" pitchFamily="49" charset="0"/>
              </a:rPr>
              <a:t>(</a:t>
            </a:r>
            <a:r>
              <a:rPr lang="en-US" sz="3000" noProof="1">
                <a:cs typeface="Consolas" pitchFamily="49" charset="0"/>
              </a:rPr>
              <a:t>a+o+o = 1+4+4 = 9</a:t>
            </a:r>
            <a:r>
              <a:rPr lang="bg-BG" sz="3000" noProof="1">
                <a:cs typeface="Consolas" pitchFamily="49" charset="0"/>
              </a:rPr>
              <a:t>)</a:t>
            </a:r>
          </a:p>
        </p:txBody>
      </p:sp>
      <p:sp>
        <p:nvSpPr>
          <p:cNvPr id="48" name="Rectangle 47"/>
          <p:cNvSpPr>
            <a:spLocks noChangeArrowheads="1"/>
          </p:cNvSpPr>
          <p:nvPr/>
        </p:nvSpPr>
        <p:spPr bwMode="auto">
          <a:xfrm>
            <a:off x="7010750" y="6015196"/>
            <a:ext cx="1063905" cy="523220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latin typeface="Consolas" pitchFamily="49" charset="0"/>
                <a:cs typeface="Consolas" pitchFamily="49" charset="0"/>
              </a:rPr>
              <a:t>b</a:t>
            </a: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ee</a:t>
            </a:r>
            <a:r>
              <a:rPr lang="en-US" sz="2800" b="1" noProof="1">
                <a:latin typeface="Consolas" pitchFamily="49" charset="0"/>
                <a:cs typeface="Consolas" pitchFamily="49" charset="0"/>
              </a:rPr>
              <a:t>r</a:t>
            </a:r>
          </a:p>
        </p:txBody>
      </p:sp>
      <p:sp>
        <p:nvSpPr>
          <p:cNvPr id="49" name="Rectangle 48"/>
          <p:cNvSpPr>
            <a:spLocks noChangeArrowheads="1"/>
          </p:cNvSpPr>
          <p:nvPr/>
        </p:nvSpPr>
        <p:spPr bwMode="auto">
          <a:xfrm>
            <a:off x="8929215" y="6013746"/>
            <a:ext cx="429904" cy="523220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algn="ctr"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latin typeface="Consolas" pitchFamily="49" charset="0"/>
                <a:cs typeface="Consolas" pitchFamily="49" charset="0"/>
              </a:rPr>
              <a:t>4</a:t>
            </a:r>
            <a:endParaRPr lang="bg-BG" sz="2800" b="1" noProof="1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50" name="Right Arrow 49"/>
          <p:cNvSpPr/>
          <p:nvPr/>
        </p:nvSpPr>
        <p:spPr>
          <a:xfrm>
            <a:off x="8273334" y="6122956"/>
            <a:ext cx="457200" cy="3048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/>
          </a:p>
        </p:txBody>
      </p:sp>
      <p:sp>
        <p:nvSpPr>
          <p:cNvPr id="51" name="Rectangle 50"/>
          <p:cNvSpPr/>
          <p:nvPr/>
        </p:nvSpPr>
        <p:spPr>
          <a:xfrm>
            <a:off x="9494017" y="5999807"/>
            <a:ext cx="2502608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bg-BG" sz="3000" noProof="1">
                <a:cs typeface="Consolas" pitchFamily="49" charset="0"/>
              </a:rPr>
              <a:t>(</a:t>
            </a:r>
            <a:r>
              <a:rPr lang="en-US" sz="3000" noProof="1">
                <a:cs typeface="Consolas" pitchFamily="49" charset="0"/>
              </a:rPr>
              <a:t>e+e = 2+2 = 4)</a:t>
            </a:r>
            <a:endParaRPr lang="bg-BG" sz="3000" noProof="1">
              <a:cs typeface="Consolas" pitchFamily="49" charset="0"/>
            </a:endParaRPr>
          </a:p>
        </p:txBody>
      </p:sp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9F11AB9E-0DBB-4FDA-9E81-586F5694FB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5776511"/>
              </p:ext>
            </p:extLst>
          </p:nvPr>
        </p:nvGraphicFramePr>
        <p:xfrm>
          <a:off x="3364792" y="3224726"/>
          <a:ext cx="5169610" cy="11582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0339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39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3392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3392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3392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21237">
                <a:tc>
                  <a:txBody>
                    <a:bodyPr/>
                    <a:lstStyle/>
                    <a:p>
                      <a:pPr marL="0" algn="ctr" defTabSz="1218438" rtl="0" eaLnBrk="1" latinLnBrk="1" hangingPunct="1"/>
                      <a:r>
                        <a:rPr lang="en-US" sz="3200" kern="1200" noProof="1">
                          <a:solidFill>
                            <a:schemeClr val="tx1"/>
                          </a:solidFill>
                        </a:rPr>
                        <a:t>a</a:t>
                      </a:r>
                      <a:endParaRPr lang="en-US" sz="3200" kern="1200" noProof="1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noProof="1">
                          <a:solidFill>
                            <a:schemeClr val="tx1"/>
                          </a:solidFill>
                          <a:effectLst/>
                        </a:rPr>
                        <a:t>e</a:t>
                      </a:r>
                      <a:endParaRPr lang="en-US" sz="3200" b="1" noProof="1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noProof="1">
                          <a:solidFill>
                            <a:schemeClr val="tx1"/>
                          </a:solidFill>
                          <a:effectLst/>
                        </a:rPr>
                        <a:t>i</a:t>
                      </a:r>
                      <a:endParaRPr lang="en-US" sz="3200" b="1" noProof="1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noProof="1">
                          <a:solidFill>
                            <a:schemeClr val="tx1"/>
                          </a:solidFill>
                          <a:effectLst/>
                        </a:rPr>
                        <a:t>o</a:t>
                      </a:r>
                      <a:endParaRPr lang="en-US" sz="3200" b="1" noProof="1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noProof="1">
                          <a:solidFill>
                            <a:schemeClr val="tx1"/>
                          </a:solidFill>
                          <a:effectLst/>
                        </a:rPr>
                        <a:t>u</a:t>
                      </a:r>
                      <a:endParaRPr lang="en-US" sz="3200" b="1" noProof="1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1237">
                <a:tc>
                  <a:txBody>
                    <a:bodyPr/>
                    <a:lstStyle/>
                    <a:p>
                      <a:pPr algn="ctr"/>
                      <a:r>
                        <a:rPr lang="en-US" sz="3200" b="1" noProof="1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noProof="1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noProof="1">
                          <a:solidFill>
                            <a:schemeClr val="tx1"/>
                          </a:solidFill>
                          <a:effectLst/>
                        </a:rPr>
                        <a:t>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noProof="1">
                          <a:solidFill>
                            <a:schemeClr val="tx1"/>
                          </a:solidFill>
                          <a:effectLst/>
                        </a:rPr>
                        <a:t>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noProof="1">
                          <a:solidFill>
                            <a:schemeClr val="tx1"/>
                          </a:solidFill>
                          <a:effectLst/>
                        </a:rPr>
                        <a:t>5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3" name="Slide Number">
            <a:extLst>
              <a:ext uri="{FF2B5EF4-FFF2-40B4-BE49-F238E27FC236}">
                <a16:creationId xmlns:a16="http://schemas.microsoft.com/office/drawing/2014/main" id="{E37E94A8-D012-4104-8E38-3CFE1BC949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36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0183934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40" grpId="0" animBg="1"/>
      <p:bldP spid="41" grpId="0" animBg="1"/>
      <p:bldP spid="42" grpId="0" animBg="1"/>
      <p:bldP spid="44" grpId="0" animBg="1"/>
      <p:bldP spid="45" grpId="0" animBg="1"/>
      <p:bldP spid="46" grpId="0" animBg="1"/>
      <p:bldP spid="48" grpId="0" animBg="1"/>
      <p:bldP spid="49" grpId="0" animBg="1"/>
      <p:bldP spid="50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noProof="1"/>
              <a:t>Сумиране на гласни букви – решение</a:t>
            </a:r>
            <a:endParaRPr lang="bg-BG" noProof="1"/>
          </a:p>
        </p:txBody>
      </p:sp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1146000" y="1186663"/>
            <a:ext cx="9245600" cy="5094664"/>
          </a:xfrm>
          <a:prstGeom prst="rect">
            <a:avLst/>
          </a:prstGeom>
          <a:solidFill>
            <a:schemeClr val="accent5">
              <a:lumMod val="60000"/>
              <a:lumOff val="4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en-US" sz="2700" b="1" noProof="1">
                <a:latin typeface="Consolas" pitchFamily="49" charset="0"/>
                <a:cs typeface="Consolas" pitchFamily="49" charset="0"/>
              </a:rPr>
              <a:t>function vowelsSum(text){</a:t>
            </a:r>
          </a:p>
          <a:p>
            <a:pPr>
              <a:lnSpc>
                <a:spcPct val="110000"/>
              </a:lnSpc>
            </a:pPr>
            <a:r>
              <a:rPr lang="en-US" sz="2700" b="1" noProof="1">
                <a:latin typeface="Consolas" pitchFamily="49" charset="0"/>
                <a:cs typeface="Consolas" pitchFamily="49" charset="0"/>
              </a:rPr>
              <a:t>  let sum = 0;</a:t>
            </a:r>
          </a:p>
          <a:p>
            <a:pPr>
              <a:lnSpc>
                <a:spcPct val="110000"/>
              </a:lnSpc>
            </a:pPr>
            <a:r>
              <a:rPr lang="en-US" sz="2700" b="1" noProof="1">
                <a:latin typeface="Consolas" pitchFamily="49" charset="0"/>
                <a:cs typeface="Consolas" pitchFamily="49" charset="0"/>
              </a:rPr>
              <a:t>  for (let i = 0; i &lt; text.length; i++) {</a:t>
            </a:r>
          </a:p>
          <a:p>
            <a:pPr>
              <a:lnSpc>
                <a:spcPct val="110000"/>
              </a:lnSpc>
            </a:pPr>
            <a:r>
              <a:rPr lang="en-US" sz="2700" b="1" noProof="1">
                <a:latin typeface="Consolas" pitchFamily="49" charset="0"/>
                <a:cs typeface="Consolas" pitchFamily="49" charset="0"/>
              </a:rPr>
              <a:t>    switch (text</a:t>
            </a:r>
            <a:r>
              <a:rPr lang="bg-BG" sz="2700" b="1" noProof="1">
                <a:latin typeface="Consolas" pitchFamily="49" charset="0"/>
                <a:cs typeface="Consolas" pitchFamily="49" charset="0"/>
              </a:rPr>
              <a:t>.</a:t>
            </a:r>
            <a:r>
              <a:rPr lang="en-US" sz="27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charAt(i)</a:t>
            </a:r>
            <a:r>
              <a:rPr lang="en-US" sz="2700" b="1" noProof="1">
                <a:latin typeface="Consolas" pitchFamily="49" charset="0"/>
                <a:cs typeface="Consolas" pitchFamily="49" charset="0"/>
              </a:rPr>
              <a:t>) {</a:t>
            </a:r>
          </a:p>
          <a:p>
            <a:pPr>
              <a:lnSpc>
                <a:spcPct val="110000"/>
              </a:lnSpc>
            </a:pPr>
            <a:r>
              <a:rPr lang="en-US" sz="2700" b="1" noProof="1">
                <a:latin typeface="Consolas" pitchFamily="49" charset="0"/>
                <a:cs typeface="Consolas" pitchFamily="49" charset="0"/>
              </a:rPr>
              <a:t>      case 'a': sum += 1; break;</a:t>
            </a:r>
          </a:p>
          <a:p>
            <a:pPr>
              <a:lnSpc>
                <a:spcPct val="110000"/>
              </a:lnSpc>
            </a:pPr>
            <a:r>
              <a:rPr lang="en-US" sz="2700" b="1" noProof="1">
                <a:latin typeface="Consolas" pitchFamily="49" charset="0"/>
                <a:cs typeface="Consolas" pitchFamily="49" charset="0"/>
              </a:rPr>
              <a:t>      case 'e': sum += 2; break;</a:t>
            </a:r>
          </a:p>
          <a:p>
            <a:pPr>
              <a:lnSpc>
                <a:spcPct val="110000"/>
              </a:lnSpc>
            </a:pPr>
            <a:r>
              <a:rPr lang="en-US" sz="2700" b="1" noProof="1">
                <a:solidFill>
                  <a:schemeClr val="accent4"/>
                </a:solidFill>
                <a:latin typeface="Consolas" pitchFamily="49" charset="0"/>
                <a:cs typeface="Consolas" pitchFamily="49" charset="0"/>
              </a:rPr>
              <a:t>      </a:t>
            </a:r>
            <a:r>
              <a:rPr lang="en-US" sz="2700" b="1" noProof="1">
                <a:solidFill>
                  <a:schemeClr val="accent2"/>
                </a:solidFill>
                <a:latin typeface="Consolas" pitchFamily="49" charset="0"/>
                <a:cs typeface="Consolas" pitchFamily="49" charset="0"/>
              </a:rPr>
              <a:t>// TODO: Add cases for the other vowels.</a:t>
            </a:r>
          </a:p>
          <a:p>
            <a:pPr>
              <a:lnSpc>
                <a:spcPct val="110000"/>
              </a:lnSpc>
            </a:pPr>
            <a:r>
              <a:rPr lang="en-US" sz="2700" b="1" noProof="1">
                <a:latin typeface="Consolas" pitchFamily="49" charset="0"/>
                <a:cs typeface="Consolas" pitchFamily="49" charset="0"/>
              </a:rPr>
              <a:t>    }</a:t>
            </a:r>
          </a:p>
          <a:p>
            <a:pPr>
              <a:lnSpc>
                <a:spcPct val="110000"/>
              </a:lnSpc>
            </a:pPr>
            <a:r>
              <a:rPr lang="en-US" sz="2700" b="1" noProof="1">
                <a:latin typeface="Consolas" pitchFamily="49" charset="0"/>
                <a:cs typeface="Consolas" pitchFamily="49" charset="0"/>
              </a:rPr>
              <a:t>  }</a:t>
            </a:r>
          </a:p>
          <a:p>
            <a:pPr>
              <a:lnSpc>
                <a:spcPct val="110000"/>
              </a:lnSpc>
            </a:pPr>
            <a:r>
              <a:rPr lang="en-US" sz="2700" b="1" noProof="1">
                <a:latin typeface="Consolas" pitchFamily="49" charset="0"/>
                <a:cs typeface="Consolas" pitchFamily="49" charset="0"/>
              </a:rPr>
              <a:t>  console.log("Vowels sum = " + sum);</a:t>
            </a:r>
          </a:p>
          <a:p>
            <a:pPr>
              <a:lnSpc>
                <a:spcPct val="110000"/>
              </a:lnSpc>
            </a:pPr>
            <a:r>
              <a:rPr lang="en-US" sz="2700" b="1" noProof="1">
                <a:latin typeface="Consolas" pitchFamily="49" charset="0"/>
                <a:cs typeface="Consolas" pitchFamily="49" charset="0"/>
              </a:rPr>
              <a:t>}</a:t>
            </a:r>
            <a:endParaRPr lang="bg-BG" sz="2700" b="1" noProof="1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D31236D2-3344-47FD-AB6B-9B5484A3A9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37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5741762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A9EF5F-9B11-435F-B76E-F522A09CE21A}"/>
              </a:ext>
            </a:extLst>
          </p:cNvPr>
          <p:cNvSpPr>
            <a:spLocks noGrp="1"/>
          </p:cNvSpPr>
          <p:nvPr>
            <p:ph type="title" sz="quarter" idx="10"/>
          </p:nvPr>
        </p:nvSpPr>
        <p:spPr>
          <a:xfrm>
            <a:off x="615109" y="4704825"/>
            <a:ext cx="11105891" cy="768084"/>
          </a:xfrm>
        </p:spPr>
        <p:txBody>
          <a:bodyPr/>
          <a:lstStyle/>
          <a:p>
            <a:r>
              <a:rPr lang="ru-RU" dirty="0"/>
              <a:t>Техники за използване на For-цикли</a:t>
            </a:r>
            <a:endParaRPr lang="bg-BG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BFC1C940-B02C-4169-880B-4146BC91C6BD}"/>
              </a:ext>
            </a:extLst>
          </p:cNvPr>
          <p:cNvSpPr>
            <a:spLocks noGrp="1"/>
          </p:cNvSpPr>
          <p:nvPr>
            <p:ph type="subTitle" sz="quarter" idx="11"/>
          </p:nvPr>
        </p:nvSpPr>
        <p:spPr/>
        <p:txBody>
          <a:bodyPr/>
          <a:lstStyle/>
          <a:p>
            <a:r>
              <a:rPr lang="bg-BG" dirty="0"/>
              <a:t>Задачи с цикли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E55671A-1CC6-4052-83BC-A6D5563BA47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4505" y="1524001"/>
            <a:ext cx="2762991" cy="2295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27443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bg-BG" dirty="0">
                <a:latin typeface="Calibri" panose="020F0502020204030204" pitchFamily="34" charset="0"/>
                <a:cs typeface="Calibri" panose="020F0502020204030204" pitchFamily="34" charset="0"/>
              </a:rPr>
              <a:t>Напишете функция, която:</a:t>
            </a:r>
          </a:p>
          <a:p>
            <a:pPr lvl="1"/>
            <a:r>
              <a:rPr lang="bg-BG" dirty="0">
                <a:latin typeface="Calibri" panose="020F0502020204030204" pitchFamily="34" charset="0"/>
                <a:cs typeface="Calibri" panose="020F0502020204030204" pitchFamily="34" charset="0"/>
              </a:rPr>
              <a:t>Получава цяло число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</a:rPr>
              <a:t>n</a:t>
            </a:r>
            <a:r>
              <a:rPr lang="bg-BG" b="1" dirty="0">
                <a:latin typeface="Consolas" panose="020B0609020204030204" pitchFamily="49" charset="0"/>
              </a:rPr>
              <a:t>,</a:t>
            </a:r>
            <a:r>
              <a:rPr lang="bg-BG" b="1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bg-BG" dirty="0">
                <a:latin typeface="Consolas" panose="020B0609020204030204" pitchFamily="49" charset="0"/>
              </a:rPr>
              <a:t>под формата на </a:t>
            </a:r>
            <a:r>
              <a:rPr lang="bg-BG" b="1" dirty="0">
                <a:solidFill>
                  <a:schemeClr val="bg1"/>
                </a:solidFill>
                <a:latin typeface="Consolas" panose="020B0609020204030204" pitchFamily="49" charset="0"/>
              </a:rPr>
              <a:t>текст</a:t>
            </a:r>
            <a:endParaRPr lang="bg-BG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bg-BG" dirty="0"/>
              <a:t>Сумира отделните цифри в него</a:t>
            </a:r>
          </a:p>
          <a:p>
            <a:pPr lvl="1"/>
            <a:r>
              <a:rPr lang="bg-BG" dirty="0">
                <a:latin typeface="Calibri" panose="020F0502020204030204" pitchFamily="34" charset="0"/>
                <a:cs typeface="Calibri" panose="020F0502020204030204" pitchFamily="34" charset="0"/>
              </a:rPr>
              <a:t>Извежда пресметнатата сума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bg-BG" dirty="0">
                <a:latin typeface="Calibri" panose="020F0502020204030204" pitchFamily="34" charset="0"/>
                <a:cs typeface="Calibri" panose="020F0502020204030204" pitchFamily="34" charset="0"/>
              </a:rPr>
              <a:t>Примерен вход и изход:</a:t>
            </a:r>
            <a:endParaRPr lang="en-US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Сумиране на цифри – условие</a:t>
            </a:r>
            <a:endParaRPr lang="en-US" dirty="0"/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2808529" y="5027049"/>
            <a:ext cx="5421071" cy="533400"/>
          </a:xfrm>
          <a:prstGeom prst="rect">
            <a:avLst/>
          </a:prstGeom>
          <a:solidFill>
            <a:schemeClr val="accent5">
              <a:lumMod val="60000"/>
              <a:lumOff val="4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 anchor="ctr">
            <a:noAutofit/>
          </a:bodyPr>
          <a:lstStyle/>
          <a:p>
            <a:pPr algn="ctr"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>
                <a:latin typeface="Consolas" pitchFamily="49" charset="0"/>
                <a:cs typeface="Consolas" pitchFamily="49" charset="0"/>
              </a:rPr>
              <a:t>The sum of the digits is:</a:t>
            </a:r>
            <a:r>
              <a:rPr lang="bg-BG" sz="2600" b="1" noProof="1">
                <a:latin typeface="Consolas" pitchFamily="49" charset="0"/>
                <a:cs typeface="Consolas" pitchFamily="49" charset="0"/>
              </a:rPr>
              <a:t>1</a:t>
            </a:r>
            <a:r>
              <a:rPr lang="en-US" sz="2600" b="1" noProof="1">
                <a:latin typeface="Consolas" pitchFamily="49" charset="0"/>
                <a:cs typeface="Consolas" pitchFamily="49" charset="0"/>
              </a:rPr>
              <a:t>0</a:t>
            </a:r>
            <a:endParaRPr lang="bg-BG" sz="2600" b="1" noProof="1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2" name="Right Arrow 11"/>
          <p:cNvSpPr/>
          <p:nvPr/>
        </p:nvSpPr>
        <p:spPr>
          <a:xfrm>
            <a:off x="2205021" y="5141349"/>
            <a:ext cx="457200" cy="3048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/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78552C38-656A-499C-93BC-BA27F96069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39</a:t>
            </a:fld>
            <a:endParaRPr lang="en-US" noProof="0" dirty="0"/>
          </a:p>
        </p:txBody>
      </p:sp>
      <p:sp>
        <p:nvSpPr>
          <p:cNvPr id="18" name="Rectangle 10"/>
          <p:cNvSpPr>
            <a:spLocks noChangeArrowheads="1"/>
          </p:cNvSpPr>
          <p:nvPr/>
        </p:nvSpPr>
        <p:spPr bwMode="auto">
          <a:xfrm>
            <a:off x="381000" y="5027049"/>
            <a:ext cx="1714500" cy="533400"/>
          </a:xfrm>
          <a:prstGeom prst="rect">
            <a:avLst/>
          </a:prstGeom>
          <a:solidFill>
            <a:schemeClr val="accent5">
              <a:lumMod val="60000"/>
              <a:lumOff val="4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 anchor="ctr">
            <a:noAutofit/>
          </a:bodyPr>
          <a:lstStyle/>
          <a:p>
            <a:pPr algn="ctr"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bg-BG" sz="2600" b="1" noProof="1">
                <a:latin typeface="Consolas" pitchFamily="49" charset="0"/>
                <a:cs typeface="Consolas" pitchFamily="49" charset="0"/>
              </a:rPr>
              <a:t>"1234"</a:t>
            </a:r>
          </a:p>
        </p:txBody>
      </p:sp>
      <p:sp>
        <p:nvSpPr>
          <p:cNvPr id="22" name="Rectangle 10"/>
          <p:cNvSpPr>
            <a:spLocks noChangeArrowheads="1"/>
          </p:cNvSpPr>
          <p:nvPr/>
        </p:nvSpPr>
        <p:spPr bwMode="auto">
          <a:xfrm>
            <a:off x="2808529" y="5740400"/>
            <a:ext cx="5421071" cy="533400"/>
          </a:xfrm>
          <a:prstGeom prst="rect">
            <a:avLst/>
          </a:prstGeom>
          <a:solidFill>
            <a:schemeClr val="accent5">
              <a:lumMod val="60000"/>
              <a:lumOff val="4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 anchor="ctr">
            <a:noAutofit/>
          </a:bodyPr>
          <a:lstStyle/>
          <a:p>
            <a:pPr algn="ctr"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>
                <a:latin typeface="Consolas" pitchFamily="49" charset="0"/>
                <a:cs typeface="Consolas" pitchFamily="49" charset="0"/>
              </a:rPr>
              <a:t>The sum of the digits is:33</a:t>
            </a:r>
            <a:endParaRPr lang="bg-BG" sz="2600" b="1" noProof="1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23" name="Right Arrow 11"/>
          <p:cNvSpPr/>
          <p:nvPr/>
        </p:nvSpPr>
        <p:spPr>
          <a:xfrm>
            <a:off x="2205021" y="5854700"/>
            <a:ext cx="457200" cy="3048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/>
          </a:p>
        </p:txBody>
      </p:sp>
      <p:sp>
        <p:nvSpPr>
          <p:cNvPr id="24" name="Rectangle 10"/>
          <p:cNvSpPr>
            <a:spLocks noChangeArrowheads="1"/>
          </p:cNvSpPr>
          <p:nvPr/>
        </p:nvSpPr>
        <p:spPr bwMode="auto">
          <a:xfrm>
            <a:off x="381000" y="5740400"/>
            <a:ext cx="1714500" cy="533400"/>
          </a:xfrm>
          <a:prstGeom prst="rect">
            <a:avLst/>
          </a:prstGeom>
          <a:solidFill>
            <a:schemeClr val="accent5">
              <a:lumMod val="60000"/>
              <a:lumOff val="4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 anchor="ctr">
            <a:noAutofit/>
          </a:bodyPr>
          <a:lstStyle/>
          <a:p>
            <a:pPr algn="ctr"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>
                <a:latin typeface="Consolas" pitchFamily="49" charset="0"/>
                <a:cs typeface="Consolas" pitchFamily="49" charset="0"/>
              </a:rPr>
              <a:t>"564891"</a:t>
            </a:r>
            <a:endParaRPr lang="bg-BG" sz="2600" b="1" noProof="1">
              <a:latin typeface="Consolas" pitchFamily="49" charset="0"/>
              <a:cs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6550414"/>
      </p:ext>
    </p:extLst>
  </p:cSld>
  <p:clrMapOvr>
    <a:masterClrMapping/>
  </p:clrMapOvr>
  <p:transition spd="slow" advClick="0" advTm="5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8" grpId="0" animBg="1"/>
      <p:bldP spid="22" grpId="0" animBg="1"/>
      <p:bldP spid="23" grpId="0" animBg="1"/>
      <p:bldP spid="24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lide Number">
            <a:extLst>
              <a:ext uri="{FF2B5EF4-FFF2-40B4-BE49-F238E27FC236}">
                <a16:creationId xmlns:a16="http://schemas.microsoft.com/office/drawing/2014/main" id="{B7964ECA-CEFC-4E36-8447-94CD7E9DE492}"/>
              </a:ext>
            </a:extLst>
          </p:cNvPr>
          <p:cNvSpPr txBox="1">
            <a:spLocks/>
          </p:cNvSpPr>
          <p:nvPr/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BF067CD-8E6B-4360-9AA8-C5DF2A48A6D1}" type="slidenum">
              <a:rPr lang="en-US" smtClean="0"/>
              <a:pPr/>
              <a:t>40</a:t>
            </a:fld>
            <a:endParaRPr lang="en-US" dirty="0"/>
          </a:p>
        </p:txBody>
      </p:sp>
      <p:grpSp>
        <p:nvGrpSpPr>
          <p:cNvPr id="2" name="Групиране 59"/>
          <p:cNvGrpSpPr/>
          <p:nvPr/>
        </p:nvGrpSpPr>
        <p:grpSpPr>
          <a:xfrm>
            <a:off x="3575050" y="406400"/>
            <a:ext cx="2377440" cy="731520"/>
            <a:chOff x="3690717" y="456205"/>
            <a:chExt cx="2377440" cy="731520"/>
          </a:xfrm>
        </p:grpSpPr>
        <p:sp>
          <p:nvSpPr>
            <p:cNvPr id="54" name="Rectangle 25">
              <a:extLst>
                <a:ext uri="{FF2B5EF4-FFF2-40B4-BE49-F238E27FC236}">
                  <a16:creationId xmlns:a16="http://schemas.microsoft.com/office/drawing/2014/main" id="{07DEDF83-EA65-4C9E-90C7-D72F02ED6B38}"/>
                </a:ext>
              </a:extLst>
            </p:cNvPr>
            <p:cNvSpPr/>
            <p:nvPr/>
          </p:nvSpPr>
          <p:spPr bwMode="auto">
            <a:xfrm>
              <a:off x="3690717" y="456205"/>
              <a:ext cx="2377440" cy="731520"/>
            </a:xfrm>
            <a:prstGeom prst="rect">
              <a:avLst/>
            </a:prstGeom>
            <a:solidFill>
              <a:schemeClr val="dk2">
                <a:alpha val="80000"/>
              </a:schemeClr>
            </a:solidFill>
            <a:ln w="19050">
              <a:solidFill>
                <a:schemeClr val="tx1">
                  <a:lumMod val="75000"/>
                  <a:alpha val="8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001">
              <a:schemeClr val="dk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bg-BG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5" name="TextBox 26">
              <a:extLst>
                <a:ext uri="{FF2B5EF4-FFF2-40B4-BE49-F238E27FC236}">
                  <a16:creationId xmlns:a16="http://schemas.microsoft.com/office/drawing/2014/main" id="{E6462B45-C191-4B73-9AEC-B14A476BD209}"/>
                </a:ext>
              </a:extLst>
            </p:cNvPr>
            <p:cNvSpPr txBox="1"/>
            <p:nvPr/>
          </p:nvSpPr>
          <p:spPr>
            <a:xfrm>
              <a:off x="3690717" y="528245"/>
              <a:ext cx="2377440" cy="587441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144000" tIns="108000" rIns="144000" bIns="108000" rtlCol="0">
              <a:spAutoFit/>
            </a:bodyPr>
            <a:lstStyle/>
            <a:p>
              <a:pPr algn="ctr" eaLnBrk="0" hangingPunct="0">
                <a:buClr>
                  <a:schemeClr val="accent5">
                    <a:lumMod val="40000"/>
                    <a:lumOff val="60000"/>
                  </a:schemeClr>
                </a:buClr>
                <a:buSzPct val="70000"/>
              </a:pPr>
              <a:r>
                <a:rPr lang="en-US" sz="2400" dirty="0">
                  <a:solidFill>
                    <a:schemeClr val="bg2"/>
                  </a:solidFill>
                  <a:latin typeface="Consolas" pitchFamily="49" charset="0"/>
                </a:rPr>
                <a:t>Read</a:t>
              </a:r>
              <a:r>
                <a:rPr lang="en-US" sz="2400" dirty="0">
                  <a:solidFill>
                    <a:schemeClr val="bg2"/>
                  </a:solidFill>
                </a:rPr>
                <a:t> input</a:t>
              </a:r>
              <a:endParaRPr lang="bg-BG" sz="2400" dirty="0">
                <a:solidFill>
                  <a:schemeClr val="bg2"/>
                </a:solidFill>
              </a:endParaRPr>
            </a:p>
          </p:txBody>
        </p:sp>
      </p:grpSp>
      <p:cxnSp>
        <p:nvCxnSpPr>
          <p:cNvPr id="35" name="Straight Arrow Connector 27">
            <a:extLst>
              <a:ext uri="{FF2B5EF4-FFF2-40B4-BE49-F238E27FC236}">
                <a16:creationId xmlns:a16="http://schemas.microsoft.com/office/drawing/2014/main" id="{9E7A81B8-836B-4E47-960B-D5F70AFBA3CA}"/>
              </a:ext>
            </a:extLst>
          </p:cNvPr>
          <p:cNvCxnSpPr>
            <a:cxnSpLocks/>
          </p:cNvCxnSpPr>
          <p:nvPr/>
        </p:nvCxnSpPr>
        <p:spPr>
          <a:xfrm rot="5400000">
            <a:off x="4498420" y="1454225"/>
            <a:ext cx="530701" cy="3424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29">
            <a:extLst>
              <a:ext uri="{FF2B5EF4-FFF2-40B4-BE49-F238E27FC236}">
                <a16:creationId xmlns:a16="http://schemas.microsoft.com/office/drawing/2014/main" id="{02A3EC40-64B5-4047-90B2-826E877791CC}"/>
              </a:ext>
            </a:extLst>
          </p:cNvPr>
          <p:cNvSpPr txBox="1"/>
          <p:nvPr/>
        </p:nvSpPr>
        <p:spPr>
          <a:xfrm>
            <a:off x="5857416" y="3401207"/>
            <a:ext cx="771985" cy="556664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vert="horz" wrap="square" lIns="144000" tIns="108000" rIns="144000" bIns="108000" rtlCol="0">
            <a:spAutoFit/>
          </a:bodyPr>
          <a:lstStyle/>
          <a:p>
            <a:pPr algn="l"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GB" sz="2000" dirty="0"/>
              <a:t>false</a:t>
            </a:r>
            <a:endParaRPr lang="en-US" sz="2400" dirty="0"/>
          </a:p>
        </p:txBody>
      </p:sp>
      <p:cxnSp>
        <p:nvCxnSpPr>
          <p:cNvPr id="37" name="Straight Arrow Connector 30">
            <a:extLst>
              <a:ext uri="{FF2B5EF4-FFF2-40B4-BE49-F238E27FC236}">
                <a16:creationId xmlns:a16="http://schemas.microsoft.com/office/drawing/2014/main" id="{0C961173-951D-4B2C-BE50-738E2B3ACC4C}"/>
              </a:ext>
            </a:extLst>
          </p:cNvPr>
          <p:cNvCxnSpPr>
            <a:cxnSpLocks/>
          </p:cNvCxnSpPr>
          <p:nvPr/>
        </p:nvCxnSpPr>
        <p:spPr>
          <a:xfrm>
            <a:off x="5921314" y="4027067"/>
            <a:ext cx="733087" cy="19494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Групиране 23"/>
          <p:cNvGrpSpPr/>
          <p:nvPr/>
        </p:nvGrpSpPr>
        <p:grpSpPr>
          <a:xfrm>
            <a:off x="3117850" y="5376510"/>
            <a:ext cx="3291840" cy="1030640"/>
            <a:chOff x="3117850" y="5376510"/>
            <a:chExt cx="3291840" cy="1030640"/>
          </a:xfrm>
        </p:grpSpPr>
        <p:sp>
          <p:nvSpPr>
            <p:cNvPr id="52" name="Rectangle 32">
              <a:extLst>
                <a:ext uri="{FF2B5EF4-FFF2-40B4-BE49-F238E27FC236}">
                  <a16:creationId xmlns:a16="http://schemas.microsoft.com/office/drawing/2014/main" id="{1B8BAF57-1253-4389-8E95-E45D07749AE3}"/>
                </a:ext>
              </a:extLst>
            </p:cNvPr>
            <p:cNvSpPr/>
            <p:nvPr/>
          </p:nvSpPr>
          <p:spPr bwMode="auto">
            <a:xfrm>
              <a:off x="3117850" y="5388910"/>
              <a:ext cx="3291840" cy="1005840"/>
            </a:xfrm>
            <a:prstGeom prst="rect">
              <a:avLst/>
            </a:prstGeom>
            <a:solidFill>
              <a:schemeClr val="dk2">
                <a:alpha val="80000"/>
              </a:schemeClr>
            </a:solidFill>
            <a:ln w="19050">
              <a:solidFill>
                <a:schemeClr val="tx1">
                  <a:lumMod val="75000"/>
                  <a:alpha val="8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001">
              <a:schemeClr val="dk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bg-BG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3" name="TextBox 33">
              <a:extLst>
                <a:ext uri="{FF2B5EF4-FFF2-40B4-BE49-F238E27FC236}">
                  <a16:creationId xmlns:a16="http://schemas.microsoft.com/office/drawing/2014/main" id="{78C4C7C3-6311-48F0-8519-0B50EB7260C8}"/>
                </a:ext>
              </a:extLst>
            </p:cNvPr>
            <p:cNvSpPr txBox="1"/>
            <p:nvPr/>
          </p:nvSpPr>
          <p:spPr>
            <a:xfrm>
              <a:off x="3119121" y="5376510"/>
              <a:ext cx="3289299" cy="103064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144000" tIns="108000" rIns="144000" bIns="108000" rtlCol="0">
              <a:spAutoFit/>
            </a:bodyPr>
            <a:lstStyle/>
            <a:p>
              <a:pPr algn="ctr" eaLnBrk="0" hangingPunct="0">
                <a:lnSpc>
                  <a:spcPct val="110000"/>
                </a:lnSpc>
                <a:buClr>
                  <a:schemeClr val="accent5">
                    <a:lumMod val="40000"/>
                    <a:lumOff val="60000"/>
                  </a:schemeClr>
                </a:buClr>
                <a:buSzPct val="70000"/>
              </a:pPr>
              <a:r>
                <a:rPr lang="en-US" sz="2400" dirty="0">
                  <a:solidFill>
                    <a:schemeClr val="bg2"/>
                  </a:solidFill>
                  <a:latin typeface="Consolas" pitchFamily="49" charset="0"/>
                </a:rPr>
                <a:t>Read a number;</a:t>
              </a:r>
            </a:p>
            <a:p>
              <a:pPr algn="ctr" eaLnBrk="0" hangingPunct="0">
                <a:lnSpc>
                  <a:spcPct val="110000"/>
                </a:lnSpc>
                <a:buClr>
                  <a:schemeClr val="accent5">
                    <a:lumMod val="40000"/>
                    <a:lumOff val="60000"/>
                  </a:schemeClr>
                </a:buClr>
                <a:buSzPct val="70000"/>
              </a:pPr>
              <a:r>
                <a:rPr lang="en-US" sz="2400" dirty="0">
                  <a:solidFill>
                    <a:schemeClr val="bg2"/>
                  </a:solidFill>
                  <a:latin typeface="Consolas" pitchFamily="49" charset="0"/>
                </a:rPr>
                <a:t>Add it to the sum</a:t>
              </a:r>
            </a:p>
          </p:txBody>
        </p:sp>
      </p:grpSp>
      <p:cxnSp>
        <p:nvCxnSpPr>
          <p:cNvPr id="41" name="Elbow Connector 37">
            <a:extLst>
              <a:ext uri="{FF2B5EF4-FFF2-40B4-BE49-F238E27FC236}">
                <a16:creationId xmlns:a16="http://schemas.microsoft.com/office/drawing/2014/main" id="{25492B2E-6492-41E8-96A3-B4CC8B0CFBF2}"/>
              </a:ext>
            </a:extLst>
          </p:cNvPr>
          <p:cNvCxnSpPr>
            <a:cxnSpLocks/>
          </p:cNvCxnSpPr>
          <p:nvPr/>
        </p:nvCxnSpPr>
        <p:spPr>
          <a:xfrm rot="10800000" flipH="1">
            <a:off x="3028951" y="4036816"/>
            <a:ext cx="587547" cy="1855015"/>
          </a:xfrm>
          <a:prstGeom prst="bentConnector3">
            <a:avLst>
              <a:gd name="adj1" fmla="val -38908"/>
            </a:avLst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36">
            <a:extLst>
              <a:ext uri="{FF2B5EF4-FFF2-40B4-BE49-F238E27FC236}">
                <a16:creationId xmlns:a16="http://schemas.microsoft.com/office/drawing/2014/main" id="{0EEF1D8B-52A9-4033-A195-A28F056E97FF}"/>
              </a:ext>
            </a:extLst>
          </p:cNvPr>
          <p:cNvSpPr txBox="1"/>
          <p:nvPr/>
        </p:nvSpPr>
        <p:spPr>
          <a:xfrm>
            <a:off x="4790147" y="4728678"/>
            <a:ext cx="767374" cy="556664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vert="horz" wrap="square" lIns="144000" tIns="108000" rIns="144000" bIns="108000" rtlCol="0">
            <a:spAutoFit/>
          </a:bodyPr>
          <a:lstStyle/>
          <a:p>
            <a:pPr algn="l"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GB" sz="2000" dirty="0"/>
              <a:t>true</a:t>
            </a:r>
            <a:endParaRPr lang="en-US" sz="2400" dirty="0"/>
          </a:p>
        </p:txBody>
      </p:sp>
      <p:sp>
        <p:nvSpPr>
          <p:cNvPr id="43" name="Flowchart: Terminator 37">
            <a:extLst>
              <a:ext uri="{FF2B5EF4-FFF2-40B4-BE49-F238E27FC236}">
                <a16:creationId xmlns:a16="http://schemas.microsoft.com/office/drawing/2014/main" id="{558E0DED-8ADC-4BEA-9248-8361B8D24B6E}"/>
              </a:ext>
            </a:extLst>
          </p:cNvPr>
          <p:cNvSpPr/>
          <p:nvPr/>
        </p:nvSpPr>
        <p:spPr bwMode="auto">
          <a:xfrm>
            <a:off x="6715842" y="3683570"/>
            <a:ext cx="3158408" cy="706488"/>
          </a:xfrm>
          <a:prstGeom prst="flowChartTerminator">
            <a:avLst/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4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Print the sum</a:t>
            </a:r>
            <a:endParaRPr lang="en-US" sz="240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pSp>
        <p:nvGrpSpPr>
          <p:cNvPr id="4" name="Групиране 55"/>
          <p:cNvGrpSpPr/>
          <p:nvPr/>
        </p:nvGrpSpPr>
        <p:grpSpPr>
          <a:xfrm>
            <a:off x="3540760" y="1773792"/>
            <a:ext cx="2411730" cy="766208"/>
            <a:chOff x="4573270" y="1695450"/>
            <a:chExt cx="2411730" cy="960120"/>
          </a:xfrm>
        </p:grpSpPr>
        <p:sp>
          <p:nvSpPr>
            <p:cNvPr id="50" name="Rectangle 19">
              <a:extLst>
                <a:ext uri="{FF2B5EF4-FFF2-40B4-BE49-F238E27FC236}">
                  <a16:creationId xmlns:a16="http://schemas.microsoft.com/office/drawing/2014/main" id="{35663578-E009-4693-9D9C-E7B1BD3C95BF}"/>
                </a:ext>
              </a:extLst>
            </p:cNvPr>
            <p:cNvSpPr/>
            <p:nvPr/>
          </p:nvSpPr>
          <p:spPr bwMode="auto">
            <a:xfrm>
              <a:off x="4607560" y="1695450"/>
              <a:ext cx="2377440" cy="960120"/>
            </a:xfrm>
            <a:prstGeom prst="rect">
              <a:avLst/>
            </a:prstGeom>
            <a:solidFill>
              <a:schemeClr val="dk2">
                <a:alpha val="80000"/>
              </a:schemeClr>
            </a:solidFill>
            <a:ln w="19050">
              <a:solidFill>
                <a:schemeClr val="tx1">
                  <a:lumMod val="75000"/>
                  <a:alpha val="8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001">
              <a:schemeClr val="dk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bg-BG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" name="TextBox 20">
              <a:extLst>
                <a:ext uri="{FF2B5EF4-FFF2-40B4-BE49-F238E27FC236}">
                  <a16:creationId xmlns:a16="http://schemas.microsoft.com/office/drawing/2014/main" id="{0A100367-5C03-4042-A398-19051065CF0F}"/>
                </a:ext>
              </a:extLst>
            </p:cNvPr>
            <p:cNvSpPr txBox="1"/>
            <p:nvPr/>
          </p:nvSpPr>
          <p:spPr>
            <a:xfrm>
              <a:off x="4573270" y="1820079"/>
              <a:ext cx="2377440" cy="587441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144000" tIns="108000" rIns="144000" bIns="108000" rtlCol="0">
              <a:spAutoFit/>
            </a:bodyPr>
            <a:lstStyle/>
            <a:p>
              <a:pPr algn="ctr" eaLnBrk="0" hangingPunct="0">
                <a:buClr>
                  <a:schemeClr val="accent5">
                    <a:lumMod val="40000"/>
                    <a:lumOff val="60000"/>
                  </a:schemeClr>
                </a:buClr>
                <a:buSzPct val="70000"/>
              </a:pPr>
              <a:r>
                <a:rPr lang="en-US" sz="2400" noProof="1">
                  <a:solidFill>
                    <a:schemeClr val="bg2"/>
                  </a:solidFill>
                  <a:latin typeface="Consolas" pitchFamily="49" charset="0"/>
                </a:rPr>
                <a:t>sum = 0</a:t>
              </a:r>
              <a:endParaRPr lang="bg-BG" sz="2400" noProof="1">
                <a:solidFill>
                  <a:schemeClr val="bg2"/>
                </a:solidFill>
                <a:latin typeface="Consolas" pitchFamily="49" charset="0"/>
              </a:endParaRPr>
            </a:p>
          </p:txBody>
        </p:sp>
      </p:grpSp>
      <p:grpSp>
        <p:nvGrpSpPr>
          <p:cNvPr id="5" name="Групиране 74"/>
          <p:cNvGrpSpPr/>
          <p:nvPr/>
        </p:nvGrpSpPr>
        <p:grpSpPr>
          <a:xfrm>
            <a:off x="3384550" y="3322719"/>
            <a:ext cx="2933699" cy="1428191"/>
            <a:chOff x="3233517" y="3117850"/>
            <a:chExt cx="2933699" cy="1428191"/>
          </a:xfrm>
        </p:grpSpPr>
        <p:sp>
          <p:nvSpPr>
            <p:cNvPr id="48" name="Flowchart: Decision 22"/>
            <p:cNvSpPr/>
            <p:nvPr/>
          </p:nvSpPr>
          <p:spPr bwMode="auto">
            <a:xfrm>
              <a:off x="3499050" y="3117850"/>
              <a:ext cx="2227375" cy="1428191"/>
            </a:xfrm>
            <a:prstGeom prst="flowChartDecision">
              <a:avLst/>
            </a:prstGeom>
            <a:solidFill>
              <a:schemeClr val="dk2">
                <a:alpha val="80000"/>
              </a:schemeClr>
            </a:solidFill>
            <a:ln w="19050">
              <a:solidFill>
                <a:schemeClr val="tx1">
                  <a:lumMod val="75000"/>
                  <a:alpha val="8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001">
              <a:schemeClr val="dk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9" name="Rectangle 23"/>
            <p:cNvSpPr/>
            <p:nvPr/>
          </p:nvSpPr>
          <p:spPr>
            <a:xfrm>
              <a:off x="3233517" y="3654899"/>
              <a:ext cx="2933699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1600" noProof="1">
                  <a:solidFill>
                    <a:schemeClr val="bg2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</a:rPr>
                <a:t>i &lt;= input.length</a:t>
              </a:r>
              <a:endParaRPr lang="en-US" sz="1600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cxnSp>
        <p:nvCxnSpPr>
          <p:cNvPr id="46" name="Straight Arrow Connector 27">
            <a:extLst>
              <a:ext uri="{FF2B5EF4-FFF2-40B4-BE49-F238E27FC236}">
                <a16:creationId xmlns:a16="http://schemas.microsoft.com/office/drawing/2014/main" id="{9E7A81B8-836B-4E47-960B-D5F70AFBA3CA}"/>
              </a:ext>
            </a:extLst>
          </p:cNvPr>
          <p:cNvCxnSpPr>
            <a:cxnSpLocks/>
          </p:cNvCxnSpPr>
          <p:nvPr/>
        </p:nvCxnSpPr>
        <p:spPr>
          <a:xfrm rot="5400000">
            <a:off x="4385806" y="2916256"/>
            <a:ext cx="752949" cy="441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27">
            <a:extLst>
              <a:ext uri="{FF2B5EF4-FFF2-40B4-BE49-F238E27FC236}">
                <a16:creationId xmlns:a16="http://schemas.microsoft.com/office/drawing/2014/main" id="{9E7A81B8-836B-4E47-960B-D5F70AFBA3CA}"/>
              </a:ext>
            </a:extLst>
          </p:cNvPr>
          <p:cNvCxnSpPr>
            <a:cxnSpLocks/>
          </p:cNvCxnSpPr>
          <p:nvPr/>
        </p:nvCxnSpPr>
        <p:spPr>
          <a:xfrm rot="5400000">
            <a:off x="4498420" y="5073287"/>
            <a:ext cx="530701" cy="3424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57899662"/>
      </p:ext>
    </p:extLst>
  </p:cSld>
  <p:clrMapOvr>
    <a:masterClrMapping/>
  </p:clrMapOvr>
  <p:transition spd="slow" advClick="0" advTm="5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3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  <p:bldP spid="42" grpId="0"/>
      <p:bldP spid="43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Сумиране на цифри – решение</a:t>
            </a:r>
            <a:endParaRPr lang="en-US" dirty="0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683481" y="1809000"/>
            <a:ext cx="10825038" cy="3539430"/>
          </a:xfrm>
          <a:prstGeom prst="rect">
            <a:avLst/>
          </a:prstGeom>
          <a:solidFill>
            <a:schemeClr val="accent5">
              <a:lumMod val="60000"/>
              <a:lumOff val="4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2800" b="1" dirty="0">
                <a:latin typeface="Consolas" panose="020B0609020204030204" pitchFamily="49" charset="0"/>
              </a:rPr>
              <a:t>function </a:t>
            </a:r>
            <a:r>
              <a:rPr lang="en-US" sz="2800" b="1" dirty="0" err="1">
                <a:latin typeface="Consolas" panose="020B0609020204030204" pitchFamily="49" charset="0"/>
              </a:rPr>
              <a:t>sumDigits</a:t>
            </a:r>
            <a:r>
              <a:rPr lang="en-US" sz="2800" b="1" dirty="0">
                <a:latin typeface="Consolas" panose="020B0609020204030204" pitchFamily="49" charset="0"/>
              </a:rPr>
              <a:t>(</a:t>
            </a:r>
            <a:r>
              <a:rPr lang="en-US" sz="2800" b="1" dirty="0" err="1">
                <a:latin typeface="Consolas" panose="020B0609020204030204" pitchFamily="49" charset="0"/>
              </a:rPr>
              <a:t>numberAsString</a:t>
            </a:r>
            <a:r>
              <a:rPr lang="en-US" sz="2800" b="1" dirty="0">
                <a:latin typeface="Consolas" panose="020B0609020204030204" pitchFamily="49" charset="0"/>
              </a:rPr>
              <a:t>) {</a:t>
            </a:r>
          </a:p>
          <a:p>
            <a:r>
              <a:rPr lang="en-US" sz="2800" b="1" dirty="0">
                <a:latin typeface="Consolas" panose="020B0609020204030204" pitchFamily="49" charset="0"/>
              </a:rPr>
              <a:t>    </a:t>
            </a:r>
            <a:r>
              <a:rPr lang="bg-BG" sz="2800" b="1" dirty="0">
                <a:latin typeface="Consolas" panose="020B0609020204030204" pitchFamily="49" charset="0"/>
              </a:rPr>
              <a:t> </a:t>
            </a:r>
            <a:r>
              <a:rPr lang="en-US" sz="2800" b="1" dirty="0">
                <a:latin typeface="Consolas" panose="020B0609020204030204" pitchFamily="49" charset="0"/>
              </a:rPr>
              <a:t>let sum = 0;</a:t>
            </a:r>
          </a:p>
          <a:p>
            <a:br>
              <a:rPr lang="en-US" sz="2800" b="1" dirty="0">
                <a:latin typeface="Consolas" panose="020B0609020204030204" pitchFamily="49" charset="0"/>
              </a:rPr>
            </a:br>
            <a:r>
              <a:rPr lang="en-US" sz="2800" b="1" dirty="0">
                <a:latin typeface="Consolas" panose="020B0609020204030204" pitchFamily="49" charset="0"/>
              </a:rPr>
              <a:t>    </a:t>
            </a:r>
            <a:r>
              <a:rPr lang="bg-BG" sz="2800" b="1" dirty="0">
                <a:latin typeface="Consolas" panose="020B0609020204030204" pitchFamily="49" charset="0"/>
              </a:rPr>
              <a:t> </a:t>
            </a:r>
            <a:r>
              <a:rPr lang="en-US" sz="2800" b="1" dirty="0">
                <a:solidFill>
                  <a:schemeClr val="bg1"/>
                </a:solidFill>
                <a:latin typeface="Consolas" panose="020B0609020204030204" pitchFamily="49" charset="0"/>
              </a:rPr>
              <a:t>for</a:t>
            </a:r>
            <a:r>
              <a:rPr lang="en-US" sz="2800" b="1" dirty="0">
                <a:latin typeface="Consolas" panose="020B0609020204030204" pitchFamily="49" charset="0"/>
              </a:rPr>
              <a:t> (let </a:t>
            </a:r>
            <a:r>
              <a:rPr lang="en-US" sz="2800" b="1" dirty="0" err="1">
                <a:latin typeface="Consolas" panose="020B0609020204030204" pitchFamily="49" charset="0"/>
              </a:rPr>
              <a:t>i</a:t>
            </a:r>
            <a:r>
              <a:rPr lang="en-US" sz="2800" b="1" dirty="0">
                <a:latin typeface="Consolas" panose="020B0609020204030204" pitchFamily="49" charset="0"/>
              </a:rPr>
              <a:t> = 0; </a:t>
            </a:r>
            <a:r>
              <a:rPr lang="en-US" sz="2800" b="1" dirty="0" err="1">
                <a:latin typeface="Consolas" panose="020B0609020204030204" pitchFamily="49" charset="0"/>
              </a:rPr>
              <a:t>i</a:t>
            </a:r>
            <a:r>
              <a:rPr lang="en-US" sz="2800" b="1" dirty="0">
                <a:latin typeface="Consolas" panose="020B0609020204030204" pitchFamily="49" charset="0"/>
              </a:rPr>
              <a:t> &lt; </a:t>
            </a:r>
            <a:r>
              <a:rPr lang="en-US" sz="2800" b="1" dirty="0" err="1">
                <a:latin typeface="Consolas" panose="020B0609020204030204" pitchFamily="49" charset="0"/>
              </a:rPr>
              <a:t>numberAsString.length</a:t>
            </a:r>
            <a:r>
              <a:rPr lang="en-US" sz="2800" b="1" dirty="0">
                <a:latin typeface="Consolas" panose="020B0609020204030204" pitchFamily="49" charset="0"/>
              </a:rPr>
              <a:t>; </a:t>
            </a:r>
            <a:r>
              <a:rPr lang="en-US" sz="2800" b="1" dirty="0" err="1">
                <a:latin typeface="Consolas" panose="020B0609020204030204" pitchFamily="49" charset="0"/>
              </a:rPr>
              <a:t>i</a:t>
            </a:r>
            <a:r>
              <a:rPr lang="en-US" sz="2800" b="1" dirty="0">
                <a:latin typeface="Consolas" panose="020B0609020204030204" pitchFamily="49" charset="0"/>
              </a:rPr>
              <a:t>++)</a:t>
            </a:r>
            <a:r>
              <a:rPr lang="en-US" sz="2800" b="1" dirty="0">
                <a:solidFill>
                  <a:schemeClr val="bg1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2800" b="1" dirty="0">
                <a:latin typeface="Consolas" panose="020B0609020204030204" pitchFamily="49" charset="0"/>
              </a:rPr>
              <a:t>        sum += Number(</a:t>
            </a:r>
            <a:r>
              <a:rPr lang="en-US" sz="2800" b="1" dirty="0" err="1">
                <a:latin typeface="Consolas" panose="020B0609020204030204" pitchFamily="49" charset="0"/>
              </a:rPr>
              <a:t>numberAsString</a:t>
            </a:r>
            <a:r>
              <a:rPr lang="en-US" sz="2800" b="1" dirty="0">
                <a:latin typeface="Consolas" panose="020B0609020204030204" pitchFamily="49" charset="0"/>
              </a:rPr>
              <a:t>[</a:t>
            </a:r>
            <a:r>
              <a:rPr lang="en-US" sz="2800" b="1" dirty="0" err="1">
                <a:latin typeface="Consolas" panose="020B0609020204030204" pitchFamily="49" charset="0"/>
              </a:rPr>
              <a:t>i</a:t>
            </a:r>
            <a:r>
              <a:rPr lang="en-US" sz="2800" b="1" dirty="0">
                <a:latin typeface="Consolas" panose="020B0609020204030204" pitchFamily="49" charset="0"/>
              </a:rPr>
              <a:t>]);</a:t>
            </a:r>
          </a:p>
          <a:p>
            <a:r>
              <a:rPr lang="en-US" sz="2800" b="1" dirty="0">
                <a:latin typeface="Consolas" panose="020B0609020204030204" pitchFamily="49" charset="0"/>
              </a:rPr>
              <a:t>    </a:t>
            </a:r>
            <a:r>
              <a:rPr lang="bg-BG" sz="2800" b="1" dirty="0">
                <a:latin typeface="Consolas" panose="020B0609020204030204" pitchFamily="49" charset="0"/>
              </a:rPr>
              <a:t> </a:t>
            </a:r>
            <a:r>
              <a:rPr lang="en-US" sz="2800" b="1" dirty="0">
                <a:solidFill>
                  <a:schemeClr val="bg1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sz="2800" b="1" dirty="0">
                <a:latin typeface="Consolas" panose="020B0609020204030204" pitchFamily="49" charset="0"/>
              </a:rPr>
              <a:t>    </a:t>
            </a:r>
            <a:r>
              <a:rPr lang="bg-BG" sz="2800" b="1" dirty="0">
                <a:latin typeface="Consolas" panose="020B0609020204030204" pitchFamily="49" charset="0"/>
              </a:rPr>
              <a:t> </a:t>
            </a:r>
            <a:r>
              <a:rPr lang="en-US" sz="2800" b="1" dirty="0">
                <a:latin typeface="Consolas" panose="020B0609020204030204" pitchFamily="49" charset="0"/>
              </a:rPr>
              <a:t>console.log(`The sum of the digits is:${sum}`);</a:t>
            </a:r>
          </a:p>
          <a:p>
            <a:r>
              <a:rPr lang="en-US" sz="2800" b="1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0" name="Slide Number">
            <a:extLst>
              <a:ext uri="{FF2B5EF4-FFF2-40B4-BE49-F238E27FC236}">
                <a16:creationId xmlns:a16="http://schemas.microsoft.com/office/drawing/2014/main" id="{D95D48F5-0568-4493-9FB7-C7488B85E2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41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955306605"/>
      </p:ext>
    </p:extLst>
  </p:cSld>
  <p:clrMapOvr>
    <a:masterClrMapping/>
  </p:clrMapOvr>
  <p:transition spd="slow" advClick="0" advTm="5000"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>
          <a:xfrm>
            <a:off x="190406" y="1539000"/>
            <a:ext cx="11818096" cy="5528766"/>
          </a:xfrm>
        </p:spPr>
        <p:txBody>
          <a:bodyPr>
            <a:normAutofit/>
          </a:bodyPr>
          <a:lstStyle/>
          <a:p>
            <a:r>
              <a:rPr lang="bg-BG" sz="3400" dirty="0"/>
              <a:t>Напишете функция, която:</a:t>
            </a:r>
          </a:p>
          <a:p>
            <a:pPr lvl="1">
              <a:spcBef>
                <a:spcPts val="100"/>
              </a:spcBef>
              <a:spcAft>
                <a:spcPts val="100"/>
              </a:spcAft>
            </a:pPr>
            <a:r>
              <a:rPr lang="bg-BG" sz="3200" dirty="0"/>
              <a:t>Получава два аргумента </a:t>
            </a:r>
            <a:r>
              <a:rPr lang="bg-BG" sz="3200" b="1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sz="3200" b="1" dirty="0">
                <a:solidFill>
                  <a:schemeClr val="bg1"/>
                </a:solidFill>
                <a:latin typeface="Consolas" panose="020B0609020204030204" pitchFamily="49" charset="0"/>
              </a:rPr>
              <a:t>n, m) </a:t>
            </a:r>
            <a:r>
              <a:rPr lang="en-US" sz="3200" dirty="0"/>
              <a:t>– </a:t>
            </a:r>
            <a:r>
              <a:rPr lang="bg-BG" sz="3200" dirty="0"/>
              <a:t>цели числа</a:t>
            </a:r>
            <a:endParaRPr lang="en-US" sz="3200" dirty="0"/>
          </a:p>
          <a:p>
            <a:pPr lvl="1"/>
            <a:r>
              <a:rPr lang="bg-BG" sz="3200" dirty="0"/>
              <a:t>Открива всички числа в диапазона между двете входни, </a:t>
            </a:r>
            <a:r>
              <a:rPr lang="bg-BG" sz="3200" b="1" dirty="0">
                <a:solidFill>
                  <a:schemeClr val="bg1"/>
                </a:solidFill>
              </a:rPr>
              <a:t>които се делят на 9</a:t>
            </a:r>
          </a:p>
          <a:p>
            <a:pPr lvl="1"/>
            <a:r>
              <a:rPr lang="bg-BG" sz="3200" dirty="0"/>
              <a:t>Принтира на първия ред резултата от сумата на числата</a:t>
            </a:r>
          </a:p>
          <a:p>
            <a:pPr lvl="1"/>
            <a:r>
              <a:rPr lang="bg-BG" sz="3200" dirty="0"/>
              <a:t>Принтира на втория ред отговарящите на условието числа, всяко от които на нов ред</a:t>
            </a:r>
            <a:endParaRPr lang="en-US" sz="3200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Числа, които се делят на 9 – условие</a:t>
            </a:r>
            <a:endParaRPr lang="en-US" dirty="0"/>
          </a:p>
        </p:txBody>
      </p:sp>
      <p:sp>
        <p:nvSpPr>
          <p:cNvPr id="15" name="Slide Number">
            <a:extLst>
              <a:ext uri="{FF2B5EF4-FFF2-40B4-BE49-F238E27FC236}">
                <a16:creationId xmlns:a16="http://schemas.microsoft.com/office/drawing/2014/main" id="{AFF74041-D758-45FE-8C3B-9BA3425D2E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42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488926348"/>
      </p:ext>
    </p:extLst>
  </p:cSld>
  <p:clrMapOvr>
    <a:masterClrMapping/>
  </p:clrMapOvr>
  <p:transition spd="slow" advClick="0" advTm="5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Числа, които се делят на 9 – решение</a:t>
            </a:r>
            <a:endParaRPr lang="en-US" dirty="0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050925" y="1629000"/>
            <a:ext cx="10090149" cy="4524315"/>
          </a:xfrm>
          <a:prstGeom prst="rect">
            <a:avLst/>
          </a:prstGeom>
          <a:solidFill>
            <a:schemeClr val="accent5">
              <a:lumMod val="60000"/>
              <a:lumOff val="4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noProof="1">
                <a:latin typeface="Consolas" pitchFamily="49" charset="0"/>
                <a:cs typeface="Consolas" pitchFamily="49" charset="0"/>
              </a:rPr>
              <a:t>function divisibleByNine(n, m) {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noProof="1">
                <a:latin typeface="Consolas" pitchFamily="49" charset="0"/>
                <a:cs typeface="Consolas" pitchFamily="49" charset="0"/>
              </a:rPr>
              <a:t>  let sum = 0;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noProof="1">
                <a:latin typeface="Consolas" pitchFamily="49" charset="0"/>
                <a:cs typeface="Consolas" pitchFamily="49" charset="0"/>
              </a:rPr>
              <a:t>  let outputNumbers = '';</a:t>
            </a:r>
            <a:endParaRPr lang="bg-BG" sz="2400" b="1" noProof="1">
              <a:latin typeface="Consolas" pitchFamily="49" charset="0"/>
              <a:cs typeface="Consolas" pitchFamily="49" charset="0"/>
            </a:endParaRP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for</a:t>
            </a:r>
            <a:r>
              <a:rPr lang="en-US" sz="2400" b="1" noProof="1">
                <a:latin typeface="Consolas" pitchFamily="49" charset="0"/>
                <a:cs typeface="Consolas" pitchFamily="49" charset="0"/>
              </a:rPr>
              <a:t> (let i = n; i &lt; m; i++) </a:t>
            </a:r>
            <a:r>
              <a:rPr lang="en-US" sz="24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{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noProof="1">
                <a:latin typeface="Consolas" pitchFamily="49" charset="0"/>
                <a:cs typeface="Consolas" pitchFamily="49" charset="0"/>
              </a:rPr>
              <a:t>	if (i % 9 === 0) {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noProof="1">
                <a:latin typeface="Consolas" pitchFamily="49" charset="0"/>
                <a:cs typeface="Consolas" pitchFamily="49" charset="0"/>
              </a:rPr>
              <a:t>	</a:t>
            </a:r>
            <a:r>
              <a:rPr lang="en-US" sz="2400" b="1" noProof="1">
                <a:solidFill>
                  <a:schemeClr val="accent2"/>
                </a:solidFill>
                <a:latin typeface="Consolas" pitchFamily="49" charset="0"/>
                <a:cs typeface="Consolas" pitchFamily="49" charset="0"/>
              </a:rPr>
              <a:t> // TODO: Add the number to the sum.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noProof="1">
                <a:latin typeface="Consolas" pitchFamily="49" charset="0"/>
                <a:cs typeface="Consolas" pitchFamily="49" charset="0"/>
              </a:rPr>
              <a:t>	</a:t>
            </a:r>
            <a:r>
              <a:rPr lang="en-US" sz="2400" b="1" noProof="1">
                <a:solidFill>
                  <a:schemeClr val="accent2"/>
                </a:solidFill>
                <a:latin typeface="Consolas" pitchFamily="49" charset="0"/>
                <a:cs typeface="Consolas" pitchFamily="49" charset="0"/>
              </a:rPr>
              <a:t> // TODO: Add the number to the outputNumbers.</a:t>
            </a:r>
            <a:endParaRPr lang="en-US" sz="2400" b="1" noProof="1">
              <a:latin typeface="Consolas" pitchFamily="49" charset="0"/>
              <a:cs typeface="Consolas" pitchFamily="49" charset="0"/>
            </a:endParaRP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noProof="1">
                <a:latin typeface="Consolas" pitchFamily="49" charset="0"/>
                <a:cs typeface="Consolas" pitchFamily="49" charset="0"/>
              </a:rPr>
              <a:t>    }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}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noProof="1">
                <a:latin typeface="Consolas" pitchFamily="49" charset="0"/>
                <a:cs typeface="Consolas" pitchFamily="49" charset="0"/>
              </a:rPr>
              <a:t>  console.log(</a:t>
            </a:r>
            <a:r>
              <a:rPr lang="en-US" sz="2400" b="1" noProof="1">
                <a:solidFill>
                  <a:schemeClr val="accent2"/>
                </a:solidFill>
                <a:latin typeface="Consolas" pitchFamily="49" charset="0"/>
                <a:cs typeface="Consolas" pitchFamily="49" charset="0"/>
              </a:rPr>
              <a:t>// TODO: </a:t>
            </a:r>
            <a:r>
              <a:rPr lang="en-US" sz="2400" b="1" noProof="1">
                <a:latin typeface="Consolas" pitchFamily="49" charset="0"/>
                <a:cs typeface="Consolas" pitchFamily="49" charset="0"/>
              </a:rPr>
              <a:t>);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noProof="1">
                <a:latin typeface="Consolas" pitchFamily="49" charset="0"/>
                <a:cs typeface="Consolas" pitchFamily="49" charset="0"/>
              </a:rPr>
              <a:t>  console.log(</a:t>
            </a:r>
            <a:r>
              <a:rPr lang="en-US" sz="2400" b="1" noProof="1">
                <a:solidFill>
                  <a:schemeClr val="accent2"/>
                </a:solidFill>
                <a:latin typeface="Consolas" pitchFamily="49" charset="0"/>
                <a:cs typeface="Consolas" pitchFamily="49" charset="0"/>
              </a:rPr>
              <a:t>// TODO: </a:t>
            </a:r>
            <a:r>
              <a:rPr lang="en-US" sz="2400" b="1" noProof="1">
                <a:latin typeface="Consolas" pitchFamily="49" charset="0"/>
                <a:cs typeface="Consolas" pitchFamily="49" charset="0"/>
              </a:rPr>
              <a:t>);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noProof="1">
                <a:latin typeface="Consolas" pitchFamily="49" charset="0"/>
                <a:cs typeface="Consolas" pitchFamily="49" charset="0"/>
              </a:rPr>
              <a:t>}</a:t>
            </a:r>
          </a:p>
        </p:txBody>
      </p:sp>
      <p:sp>
        <p:nvSpPr>
          <p:cNvPr id="10" name="Slide Number">
            <a:extLst>
              <a:ext uri="{FF2B5EF4-FFF2-40B4-BE49-F238E27FC236}">
                <a16:creationId xmlns:a16="http://schemas.microsoft.com/office/drawing/2014/main" id="{D95D48F5-0568-4493-9FB7-C7488B85E2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43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955306605"/>
      </p:ext>
    </p:extLst>
  </p:cSld>
  <p:clrMapOvr>
    <a:masterClrMapping/>
  </p:clrMapOvr>
  <p:transition spd="slow" advClick="0" advTm="5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0E49D336-45B6-44D3-97C4-E28F8DEA202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>
            <a:lvl1pPr marL="514350" indent="-514350">
              <a:buFont typeface="Wingdings" panose="05000000000000000000" pitchFamily="2" charset="2"/>
              <a:buChar char="§"/>
              <a:defRPr>
                <a:solidFill>
                  <a:schemeClr val="bg2"/>
                </a:solidFill>
              </a:defRPr>
            </a:lvl1pPr>
            <a:lvl2pPr marL="1123935" indent="-514350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2pPr>
            <a:lvl3pPr marL="1733520" indent="-514350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3pPr>
            <a:lvl4pPr marL="2343105" indent="-514350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4pPr>
            <a:lvl5pPr marL="2952689" indent="-514350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…</a:t>
            </a:r>
          </a:p>
          <a:p>
            <a:pPr lvl="0"/>
            <a:r>
              <a:rPr lang="en-GB" dirty="0"/>
              <a:t>…</a:t>
            </a:r>
            <a:endParaRPr lang="en-US" dirty="0"/>
          </a:p>
          <a:p>
            <a:pPr lvl="0"/>
            <a:r>
              <a:rPr lang="en-GB" dirty="0"/>
              <a:t>…</a:t>
            </a:r>
            <a:endParaRPr lang="en-US" dirty="0"/>
          </a:p>
          <a:p>
            <a:pPr lvl="0"/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dirty="0"/>
              <a:t>Какво научихме днес?</a:t>
            </a:r>
            <a:endParaRPr 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BAFE522-EB7D-4931-A015-9A7E8A98517D}"/>
              </a:ext>
            </a:extLst>
          </p:cNvPr>
          <p:cNvGrpSpPr/>
          <p:nvPr/>
        </p:nvGrpSpPr>
        <p:grpSpPr>
          <a:xfrm>
            <a:off x="343834" y="1251279"/>
            <a:ext cx="8632995" cy="5300339"/>
            <a:chOff x="472011" y="1508786"/>
            <a:chExt cx="3799787" cy="4865561"/>
          </a:xfrm>
        </p:grpSpPr>
        <p:sp>
          <p:nvSpPr>
            <p:cNvPr id="10" name="Rounded Rectangle 10">
              <a:extLst>
                <a:ext uri="{FF2B5EF4-FFF2-40B4-BE49-F238E27FC236}">
                  <a16:creationId xmlns:a16="http://schemas.microsoft.com/office/drawing/2014/main" id="{18F78F23-3D09-4B63-8DF9-D49CFBB145EE}"/>
                </a:ext>
              </a:extLst>
            </p:cNvPr>
            <p:cNvSpPr/>
            <p:nvPr/>
          </p:nvSpPr>
          <p:spPr>
            <a:xfrm>
              <a:off x="472011" y="1508786"/>
              <a:ext cx="3799787" cy="4865561"/>
            </a:xfrm>
            <a:prstGeom prst="roundRect">
              <a:avLst>
                <a:gd name="adj" fmla="val 3968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399" dirty="0"/>
            </a:p>
          </p:txBody>
        </p:sp>
        <p:sp>
          <p:nvSpPr>
            <p:cNvPr id="11" name="Rounded Rectangle 16">
              <a:extLst>
                <a:ext uri="{FF2B5EF4-FFF2-40B4-BE49-F238E27FC236}">
                  <a16:creationId xmlns:a16="http://schemas.microsoft.com/office/drawing/2014/main" id="{F12C06CE-2BBE-46C2-B718-813794C58DF9}"/>
                </a:ext>
              </a:extLst>
            </p:cNvPr>
            <p:cNvSpPr/>
            <p:nvPr/>
          </p:nvSpPr>
          <p:spPr>
            <a:xfrm>
              <a:off x="540767" y="1781251"/>
              <a:ext cx="85794" cy="4320631"/>
            </a:xfrm>
            <a:prstGeom prst="roundRect">
              <a:avLst>
                <a:gd name="adj" fmla="val 50000"/>
              </a:avLst>
            </a:prstGeom>
            <a:solidFill>
              <a:schemeClr val="bg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399">
                <a:solidFill>
                  <a:schemeClr val="bg1"/>
                </a:solidFill>
              </a:endParaRPr>
            </a:p>
          </p:txBody>
        </p:sp>
        <p:sp>
          <p:nvSpPr>
            <p:cNvPr id="12" name="Half Frame 11">
              <a:extLst>
                <a:ext uri="{FF2B5EF4-FFF2-40B4-BE49-F238E27FC236}">
                  <a16:creationId xmlns:a16="http://schemas.microsoft.com/office/drawing/2014/main" id="{66CDBB1E-AF3C-43FC-9F34-2DD691F81726}"/>
                </a:ext>
              </a:extLst>
            </p:cNvPr>
            <p:cNvSpPr/>
            <p:nvPr/>
          </p:nvSpPr>
          <p:spPr>
            <a:xfrm rot="5400000">
              <a:off x="3762569" y="1912372"/>
              <a:ext cx="669775" cy="238503"/>
            </a:xfrm>
            <a:prstGeom prst="halfFrame">
              <a:avLst>
                <a:gd name="adj1" fmla="val 23728"/>
                <a:gd name="adj2" fmla="val 24642"/>
              </a:avLst>
            </a:prstGeom>
            <a:solidFill>
              <a:schemeClr val="bg2">
                <a:alpha val="2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399">
                <a:solidFill>
                  <a:schemeClr val="tx1"/>
                </a:solidFill>
              </a:endParaRPr>
            </a:p>
          </p:txBody>
        </p:sp>
      </p:grpSp>
      <p:pic>
        <p:nvPicPr>
          <p:cNvPr id="13" name="Picture 12">
            <a:extLst>
              <a:ext uri="{FF2B5EF4-FFF2-40B4-BE49-F238E27FC236}">
                <a16:creationId xmlns:a16="http://schemas.microsoft.com/office/drawing/2014/main" id="{CCC3A316-993C-4741-8826-E104F27650A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H="1">
            <a:off x="8928324" y="3276641"/>
            <a:ext cx="2882677" cy="3119781"/>
          </a:xfrm>
          <a:prstGeom prst="rect">
            <a:avLst/>
          </a:prstGeom>
        </p:spPr>
      </p:pic>
      <p:sp>
        <p:nvSpPr>
          <p:cNvPr id="15" name="Content Placeholder 4">
            <a:extLst>
              <a:ext uri="{FF2B5EF4-FFF2-40B4-BE49-F238E27FC236}">
                <a16:creationId xmlns:a16="http://schemas.microsoft.com/office/drawing/2014/main" id="{373AC257-A0F4-4265-8C0F-3CB5C237A93D}"/>
              </a:ext>
            </a:extLst>
          </p:cNvPr>
          <p:cNvSpPr txBox="1">
            <a:spLocks/>
          </p:cNvSpPr>
          <p:nvPr/>
        </p:nvSpPr>
        <p:spPr>
          <a:xfrm>
            <a:off x="709426" y="1668159"/>
            <a:ext cx="8288226" cy="4835831"/>
          </a:xfrm>
          <a:prstGeom prst="rect">
            <a:avLst/>
          </a:prstGeom>
        </p:spPr>
        <p:txBody>
          <a:bodyPr vert="horz" lIns="108000" tIns="36000" rIns="108000" bIns="36000" rtlCol="0">
            <a:normAutofit/>
          </a:bodyPr>
          <a:lstStyle>
            <a:lvl1pPr marL="456915" indent="-456915" algn="l" defTabSz="1218438" rtl="0" eaLnBrk="1" latin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33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89981" indent="-380762" algn="l" defTabSz="1218438" rtl="0" eaLnBrk="1" latin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31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048" indent="-304610" algn="l" defTabSz="1218438" rtl="0" eaLnBrk="1" latin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9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2267" indent="-304610" algn="l" defTabSz="1218438" rtl="0" eaLnBrk="1" latin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7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1485" indent="-304610" algn="l" defTabSz="1218438" rtl="0" eaLnBrk="1" latin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5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0704" indent="-304610" algn="l" defTabSz="1218438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59924" indent="-304610" algn="l" defTabSz="1218438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69143" indent="-304610" algn="l" defTabSz="1218438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78362" indent="-304610" algn="l" defTabSz="1218438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6565" indent="-456565">
              <a:lnSpc>
                <a:spcPct val="100000"/>
              </a:lnSpc>
            </a:pPr>
            <a:r>
              <a:rPr lang="bg-BG" sz="3600" dirty="0">
                <a:solidFill>
                  <a:schemeClr val="bg2"/>
                </a:solidFill>
              </a:rPr>
              <a:t>Повторение на блок код с </a:t>
            </a:r>
            <a:r>
              <a:rPr lang="en-US" sz="3600" b="1" dirty="0">
                <a:solidFill>
                  <a:schemeClr val="bg1"/>
                </a:solidFill>
              </a:rPr>
              <a:t>for</a:t>
            </a:r>
            <a:r>
              <a:rPr lang="en-US" sz="3600" dirty="0">
                <a:solidFill>
                  <a:schemeClr val="bg2"/>
                </a:solidFill>
              </a:rPr>
              <a:t>-</a:t>
            </a:r>
            <a:r>
              <a:rPr lang="bg-BG" sz="3600" dirty="0">
                <a:solidFill>
                  <a:schemeClr val="bg2"/>
                </a:solidFill>
              </a:rPr>
              <a:t>цикъл</a:t>
            </a:r>
            <a:endParaRPr lang="en-US" sz="3600" dirty="0">
              <a:solidFill>
                <a:schemeClr val="bg2"/>
              </a:solidFill>
            </a:endParaRPr>
          </a:p>
          <a:p>
            <a:pPr lvl="0"/>
            <a:r>
              <a:rPr lang="bg-BG" sz="3600" dirty="0">
                <a:solidFill>
                  <a:schemeClr val="bg2"/>
                </a:solidFill>
              </a:rPr>
              <a:t>Цикли със стъпка</a:t>
            </a:r>
          </a:p>
          <a:p>
            <a:pPr lvl="1"/>
            <a:r>
              <a:rPr lang="bg-BG" sz="3400" dirty="0">
                <a:solidFill>
                  <a:schemeClr val="bg2"/>
                </a:solidFill>
              </a:rPr>
              <a:t>Цикли с увеличаваща стъпка</a:t>
            </a:r>
            <a:endParaRPr lang="en-US" sz="3400" dirty="0">
              <a:solidFill>
                <a:schemeClr val="bg2"/>
              </a:solidFill>
            </a:endParaRPr>
          </a:p>
          <a:p>
            <a:pPr lvl="1"/>
            <a:r>
              <a:rPr lang="bg-BG" sz="3400" dirty="0">
                <a:solidFill>
                  <a:schemeClr val="bg2"/>
                </a:solidFill>
              </a:rPr>
              <a:t>Цикли с намаляваща стъпка</a:t>
            </a:r>
          </a:p>
          <a:p>
            <a:pPr marL="456565" indent="-456565">
              <a:lnSpc>
                <a:spcPct val="100000"/>
              </a:lnSpc>
            </a:pPr>
            <a:r>
              <a:rPr lang="bg-BG" sz="3600" dirty="0">
                <a:solidFill>
                  <a:schemeClr val="bg2"/>
                </a:solidFill>
              </a:rPr>
              <a:t> Вземане на символ по индекс от текст</a:t>
            </a:r>
          </a:p>
          <a:p>
            <a:pPr marL="0" indent="0">
              <a:lnSpc>
                <a:spcPct val="100000"/>
              </a:lnSpc>
              <a:buNone/>
            </a:pPr>
            <a:endParaRPr lang="bg-BG" sz="3200" dirty="0">
              <a:solidFill>
                <a:schemeClr val="bg2"/>
              </a:solidFill>
            </a:endParaRPr>
          </a:p>
          <a:p>
            <a:pPr marL="456565" indent="-456565">
              <a:lnSpc>
                <a:spcPct val="100000"/>
              </a:lnSpc>
            </a:pPr>
            <a:endParaRPr lang="bg-BG" sz="3200" dirty="0">
              <a:solidFill>
                <a:schemeClr val="bg2"/>
              </a:solidFill>
            </a:endParaRPr>
          </a:p>
        </p:txBody>
      </p:sp>
      <p:sp>
        <p:nvSpPr>
          <p:cNvPr id="16" name="Slide Number">
            <a:extLst>
              <a:ext uri="{FF2B5EF4-FFF2-40B4-BE49-F238E27FC236}">
                <a16:creationId xmlns:a16="http://schemas.microsoft.com/office/drawing/2014/main" id="{D21AA7DA-95BA-41A9-A170-2C3EB1A8A1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44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8148681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39" descr="Logo&#10;&#10;Description automatically generated">
            <a:extLst>
              <a:ext uri="{FF2B5EF4-FFF2-40B4-BE49-F238E27FC236}">
                <a16:creationId xmlns:a16="http://schemas.microsoft.com/office/drawing/2014/main" id="{9C30DD70-D438-6D27-35D3-8BB874966D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84" y="2319421"/>
            <a:ext cx="3660176" cy="4247149"/>
          </a:xfrm>
          <a:prstGeom prst="rect">
            <a:avLst/>
          </a:prstGeom>
        </p:spPr>
      </p:pic>
      <p:sp>
        <p:nvSpPr>
          <p:cNvPr id="2" name="Google Shape;441;p37">
            <a:extLst>
              <a:ext uri="{FF2B5EF4-FFF2-40B4-BE49-F238E27FC236}">
                <a16:creationId xmlns:a16="http://schemas.microsoft.com/office/drawing/2014/main" id="{2AFB472C-93C2-241B-75FA-457782840F92}"/>
              </a:ext>
            </a:extLst>
          </p:cNvPr>
          <p:cNvSpPr txBox="1">
            <a:spLocks/>
          </p:cNvSpPr>
          <p:nvPr/>
        </p:nvSpPr>
        <p:spPr>
          <a:xfrm>
            <a:off x="809628" y="703244"/>
            <a:ext cx="5916372" cy="10333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98"/>
              <a:buFont typeface="Calibri"/>
              <a:buNone/>
              <a:defRPr sz="6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>
              <a:buClr>
                <a:srgbClr val="234465"/>
              </a:buClr>
              <a:buSzPts val="8800"/>
            </a:pPr>
            <a:r>
              <a:rPr lang="bg-BG" sz="8800" dirty="0">
                <a:solidFill>
                  <a:srgbClr val="234465"/>
                </a:solidFill>
              </a:rPr>
              <a:t>Въпроси</a:t>
            </a:r>
            <a:r>
              <a:rPr lang="en-US" sz="8800" dirty="0">
                <a:solidFill>
                  <a:srgbClr val="234465"/>
                </a:solidFill>
              </a:rPr>
              <a:t>?</a:t>
            </a:r>
            <a:endParaRPr lang="en-US" sz="8800" dirty="0"/>
          </a:p>
        </p:txBody>
      </p:sp>
      <p:pic>
        <p:nvPicPr>
          <p:cNvPr id="14" name="Картина 13">
            <a:extLst>
              <a:ext uri="{FF2B5EF4-FFF2-40B4-BE49-F238E27FC236}">
                <a16:creationId xmlns:a16="http://schemas.microsoft.com/office/drawing/2014/main" id="{54B365E9-8FD0-6D5B-2DFC-723EE5DDD5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1341" y="202022"/>
            <a:ext cx="2028825" cy="790575"/>
          </a:xfrm>
          <a:prstGeom prst="rect">
            <a:avLst/>
          </a:prstGeom>
        </p:spPr>
      </p:pic>
      <p:pic>
        <p:nvPicPr>
          <p:cNvPr id="16" name="Картина 15">
            <a:extLst>
              <a:ext uri="{FF2B5EF4-FFF2-40B4-BE49-F238E27FC236}">
                <a16:creationId xmlns:a16="http://schemas.microsoft.com/office/drawing/2014/main" id="{3BD6ABFC-02BF-2D42-B42B-6929222F37B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388471"/>
            <a:ext cx="12192000" cy="485775"/>
          </a:xfrm>
          <a:prstGeom prst="rect">
            <a:avLst/>
          </a:prstGeom>
        </p:spPr>
      </p:pic>
      <p:grpSp>
        <p:nvGrpSpPr>
          <p:cNvPr id="3" name="Group 4">
            <a:extLst>
              <a:ext uri="{FF2B5EF4-FFF2-40B4-BE49-F238E27FC236}">
                <a16:creationId xmlns:a16="http://schemas.microsoft.com/office/drawing/2014/main" id="{4E069AB6-7909-7A5B-D74D-B8133B68A78C}"/>
              </a:ext>
            </a:extLst>
          </p:cNvPr>
          <p:cNvGrpSpPr/>
          <p:nvPr/>
        </p:nvGrpSpPr>
        <p:grpSpPr>
          <a:xfrm>
            <a:off x="3807915" y="1541155"/>
            <a:ext cx="8046521" cy="3513961"/>
            <a:chOff x="3642671" y="1549902"/>
            <a:chExt cx="8046521" cy="3513961"/>
          </a:xfrm>
        </p:grpSpPr>
        <p:pic>
          <p:nvPicPr>
            <p:cNvPr id="21" name="Picture 6" descr="A picture containing text, sign, vector graphics&#10;&#10;Description automatically generated">
              <a:extLst>
                <a:ext uri="{FF2B5EF4-FFF2-40B4-BE49-F238E27FC236}">
                  <a16:creationId xmlns:a16="http://schemas.microsoft.com/office/drawing/2014/main" id="{50CD08CB-19AA-0E90-64B3-0EEDAC38FDB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833020" y="1549902"/>
              <a:ext cx="1343039" cy="1343039"/>
            </a:xfrm>
            <a:prstGeom prst="rect">
              <a:avLst/>
            </a:prstGeom>
          </p:spPr>
        </p:pic>
        <p:pic>
          <p:nvPicPr>
            <p:cNvPr id="23" name="Picture 8" descr="Logo&#10;&#10;Description automatically generated">
              <a:extLst>
                <a:ext uri="{FF2B5EF4-FFF2-40B4-BE49-F238E27FC236}">
                  <a16:creationId xmlns:a16="http://schemas.microsoft.com/office/drawing/2014/main" id="{6F12A2FD-3962-C902-589A-6330464F57A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629483" y="3871255"/>
              <a:ext cx="1147961" cy="1147961"/>
            </a:xfrm>
            <a:prstGeom prst="rect">
              <a:avLst/>
            </a:prstGeom>
          </p:spPr>
        </p:pic>
        <p:pic>
          <p:nvPicPr>
            <p:cNvPr id="24" name="Picture 10" descr="Logo&#10;&#10;Description automatically generated">
              <a:extLst>
                <a:ext uri="{FF2B5EF4-FFF2-40B4-BE49-F238E27FC236}">
                  <a16:creationId xmlns:a16="http://schemas.microsoft.com/office/drawing/2014/main" id="{85B2B25E-2BC6-8B72-5962-4A8B1115BBD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5762204" y="3871255"/>
              <a:ext cx="1147961" cy="1147961"/>
            </a:xfrm>
            <a:prstGeom prst="rect">
              <a:avLst/>
            </a:prstGeom>
          </p:spPr>
        </p:pic>
        <p:pic>
          <p:nvPicPr>
            <p:cNvPr id="25" name="Picture 12" descr="Logo&#10;&#10;Description automatically generated">
              <a:extLst>
                <a:ext uri="{FF2B5EF4-FFF2-40B4-BE49-F238E27FC236}">
                  <a16:creationId xmlns:a16="http://schemas.microsoft.com/office/drawing/2014/main" id="{D747601F-E4A7-AD07-CE27-E2F6F0BB0903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8097855" y="3915902"/>
              <a:ext cx="1147961" cy="1147961"/>
            </a:xfrm>
            <a:prstGeom prst="rect">
              <a:avLst/>
            </a:prstGeom>
          </p:spPr>
        </p:pic>
        <p:pic>
          <p:nvPicPr>
            <p:cNvPr id="26" name="Graphic 17">
              <a:extLst>
                <a:ext uri="{FF2B5EF4-FFF2-40B4-BE49-F238E27FC236}">
                  <a16:creationId xmlns:a16="http://schemas.microsoft.com/office/drawing/2014/main" id="{000577AC-06F4-4842-CDE7-855C016FE318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7068005" y="3902269"/>
              <a:ext cx="888756" cy="1043936"/>
            </a:xfrm>
            <a:prstGeom prst="rect">
              <a:avLst/>
            </a:prstGeom>
          </p:spPr>
        </p:pic>
        <p:pic>
          <p:nvPicPr>
            <p:cNvPr id="27" name="Graphic 19">
              <a:extLst>
                <a:ext uri="{FF2B5EF4-FFF2-40B4-BE49-F238E27FC236}">
                  <a16:creationId xmlns:a16="http://schemas.microsoft.com/office/drawing/2014/main" id="{3EC5CB60-23D3-B07B-5818-9C6C27DFD6A7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3642671" y="3928121"/>
              <a:ext cx="837913" cy="1040168"/>
            </a:xfrm>
            <a:prstGeom prst="rect">
              <a:avLst/>
            </a:prstGeom>
          </p:spPr>
        </p:pic>
        <p:pic>
          <p:nvPicPr>
            <p:cNvPr id="28" name="Picture 21" descr="Logo&#10;&#10;Description automatically generated">
              <a:extLst>
                <a:ext uri="{FF2B5EF4-FFF2-40B4-BE49-F238E27FC236}">
                  <a16:creationId xmlns:a16="http://schemas.microsoft.com/office/drawing/2014/main" id="{9FCFA75A-1C2C-F7AA-1AE4-9C254EC1EF0C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10431780" y="3876626"/>
              <a:ext cx="1257412" cy="1172206"/>
            </a:xfrm>
            <a:prstGeom prst="rect">
              <a:avLst/>
            </a:prstGeom>
          </p:spPr>
        </p:pic>
        <p:cxnSp>
          <p:nvCxnSpPr>
            <p:cNvPr id="29" name="Straight Connector 30">
              <a:extLst>
                <a:ext uri="{FF2B5EF4-FFF2-40B4-BE49-F238E27FC236}">
                  <a16:creationId xmlns:a16="http://schemas.microsoft.com/office/drawing/2014/main" id="{107AC2FA-C3A7-90DC-59CA-ACF46FCE3DB5}"/>
                </a:ext>
              </a:extLst>
            </p:cNvPr>
            <p:cNvCxnSpPr>
              <a:cxnSpLocks/>
            </p:cNvCxnSpPr>
            <p:nvPr/>
          </p:nvCxnSpPr>
          <p:spPr>
            <a:xfrm>
              <a:off x="4006848" y="3303052"/>
              <a:ext cx="7097486" cy="0"/>
            </a:xfrm>
            <a:prstGeom prst="line">
              <a:avLst/>
            </a:prstGeom>
            <a:ln w="41275">
              <a:solidFill>
                <a:srgbClr val="FFA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" name="Straight Connector 30">
            <a:extLst>
              <a:ext uri="{FF2B5EF4-FFF2-40B4-BE49-F238E27FC236}">
                <a16:creationId xmlns:a16="http://schemas.microsoft.com/office/drawing/2014/main" id="{A827EA82-3CDE-A3F8-B76F-5EEB6FCEFA9A}"/>
              </a:ext>
            </a:extLst>
          </p:cNvPr>
          <p:cNvCxnSpPr>
            <a:cxnSpLocks/>
          </p:cNvCxnSpPr>
          <p:nvPr/>
        </p:nvCxnSpPr>
        <p:spPr>
          <a:xfrm>
            <a:off x="4187332" y="3278782"/>
            <a:ext cx="0" cy="294118"/>
          </a:xfrm>
          <a:prstGeom prst="line">
            <a:avLst/>
          </a:prstGeom>
          <a:ln w="41275">
            <a:solidFill>
              <a:srgbClr val="FFA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30">
            <a:extLst>
              <a:ext uri="{FF2B5EF4-FFF2-40B4-BE49-F238E27FC236}">
                <a16:creationId xmlns:a16="http://schemas.microsoft.com/office/drawing/2014/main" id="{81807EF5-93A9-3923-8024-5304B663D25A}"/>
              </a:ext>
            </a:extLst>
          </p:cNvPr>
          <p:cNvCxnSpPr>
            <a:cxnSpLocks/>
          </p:cNvCxnSpPr>
          <p:nvPr/>
        </p:nvCxnSpPr>
        <p:spPr>
          <a:xfrm>
            <a:off x="5369956" y="3278782"/>
            <a:ext cx="0" cy="294118"/>
          </a:xfrm>
          <a:prstGeom prst="line">
            <a:avLst/>
          </a:prstGeom>
          <a:ln w="41275">
            <a:solidFill>
              <a:srgbClr val="FFA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Картина 7" descr="Картина, която съдържа Графика, Шрифт, лого, символ&#10;&#10;Описанието е генерирано автоматично">
            <a:extLst>
              <a:ext uri="{FF2B5EF4-FFF2-40B4-BE49-F238E27FC236}">
                <a16:creationId xmlns:a16="http://schemas.microsoft.com/office/drawing/2014/main" id="{68538EA6-C2FF-EC1B-7F1E-6D21DA17E26A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342904" y="3857696"/>
            <a:ext cx="1372591" cy="1138627"/>
          </a:xfrm>
          <a:prstGeom prst="rect">
            <a:avLst/>
          </a:prstGeom>
        </p:spPr>
      </p:pic>
      <p:cxnSp>
        <p:nvCxnSpPr>
          <p:cNvPr id="10" name="Straight Connector 30">
            <a:extLst>
              <a:ext uri="{FF2B5EF4-FFF2-40B4-BE49-F238E27FC236}">
                <a16:creationId xmlns:a16="http://schemas.microsoft.com/office/drawing/2014/main" id="{FAABE70C-1C0E-A359-6A6D-BFFE4C833D64}"/>
              </a:ext>
            </a:extLst>
          </p:cNvPr>
          <p:cNvCxnSpPr>
            <a:cxnSpLocks/>
          </p:cNvCxnSpPr>
          <p:nvPr/>
        </p:nvCxnSpPr>
        <p:spPr>
          <a:xfrm>
            <a:off x="6501428" y="3297839"/>
            <a:ext cx="0" cy="294118"/>
          </a:xfrm>
          <a:prstGeom prst="line">
            <a:avLst/>
          </a:prstGeom>
          <a:ln w="41275">
            <a:solidFill>
              <a:srgbClr val="FFA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30">
            <a:extLst>
              <a:ext uri="{FF2B5EF4-FFF2-40B4-BE49-F238E27FC236}">
                <a16:creationId xmlns:a16="http://schemas.microsoft.com/office/drawing/2014/main" id="{D50BCBBD-C29D-5F7B-8E4B-938D2289D456}"/>
              </a:ext>
            </a:extLst>
          </p:cNvPr>
          <p:cNvCxnSpPr>
            <a:cxnSpLocks/>
          </p:cNvCxnSpPr>
          <p:nvPr/>
        </p:nvCxnSpPr>
        <p:spPr>
          <a:xfrm>
            <a:off x="7669783" y="3305473"/>
            <a:ext cx="0" cy="294118"/>
          </a:xfrm>
          <a:prstGeom prst="line">
            <a:avLst/>
          </a:prstGeom>
          <a:ln w="41275">
            <a:solidFill>
              <a:srgbClr val="FFA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30">
            <a:extLst>
              <a:ext uri="{FF2B5EF4-FFF2-40B4-BE49-F238E27FC236}">
                <a16:creationId xmlns:a16="http://schemas.microsoft.com/office/drawing/2014/main" id="{0A2813C9-4EA9-8576-8988-1938B40768DE}"/>
              </a:ext>
            </a:extLst>
          </p:cNvPr>
          <p:cNvCxnSpPr>
            <a:cxnSpLocks/>
          </p:cNvCxnSpPr>
          <p:nvPr/>
        </p:nvCxnSpPr>
        <p:spPr>
          <a:xfrm>
            <a:off x="8837079" y="3305473"/>
            <a:ext cx="0" cy="294118"/>
          </a:xfrm>
          <a:prstGeom prst="line">
            <a:avLst/>
          </a:prstGeom>
          <a:ln w="41275">
            <a:solidFill>
              <a:srgbClr val="FFA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30">
            <a:extLst>
              <a:ext uri="{FF2B5EF4-FFF2-40B4-BE49-F238E27FC236}">
                <a16:creationId xmlns:a16="http://schemas.microsoft.com/office/drawing/2014/main" id="{3A41C3D8-7393-1BE9-CF55-2496730F14F9}"/>
              </a:ext>
            </a:extLst>
          </p:cNvPr>
          <p:cNvCxnSpPr>
            <a:cxnSpLocks/>
          </p:cNvCxnSpPr>
          <p:nvPr/>
        </p:nvCxnSpPr>
        <p:spPr>
          <a:xfrm>
            <a:off x="10023867" y="3305473"/>
            <a:ext cx="0" cy="294118"/>
          </a:xfrm>
          <a:prstGeom prst="line">
            <a:avLst/>
          </a:prstGeom>
          <a:ln w="41275">
            <a:solidFill>
              <a:srgbClr val="FFA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30">
            <a:extLst>
              <a:ext uri="{FF2B5EF4-FFF2-40B4-BE49-F238E27FC236}">
                <a16:creationId xmlns:a16="http://schemas.microsoft.com/office/drawing/2014/main" id="{252F008B-D5D7-19BF-AB53-C72016C66CDF}"/>
              </a:ext>
            </a:extLst>
          </p:cNvPr>
          <p:cNvCxnSpPr>
            <a:cxnSpLocks/>
          </p:cNvCxnSpPr>
          <p:nvPr/>
        </p:nvCxnSpPr>
        <p:spPr>
          <a:xfrm>
            <a:off x="11261958" y="3290219"/>
            <a:ext cx="0" cy="294118"/>
          </a:xfrm>
          <a:prstGeom prst="line">
            <a:avLst/>
          </a:prstGeom>
          <a:ln w="41275">
            <a:solidFill>
              <a:srgbClr val="FFA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4406065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Body">
            <a:extLst>
              <a:ext uri="{FF2B5EF4-FFF2-40B4-BE49-F238E27FC236}">
                <a16:creationId xmlns:a16="http://schemas.microsoft.com/office/drawing/2014/main" id="{980F49B1-E4BE-4389-A747-7AB9B71AD92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402" y="1269001"/>
            <a:ext cx="11818096" cy="545589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bg-BG" dirty="0"/>
              <a:t>Този курс</a:t>
            </a:r>
            <a:r>
              <a:rPr lang="en-US" dirty="0"/>
              <a:t> (</a:t>
            </a:r>
            <a:r>
              <a:rPr lang="bg-BG" dirty="0"/>
              <a:t>презентации, примери, демонстрационен код, упражнения, домашни, видео и други активи</a:t>
            </a:r>
            <a:r>
              <a:rPr lang="en-US" dirty="0"/>
              <a:t>) </a:t>
            </a:r>
            <a:r>
              <a:rPr lang="bg-BG" dirty="0"/>
              <a:t>представлява</a:t>
            </a:r>
            <a:r>
              <a:rPr lang="en-US" dirty="0"/>
              <a:t> </a:t>
            </a:r>
            <a:r>
              <a:rPr lang="bg-BG" b="1" dirty="0"/>
              <a:t>защитено авторско съдържание</a:t>
            </a:r>
            <a:endParaRPr lang="en-US" dirty="0"/>
          </a:p>
          <a:p>
            <a:pPr>
              <a:lnSpc>
                <a:spcPct val="120000"/>
              </a:lnSpc>
            </a:pPr>
            <a:r>
              <a:rPr lang="bg-BG" dirty="0"/>
              <a:t>Нерегламентирано копиране</a:t>
            </a:r>
            <a:r>
              <a:rPr lang="en-US" dirty="0"/>
              <a:t>,</a:t>
            </a:r>
            <a:r>
              <a:rPr lang="bg-BG" dirty="0"/>
              <a:t> разпространение или използване е незаконно</a:t>
            </a:r>
          </a:p>
          <a:p>
            <a:pPr>
              <a:lnSpc>
                <a:spcPct val="120000"/>
              </a:lnSpc>
            </a:pPr>
            <a:r>
              <a:rPr lang="en-US" dirty="0"/>
              <a:t>© </a:t>
            </a:r>
            <a:r>
              <a:rPr lang="bg-BG" dirty="0"/>
              <a:t>СофтУни</a:t>
            </a:r>
            <a:r>
              <a:rPr lang="en-US" dirty="0"/>
              <a:t> – </a:t>
            </a:r>
            <a:r>
              <a:rPr lang="en-US" dirty="0">
                <a:hlinkClick r:id="rId3"/>
              </a:rPr>
              <a:t>https://softuni.org</a:t>
            </a:r>
            <a:endParaRPr lang="en-US" dirty="0"/>
          </a:p>
          <a:p>
            <a:pPr>
              <a:lnSpc>
                <a:spcPct val="120000"/>
              </a:lnSpc>
            </a:pPr>
            <a:r>
              <a:rPr lang="en-US" dirty="0"/>
              <a:t>© </a:t>
            </a:r>
            <a:r>
              <a:rPr lang="bg-BG" dirty="0"/>
              <a:t>Софтуерен университет</a:t>
            </a:r>
            <a:r>
              <a:rPr lang="en-US" dirty="0"/>
              <a:t> – </a:t>
            </a:r>
            <a:r>
              <a:rPr lang="en-US" dirty="0">
                <a:hlinkClick r:id="rId4"/>
              </a:rPr>
              <a:t>https://softuni.bg</a:t>
            </a:r>
            <a:endParaRPr lang="bg-BG" dirty="0"/>
          </a:p>
          <a:p>
            <a:pPr>
              <a:lnSpc>
                <a:spcPct val="120000"/>
              </a:lnSpc>
            </a:pPr>
            <a:endParaRPr lang="bg-BG" dirty="0"/>
          </a:p>
        </p:txBody>
      </p:sp>
      <p:pic>
        <p:nvPicPr>
          <p:cNvPr id="6" name="Picture License" descr="License">
            <a:extLst>
              <a:ext uri="{FF2B5EF4-FFF2-40B4-BE49-F238E27FC236}">
                <a16:creationId xmlns:a16="http://schemas.microsoft.com/office/drawing/2014/main" id="{82BA520F-A037-4E01-AA18-27D9F1E930A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745023" y="4445455"/>
            <a:ext cx="1930977" cy="2043545"/>
          </a:xfrm>
          <a:prstGeom prst="rect">
            <a:avLst/>
          </a:prstGeom>
        </p:spPr>
      </p:pic>
      <p:sp>
        <p:nvSpPr>
          <p:cNvPr id="3" name="Slide Title">
            <a:extLst>
              <a:ext uri="{FF2B5EF4-FFF2-40B4-BE49-F238E27FC236}">
                <a16:creationId xmlns:a16="http://schemas.microsoft.com/office/drawing/2014/main" id="{E5F1FB41-80C3-4816-BC47-CCC50632E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Лиценз</a:t>
            </a: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FB006B75-6452-41F9-824F-9EFE393BA7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46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5533579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Body"/>
          <p:cNvSpPr>
            <a:spLocks noGrp="1"/>
          </p:cNvSpPr>
          <p:nvPr>
            <p:ph idx="4294967295"/>
          </p:nvPr>
        </p:nvSpPr>
        <p:spPr>
          <a:xfrm>
            <a:off x="190404" y="1179000"/>
            <a:ext cx="9865596" cy="549000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bg-BG" sz="3200" dirty="0"/>
              <a:t>Софтуерен университет </a:t>
            </a:r>
            <a:r>
              <a:rPr lang="en-US" sz="3200" dirty="0"/>
              <a:t>– </a:t>
            </a:r>
            <a:r>
              <a:rPr lang="bg-BG" sz="3200" dirty="0"/>
              <a:t>качествено образование, професия и работа за софтуерни инженери</a:t>
            </a:r>
            <a:endParaRPr lang="en-US" sz="3200" dirty="0"/>
          </a:p>
          <a:p>
            <a:pPr lvl="1"/>
            <a:r>
              <a:rPr lang="en-US" sz="3000" noProof="1">
                <a:hlinkClick r:id="rId3"/>
              </a:rPr>
              <a:t>softuni.bg</a:t>
            </a:r>
            <a:endParaRPr lang="en-US" sz="3000" noProof="1"/>
          </a:p>
          <a:p>
            <a:pPr>
              <a:lnSpc>
                <a:spcPct val="100000"/>
              </a:lnSpc>
            </a:pPr>
            <a:r>
              <a:rPr lang="bg-BG" sz="3200" dirty="0"/>
              <a:t>Фондация "Софтуерен университет"</a:t>
            </a:r>
          </a:p>
          <a:p>
            <a:pPr lvl="1"/>
            <a:r>
              <a:rPr lang="en-US" sz="3000" noProof="1">
                <a:hlinkClick r:id="rId4"/>
              </a:rPr>
              <a:t>softuni.foundation</a:t>
            </a:r>
            <a:endParaRPr lang="en-US" sz="3000" noProof="1"/>
          </a:p>
          <a:p>
            <a:pPr>
              <a:lnSpc>
                <a:spcPct val="100000"/>
              </a:lnSpc>
            </a:pPr>
            <a:r>
              <a:rPr lang="bg-BG" sz="3200" dirty="0"/>
              <a:t>Софтуерен университет</a:t>
            </a:r>
            <a:r>
              <a:rPr lang="en-US" sz="3200" dirty="0"/>
              <a:t> @ Facebook</a:t>
            </a:r>
          </a:p>
          <a:p>
            <a:pPr lvl="1"/>
            <a:r>
              <a:rPr lang="en-US" sz="3000" noProof="1">
                <a:hlinkClick r:id="rId5"/>
              </a:rPr>
              <a:t>facebook.com/SoftwareUniversity</a:t>
            </a:r>
            <a:endParaRPr lang="en-US" sz="3000" noProof="1"/>
          </a:p>
        </p:txBody>
      </p:sp>
      <p:sp>
        <p:nvSpPr>
          <p:cNvPr id="3" name="Slide Title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bg-BG" dirty="0"/>
              <a:t>Обучения</a:t>
            </a:r>
            <a:r>
              <a:rPr lang="en-US" dirty="0"/>
              <a:t> </a:t>
            </a:r>
            <a:r>
              <a:rPr lang="bg-BG" dirty="0"/>
              <a:t>в</a:t>
            </a:r>
            <a:r>
              <a:rPr lang="en-US" dirty="0"/>
              <a:t> </a:t>
            </a:r>
            <a:r>
              <a:rPr lang="bg-BG" dirty="0"/>
              <a:t>Софтуерен университет (СофтУни</a:t>
            </a:r>
            <a:r>
              <a:rPr lang="en-US" dirty="0"/>
              <a:t>)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5F62E322-2F4D-4780-A2D4-684ED2D3DF80}"/>
              </a:ext>
            </a:extLst>
          </p:cNvPr>
          <p:cNvSpPr txBox="1">
            <a:spLocks/>
          </p:cNvSpPr>
          <p:nvPr/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BF067CD-8E6B-4360-9AA8-C5DF2A48A6D1}" type="slidenum">
              <a:rPr lang="en-US" smtClean="0"/>
              <a:pPr/>
              <a:t>47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97986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theme/theme1.xml><?xml version="1.0" encoding="utf-8"?>
<a:theme xmlns:a="http://schemas.openxmlformats.org/drawingml/2006/main" name="SoftUni">
  <a:themeElements>
    <a:clrScheme name="SoftUni">
      <a:dk1>
        <a:srgbClr val="234465"/>
      </a:dk1>
      <a:lt1>
        <a:srgbClr val="FFA000"/>
      </a:lt1>
      <a:dk2>
        <a:srgbClr val="234465"/>
      </a:dk2>
      <a:lt2>
        <a:srgbClr val="FFFFFF"/>
      </a:lt2>
      <a:accent1>
        <a:srgbClr val="FFA000"/>
      </a:accent1>
      <a:accent2>
        <a:srgbClr val="00B050"/>
      </a:accent2>
      <a:accent3>
        <a:srgbClr val="44A9F8"/>
      </a:accent3>
      <a:accent4>
        <a:srgbClr val="7030A0"/>
      </a:accent4>
      <a:accent5>
        <a:srgbClr val="67748E"/>
      </a:accent5>
      <a:accent6>
        <a:srgbClr val="F4F5F7"/>
      </a:accent6>
      <a:hlink>
        <a:srgbClr val="F2AC44"/>
      </a:hlink>
      <a:folHlink>
        <a:srgbClr val="F6C781"/>
      </a:folHlink>
    </a:clrScheme>
    <a:fontScheme name="SoftUni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dk2">
            <a:alpha val="80000"/>
          </a:schemeClr>
        </a:solidFill>
        <a:ln w="19050">
          <a:solidFill>
            <a:schemeClr val="tx1">
              <a:lumMod val="75000"/>
              <a:alpha val="80000"/>
            </a:schemeClr>
          </a:solidFill>
        </a:ln>
        <a:effectLst/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2800" b="1" dirty="0">
            <a:solidFill>
              <a:srgbClr val="FFFFFF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defRPr>
        </a:defPPr>
      </a:lstStyle>
      <a:style>
        <a:lnRef idx="2">
          <a:schemeClr val="accent1">
            <a:shade val="50000"/>
          </a:schemeClr>
        </a:lnRef>
        <a:fillRef idx="1001">
          <a:schemeClr val="dk2"/>
        </a:fillRef>
        <a:effectRef idx="0">
          <a:schemeClr val="accent1"/>
        </a:effectRef>
        <a:fontRef idx="minor">
          <a:schemeClr val="lt1"/>
        </a:fontRef>
      </a:style>
    </a:spDef>
    <a:txDef>
      <a:spPr>
        <a:solidFill>
          <a:schemeClr val="accent6">
            <a:lumMod val="75000"/>
            <a:alpha val="15000"/>
          </a:schemeClr>
        </a:solidFill>
        <a:ln w="12700">
          <a:solidFill>
            <a:schemeClr val="tx1">
              <a:lumMod val="75000"/>
            </a:schemeClr>
          </a:solidFill>
        </a:ln>
      </a:spPr>
      <a:bodyPr vert="horz" wrap="square" lIns="144000" tIns="108000" rIns="144000" bIns="108000" rtlCol="0">
        <a:spAutoFit/>
      </a:bodyPr>
      <a:lstStyle>
        <a:defPPr algn="l" eaLnBrk="0" hangingPunct="0">
          <a:lnSpc>
            <a:spcPct val="110000"/>
          </a:lnSpc>
          <a:buClr>
            <a:schemeClr val="accent5">
              <a:lumMod val="40000"/>
              <a:lumOff val="60000"/>
            </a:schemeClr>
          </a:buClr>
          <a:buSzPct val="70000"/>
          <a:defRPr sz="2400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SoftUni" id="{D61FAD9B-6E74-4E03-BFE4-B363D484F1DA}" vid="{7089C1A3-635B-4B03-A017-DAF10A3A396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4576</TotalTime>
  <Words>2619</Words>
  <Application>Microsoft Office PowerPoint</Application>
  <PresentationFormat>Широк екран</PresentationFormat>
  <Paragraphs>525</Paragraphs>
  <Slides>47</Slides>
  <Notes>22</Notes>
  <HiddenSlides>0</HiddenSlides>
  <MMClips>0</MMClips>
  <ScaleCrop>false</ScaleCrop>
  <HeadingPairs>
    <vt:vector size="6" baseType="variant">
      <vt:variant>
        <vt:lpstr>Използвани шрифтове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Заглавия на слайдовете</vt:lpstr>
      </vt:variant>
      <vt:variant>
        <vt:i4>47</vt:i4>
      </vt:variant>
    </vt:vector>
  </HeadingPairs>
  <TitlesOfParts>
    <vt:vector size="53" baseType="lpstr">
      <vt:lpstr>Arial</vt:lpstr>
      <vt:lpstr>Calibri</vt:lpstr>
      <vt:lpstr>Consolas</vt:lpstr>
      <vt:lpstr>Wingdings</vt:lpstr>
      <vt:lpstr>Wingdings 2</vt:lpstr>
      <vt:lpstr>SoftUni</vt:lpstr>
      <vt:lpstr>Повторения (цикли)</vt:lpstr>
      <vt:lpstr>Съдържание</vt:lpstr>
      <vt:lpstr>Преговор</vt:lpstr>
      <vt:lpstr>Преговор</vt:lpstr>
      <vt:lpstr>Преговор</vt:lpstr>
      <vt:lpstr>Преговор</vt:lpstr>
      <vt:lpstr>Преговор</vt:lpstr>
      <vt:lpstr>Преговор</vt:lpstr>
      <vt:lpstr>Преговор</vt:lpstr>
      <vt:lpstr>Презентация на PowerPoint</vt:lpstr>
      <vt:lpstr>Увеличаване</vt:lpstr>
      <vt:lpstr>Увеличаване (2)</vt:lpstr>
      <vt:lpstr>Намаляване </vt:lpstr>
      <vt:lpstr>Намаляване (2)</vt:lpstr>
      <vt:lpstr>Повторения на блокове код</vt:lpstr>
      <vt:lpstr>Какво е цикъл?  </vt:lpstr>
      <vt:lpstr>Какво е цикъл? (2)</vt:lpstr>
      <vt:lpstr>For-цикъл – конструкция</vt:lpstr>
      <vt:lpstr>Работа с по-сложни For-цикли</vt:lpstr>
      <vt:lpstr>Числата от N до 1 в обратен ред – условие </vt:lpstr>
      <vt:lpstr>Презентация на PowerPoint</vt:lpstr>
      <vt:lpstr>Числата от N до 1 в обратен ред – решение </vt:lpstr>
      <vt:lpstr>Числата от 1 до N през 3 – условие </vt:lpstr>
      <vt:lpstr>Презентация на PowerPoint</vt:lpstr>
      <vt:lpstr>Числата от 1 до N през 3 – решение </vt:lpstr>
      <vt:lpstr>Четни степени на 2 – условие </vt:lpstr>
      <vt:lpstr>Четни степени на 2 – решение </vt:lpstr>
      <vt:lpstr>Масиви – четене от масив</vt:lpstr>
      <vt:lpstr>Какво е масив?</vt:lpstr>
      <vt:lpstr>Масиви – четене от масиви</vt:lpstr>
      <vt:lpstr>Работа с текст</vt:lpstr>
      <vt:lpstr>Работа с текст</vt:lpstr>
      <vt:lpstr>Поток от символи – условие</vt:lpstr>
      <vt:lpstr>Поток от символи – решение</vt:lpstr>
      <vt:lpstr>Работа с текст</vt:lpstr>
      <vt:lpstr>Сумиране на гласни букви – условие</vt:lpstr>
      <vt:lpstr>Сумиране на гласни букви – решение</vt:lpstr>
      <vt:lpstr>Техники за използване на For-цикли</vt:lpstr>
      <vt:lpstr>Сумиране на цифри – условие</vt:lpstr>
      <vt:lpstr>Презентация на PowerPoint</vt:lpstr>
      <vt:lpstr>Сумиране на цифри – решение</vt:lpstr>
      <vt:lpstr>Числа, които се делят на 9 – условие</vt:lpstr>
      <vt:lpstr>Числа, които се делят на 9 – решение</vt:lpstr>
      <vt:lpstr>Какво научихме днес?</vt:lpstr>
      <vt:lpstr>Презентация на PowerPoint</vt:lpstr>
      <vt:lpstr>Лиценз</vt:lpstr>
      <vt:lpstr>Обучения в Софтуерен университет (СофтУни)</vt:lpstr>
    </vt:vector>
  </TitlesOfParts>
  <Company>SoftUni – https://softuni.org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Повторения (цикли)</dc:title>
  <dc:subject>Coding 101 Course</dc:subject>
  <dc:creator>Software University</dc:creator>
  <cp:keywords>Sofware University; SoftUni; programming; coding; software development; education; training; course; курс; програмиране; кодене; кодиране; СофтУни</cp:keywords>
  <dc:description>© SoftUni – https://softuni.org_x000d_
© Software University – https://softuni.bg_x000d_
_x000d_
Copyrighted document. Unauthorized copy, reproduction or use is not permitted.</dc:description>
  <cp:lastModifiedBy>Nevena Firkova</cp:lastModifiedBy>
  <cp:revision>116</cp:revision>
  <dcterms:created xsi:type="dcterms:W3CDTF">2018-05-23T13:08:44Z</dcterms:created>
  <dcterms:modified xsi:type="dcterms:W3CDTF">2024-09-25T13:11:31Z</dcterms:modified>
  <cp:category>computer programming;programming;C#;програмиране;кодиране</cp:category>
</cp:coreProperties>
</file>